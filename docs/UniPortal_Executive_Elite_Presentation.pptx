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62d17957b94ebc" /><Relationship Type="http://schemas.openxmlformats.org/officeDocument/2006/relationships/extended-properties" Target="/docProps/app.xml" Id="Rcd96de48c40141b4" /><Relationship Type="http://schemas.openxmlformats.org/officeDocument/2006/relationships/officeDocument" Target="/ppt/presentation.xml" Id="R70cb1a7269024a4a" /></Relationships>
</file>

<file path=ppt/presentation.xml><?xml version="1.0" encoding="utf-8"?>
<p:presentation xmlns:p="http://schemas.openxmlformats.org/presentationml/2006/main">
  <p:sldMasterIdLst>
    <p:sldMasterId xmlns:r="http://schemas.openxmlformats.org/officeDocument/2006/relationships" id="2147483648" r:id="R5af68213463e4ea0"/>
  </p:sldMasterIdLst>
  <p:notesMasterIdLst>
    <p:notesMasterId xmlns:r="http://schemas.openxmlformats.org/officeDocument/2006/relationships" r:id="Rb7b7333575a1497b"/>
  </p:notesMasterIdLst>
  <p:sldIdLst>
    <p:sldId xmlns:r="http://schemas.openxmlformats.org/officeDocument/2006/relationships" id="256" r:id="R6189d2f53255477a"/>
    <p:sldId xmlns:r="http://schemas.openxmlformats.org/officeDocument/2006/relationships" id="257" r:id="R45a559dce37249af"/>
    <p:sldId xmlns:r="http://schemas.openxmlformats.org/officeDocument/2006/relationships" id="258" r:id="R13f424d3b8504e9e"/>
    <p:sldId xmlns:r="http://schemas.openxmlformats.org/officeDocument/2006/relationships" id="259" r:id="Rd64fa64700884a83"/>
    <p:sldId xmlns:r="http://schemas.openxmlformats.org/officeDocument/2006/relationships" id="260" r:id="Rbaee3c4e783c4e20"/>
    <p:sldId xmlns:r="http://schemas.openxmlformats.org/officeDocument/2006/relationships" id="261" r:id="R62e04b54c25547e9"/>
    <p:sldId xmlns:r="http://schemas.openxmlformats.org/officeDocument/2006/relationships" id="262" r:id="R82879432b44d4b61"/>
    <p:sldId xmlns:r="http://schemas.openxmlformats.org/officeDocument/2006/relationships" id="263" r:id="Rca8ba39147624b51"/>
    <p:sldId xmlns:r="http://schemas.openxmlformats.org/officeDocument/2006/relationships" id="264" r:id="R50250389fb064cde"/>
    <p:sldId xmlns:r="http://schemas.openxmlformats.org/officeDocument/2006/relationships" id="265" r:id="Rb1252c4ea4f64c33"/>
    <p:sldId xmlns:r="http://schemas.openxmlformats.org/officeDocument/2006/relationships" id="266" r:id="Rb32158112db446ee"/>
    <p:sldId xmlns:r="http://schemas.openxmlformats.org/officeDocument/2006/relationships" id="267" r:id="R2c7eb1aaf9a14151"/>
    <p:sldId xmlns:r="http://schemas.openxmlformats.org/officeDocument/2006/relationships" id="268" r:id="R23ce7416503d45b3"/>
    <p:sldId xmlns:r="http://schemas.openxmlformats.org/officeDocument/2006/relationships" id="269" r:id="R4736343432cd4a7c"/>
    <p:sldId xmlns:r="http://schemas.openxmlformats.org/officeDocument/2006/relationships" id="270" r:id="Rf39755dcc4ca4204"/>
    <p:sldId xmlns:r="http://schemas.openxmlformats.org/officeDocument/2006/relationships" id="271" r:id="R7b77959abe07452e"/>
    <p:sldId xmlns:r="http://schemas.openxmlformats.org/officeDocument/2006/relationships" id="272" r:id="Rc6ed62aa635e4ffe"/>
    <p:sldId xmlns:r="http://schemas.openxmlformats.org/officeDocument/2006/relationships" id="273" r:id="Rb15350dc1521470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5af68213463e4ea0" /><Relationship Type="http://schemas.openxmlformats.org/officeDocument/2006/relationships/theme" Target="/ppt/theme/theme1.xml" Id="Rb5eb003da2b343be" /><Relationship Type="http://schemas.openxmlformats.org/officeDocument/2006/relationships/notesMaster" Target="/ppt/notesMasters/notesMaster1.xml" Id="Rb7b7333575a1497b" /><Relationship Type="http://schemas.openxmlformats.org/officeDocument/2006/relationships/presProps" Target="/ppt/presProps.xml" Id="R9d35db348ca043a9" /><Relationship Type="http://schemas.openxmlformats.org/officeDocument/2006/relationships/viewProps" Target="/ppt/viewProps.xml" Id="R3b70f216968c4970" /><Relationship Type="http://schemas.openxmlformats.org/officeDocument/2006/relationships/tableStyles" Target="/ppt/tableStyles.xml" Id="R715aa41e4bc541e3" /><Relationship Type="http://schemas.openxmlformats.org/officeDocument/2006/relationships/slide" Target="/ppt/slides/slide1.xml" Id="R6189d2f53255477a" /><Relationship Type="http://schemas.openxmlformats.org/officeDocument/2006/relationships/slide" Target="/ppt/slides/slide2.xml" Id="R45a559dce37249af" /><Relationship Type="http://schemas.openxmlformats.org/officeDocument/2006/relationships/slide" Target="/ppt/slides/slide3.xml" Id="R13f424d3b8504e9e" /><Relationship Type="http://schemas.openxmlformats.org/officeDocument/2006/relationships/slide" Target="/ppt/slides/slide4.xml" Id="Rd64fa64700884a83" /><Relationship Type="http://schemas.openxmlformats.org/officeDocument/2006/relationships/slide" Target="/ppt/slides/slide5.xml" Id="Rbaee3c4e783c4e20" /><Relationship Type="http://schemas.openxmlformats.org/officeDocument/2006/relationships/slide" Target="/ppt/slides/slide6.xml" Id="R62e04b54c25547e9" /><Relationship Type="http://schemas.openxmlformats.org/officeDocument/2006/relationships/slide" Target="/ppt/slides/slide7.xml" Id="R82879432b44d4b61" /><Relationship Type="http://schemas.openxmlformats.org/officeDocument/2006/relationships/slide" Target="/ppt/slides/slide8.xml" Id="Rca8ba39147624b51" /><Relationship Type="http://schemas.openxmlformats.org/officeDocument/2006/relationships/slide" Target="/ppt/slides/slide9.xml" Id="R50250389fb064cde" /><Relationship Type="http://schemas.openxmlformats.org/officeDocument/2006/relationships/slide" Target="/ppt/slides/slide10.xml" Id="Rb1252c4ea4f64c33" /><Relationship Type="http://schemas.openxmlformats.org/officeDocument/2006/relationships/slide" Target="/ppt/slides/slide11.xml" Id="Rb32158112db446ee" /><Relationship Type="http://schemas.openxmlformats.org/officeDocument/2006/relationships/slide" Target="/ppt/slides/slide12.xml" Id="R2c7eb1aaf9a14151" /><Relationship Type="http://schemas.openxmlformats.org/officeDocument/2006/relationships/slide" Target="/ppt/slides/slide13.xml" Id="R23ce7416503d45b3" /><Relationship Type="http://schemas.openxmlformats.org/officeDocument/2006/relationships/slide" Target="/ppt/slides/slide14.xml" Id="R4736343432cd4a7c" /><Relationship Type="http://schemas.openxmlformats.org/officeDocument/2006/relationships/slide" Target="/ppt/slides/slide15.xml" Id="Rf39755dcc4ca4204" /><Relationship Type="http://schemas.openxmlformats.org/officeDocument/2006/relationships/slide" Target="/ppt/slides/slide16.xml" Id="R7b77959abe07452e" /><Relationship Type="http://schemas.openxmlformats.org/officeDocument/2006/relationships/slide" Target="/ppt/slides/slide17.xml" Id="Rc6ed62aa635e4ffe" /><Relationship Type="http://schemas.openxmlformats.org/officeDocument/2006/relationships/slide" Target="/ppt/slides/slide18.xml" Id="Rb15350dc152147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72817726a92142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b99940a74c4e32" /><Relationship Type="http://schemas.openxmlformats.org/officeDocument/2006/relationships/notesMaster" Target="/ppt/notesMasters/notesMaster1.xml" Id="Raf5da2c053414f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8c83decd364924" /><Relationship Type="http://schemas.openxmlformats.org/officeDocument/2006/relationships/notesMaster" Target="/ppt/notesMasters/notesMaster1.xml" Id="Rbb884ec1b7e24a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fc484756d84e09" /><Relationship Type="http://schemas.openxmlformats.org/officeDocument/2006/relationships/notesMaster" Target="/ppt/notesMasters/notesMaster1.xml" Id="R06ac58e3b3fe49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34a1764357471a" /><Relationship Type="http://schemas.openxmlformats.org/officeDocument/2006/relationships/notesMaster" Target="/ppt/notesMasters/notesMaster1.xml" Id="Rff90e2ee881a44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591894528d421c" /><Relationship Type="http://schemas.openxmlformats.org/officeDocument/2006/relationships/notesMaster" Target="/ppt/notesMasters/notesMaster1.xml" Id="Rcd14e5a4e85a4c5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2d1d4d24884c98" /><Relationship Type="http://schemas.openxmlformats.org/officeDocument/2006/relationships/notesMaster" Target="/ppt/notesMasters/notesMaster1.xml" Id="Rfda1b8d978334a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d251ef35f94d50" /><Relationship Type="http://schemas.openxmlformats.org/officeDocument/2006/relationships/notesMaster" Target="/ppt/notesMasters/notesMaster1.xml" Id="R5eab6d4d2d9a45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5613c44fca418f" /><Relationship Type="http://schemas.openxmlformats.org/officeDocument/2006/relationships/notesMaster" Target="/ppt/notesMasters/notesMaster1.xml" Id="R512c00e084874b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90e8002c3a4179" /><Relationship Type="http://schemas.openxmlformats.org/officeDocument/2006/relationships/notesMaster" Target="/ppt/notesMasters/notesMaster1.xml" Id="Recf87ec158d04a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e3419e940f45af" /><Relationship Type="http://schemas.openxmlformats.org/officeDocument/2006/relationships/notesMaster" Target="/ppt/notesMasters/notesMaster1.xml" Id="R01c321a6200c4c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bd484c542c446f" /><Relationship Type="http://schemas.openxmlformats.org/officeDocument/2006/relationships/notesMaster" Target="/ppt/notesMasters/notesMaster1.xml" Id="Ra745e559c3c743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9bf6566e1b481d" /><Relationship Type="http://schemas.openxmlformats.org/officeDocument/2006/relationships/notesMaster" Target="/ppt/notesMasters/notesMaster1.xml" Id="Re43da31337e649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892c9d5ecf41d1" /><Relationship Type="http://schemas.openxmlformats.org/officeDocument/2006/relationships/notesMaster" Target="/ppt/notesMasters/notesMaster1.xml" Id="Ra84a89411de1487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ef1389cf8c4709" /><Relationship Type="http://schemas.openxmlformats.org/officeDocument/2006/relationships/notesMaster" Target="/ppt/notesMasters/notesMaster1.xml" Id="R06bb77a1c8bb451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2a808e7d8ab4ee2" /><Relationship Type="http://schemas.openxmlformats.org/officeDocument/2006/relationships/notesMaster" Target="/ppt/notesMasters/notesMaster1.xml" Id="Rec45eba3fd2943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aecc989de841d0" /><Relationship Type="http://schemas.openxmlformats.org/officeDocument/2006/relationships/notesMaster" Target="/ppt/notesMasters/notesMaster1.xml" Id="R388a6a0a47454d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e6501a50814a5f" /><Relationship Type="http://schemas.openxmlformats.org/officeDocument/2006/relationships/notesMaster" Target="/ppt/notesMasters/notesMaster1.xml" Id="Rf3d25a5cd730468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3da21f716d64e6e" /><Relationship Type="http://schemas.openxmlformats.org/officeDocument/2006/relationships/notesMaster" Target="/ppt/notesMasters/notesMaster1.xml" Id="R1e4bd31c395c47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UniPortal as a focused institutional MVP. Emphasize that the system demonstrates a serious digital registration workflow and is suitable for pilot discovery, not positioned as a complete SIS replacement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expectations for the meeting. The deck is structured around institutional value rather than technical detail. Invite questions at the end, but note that key objections are addressed through the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challenge in the South Sudan and regional higher education context. Many offices are under pressure because data is fragmented across paper, spreadsheets, and individual offices.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UniPortal connects people, data, and decisions involved in registration. The system follows the lifecycle from academic setup to student proof of registration.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role separation matters because students should not access registrar tools, and registrars should only access the operational review workflow relevant to their role.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Highlight leadership visibility. This replaces waiting for manual updates from multiple offices and gives administrators a fast snapshot during registration periods.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clear that this is not only a course list. It is an academic structure model that universities recognize and can extend in future phases.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course management becomes practical for semester operations. Course detail answers the common administrative question: how many students registered for this course?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institutional control over official student identity while still allowing student self-service where appropriate. Mention that imports can be added for pilot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Real universities register by academic year and semester. UniPortal gives admins control over the registration window and prevents invalid submissions when registration is 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this as a way to reduce queues and student uncertainty. Students can see what they requested and whether action is needed.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of the strongest institutional features. It shows registration is controlled and reviewed, not automatically finalized by student self-service.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audit logs reduce disputes, protect staff, and improve transparency. This is important for registrar offices and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slip is a strong visual moment. It shows a student-facing output that universities immediately understand. Be clear that academic records are a foundation, not a full transcript engine yet.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honest: the MVP has a serious security foundation, but full production rollout should add backups, monitoring, access policies, and performance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Focus on operational efficiency. The value is staff time saved, fewer bottlenecks, clearer accountability, and better student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phased rollout reduces risk and gives the institution measurable value before expanding. Be clear that UniPortal is demo and pilot-ready, not a complete production SIS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confidently: UniPortal is not simply software. It is a foundation for digital academic administration. The next practical step is a pilot discovery workshop with institutional stakeholders.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f0a0992173b44b2"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7e2fa7c1bbb148a3" /><Relationship Type="http://schemas.openxmlformats.org/officeDocument/2006/relationships/slideLayout" Target="/ppt/slideLayouts/slideLayout2.xml" Id="R9520a13b2fe642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20a13b2fe642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bc69e22e96474704" /><Relationship Type="http://schemas.openxmlformats.org/officeDocument/2006/relationships/image" Target="/ppt/media/image.png" Id="Rcccf220d5c5b4b35" /><Relationship Type="http://schemas.openxmlformats.org/officeDocument/2006/relationships/notesSlide" Target="/ppt/notesSlides/notesSlide1.xml" Id="R81c7d0a26c5d48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73d6847789847c4" /><Relationship Type="http://schemas.openxmlformats.org/officeDocument/2006/relationships/image" Target="/ppt/media/image2.png" Id="Rd31e6f0b61364346" /><Relationship Type="http://schemas.openxmlformats.org/officeDocument/2006/relationships/notesSlide" Target="/ppt/notesSlides/notesSlide2.xml" Id="R263e86f249464b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451d25a14d04500" /><Relationship Type="http://schemas.openxmlformats.org/officeDocument/2006/relationships/image" Target="/ppt/media/image3.png" Id="R712c5e0512ea48c2" /><Relationship Type="http://schemas.openxmlformats.org/officeDocument/2006/relationships/notesSlide" Target="/ppt/notesSlides/notesSlide3.xml" Id="R667bc1606ce145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bea47af7d604dfe" /><Relationship Type="http://schemas.openxmlformats.org/officeDocument/2006/relationships/image" Target="/ppt/media/image4.png" Id="Ra169bbff324542df" /><Relationship Type="http://schemas.openxmlformats.org/officeDocument/2006/relationships/notesSlide" Target="/ppt/notesSlides/notesSlide4.xml" Id="R5a8e8f4307b549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16baf4d475c046ba" /><Relationship Type="http://schemas.openxmlformats.org/officeDocument/2006/relationships/image" Target="/ppt/media/image5.png" Id="R66a13d4735fc4ff3" /><Relationship Type="http://schemas.openxmlformats.org/officeDocument/2006/relationships/notesSlide" Target="/ppt/notesSlides/notesSlide5.xml" Id="R373568489dae4c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3af82cf781e4b1f" /><Relationship Type="http://schemas.openxmlformats.org/officeDocument/2006/relationships/image" Target="/ppt/media/image6.png" Id="Re0a861ede6134480" /><Relationship Type="http://schemas.openxmlformats.org/officeDocument/2006/relationships/notesSlide" Target="/ppt/notesSlides/notesSlide6.xml" Id="Rde11a9b570c74b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bace2dc9c584a1b" /><Relationship Type="http://schemas.openxmlformats.org/officeDocument/2006/relationships/image" Target="/ppt/media/image7.png" Id="R763b0877d7e0438a" /><Relationship Type="http://schemas.openxmlformats.org/officeDocument/2006/relationships/notesSlide" Target="/ppt/notesSlides/notesSlide7.xml" Id="Reefb17fa705249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386b9ee68664c5f" /><Relationship Type="http://schemas.openxmlformats.org/officeDocument/2006/relationships/image" Target="/ppt/media/image8.png" Id="R8c4a6c2367b24888" /><Relationship Type="http://schemas.openxmlformats.org/officeDocument/2006/relationships/notesSlide" Target="/ppt/notesSlides/notesSlide8.xml" Id="Re53eb4f4617f44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f9cacd6464a44a7" /><Relationship Type="http://schemas.openxmlformats.org/officeDocument/2006/relationships/image" Target="/ppt/media/image9.png" Id="Rb9bbdd0e9c3f4d22" /><Relationship Type="http://schemas.openxmlformats.org/officeDocument/2006/relationships/notesSlide" Target="/ppt/notesSlides/notesSlide9.xml" Id="R50b406c8e37247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b0b9985f1bc4300" /><Relationship Type="http://schemas.openxmlformats.org/officeDocument/2006/relationships/image" Target="/ppt/media/image10.png" Id="R7a0baa9c13264b75" /><Relationship Type="http://schemas.openxmlformats.org/officeDocument/2006/relationships/notesSlide" Target="/ppt/notesSlides/notesSlide10.xml" Id="Rc8c6a5c63da34b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f666431898540bd" /><Relationship Type="http://schemas.openxmlformats.org/officeDocument/2006/relationships/image" Target="/ppt/media/image11.png" Id="R553075693ac5493f" /><Relationship Type="http://schemas.openxmlformats.org/officeDocument/2006/relationships/notesSlide" Target="/ppt/notesSlides/notesSlide11.xml" Id="R15f6154ccbc241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c8a2721de69447a" /><Relationship Type="http://schemas.openxmlformats.org/officeDocument/2006/relationships/image" Target="/ppt/media/image12.png" Id="R5656c49758ff44f5" /><Relationship Type="http://schemas.openxmlformats.org/officeDocument/2006/relationships/notesSlide" Target="/ppt/notesSlides/notesSlide12.xml" Id="R0d3fe171620046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8e3f9834a0ad4b1f" /><Relationship Type="http://schemas.openxmlformats.org/officeDocument/2006/relationships/image" Target="/ppt/media/image13.png" Id="R46c3a505b8e14be7" /><Relationship Type="http://schemas.openxmlformats.org/officeDocument/2006/relationships/notesSlide" Target="/ppt/notesSlides/notesSlide13.xml" Id="Rb284f9162ba847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075f6b0bd8f94486" /><Relationship Type="http://schemas.openxmlformats.org/officeDocument/2006/relationships/image" Target="/ppt/media/image14.png" Id="R25ae692612754064" /><Relationship Type="http://schemas.openxmlformats.org/officeDocument/2006/relationships/notesSlide" Target="/ppt/notesSlides/notesSlide14.xml" Id="R5c9a23cbc93a414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8c251caf10954b23" /><Relationship Type="http://schemas.openxmlformats.org/officeDocument/2006/relationships/image" Target="/ppt/media/image15.png" Id="R232821e70bcf467b" /><Relationship Type="http://schemas.openxmlformats.org/officeDocument/2006/relationships/notesSlide" Target="/ppt/notesSlides/notesSlide15.xml" Id="Rb767c35c97a34ec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f8587381d3ba4b1c" /><Relationship Type="http://schemas.openxmlformats.org/officeDocument/2006/relationships/image" Target="/ppt/media/image16.png" Id="Rd6f95c446d9c4de5" /><Relationship Type="http://schemas.openxmlformats.org/officeDocument/2006/relationships/notesSlide" Target="/ppt/notesSlides/notesSlide16.xml" Id="R5c14623c24ed4e2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83cedf777a8b44f3" /><Relationship Type="http://schemas.openxmlformats.org/officeDocument/2006/relationships/image" Target="/ppt/media/image17.png" Id="R425064b0ad4e429a" /><Relationship Type="http://schemas.openxmlformats.org/officeDocument/2006/relationships/notesSlide" Target="/ppt/notesSlides/notesSlide17.xml" Id="Raf0528c7ccdc46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c70e9ad9dea0492a" /><Relationship Type="http://schemas.openxmlformats.org/officeDocument/2006/relationships/image" Target="/ppt/media/image18.png" Id="Rf4af443c2fe147e5" /><Relationship Type="http://schemas.openxmlformats.org/officeDocument/2006/relationships/image" Target="/ppt/media/image19.png" Id="Rfa44ab81bc18405f" /><Relationship Type="http://schemas.openxmlformats.org/officeDocument/2006/relationships/notesSlide" Target="/ppt/notesSlides/notesSlide18.xml" Id="Re47e4804a7ec497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7EF6038-EC69-435A-81A7-2D5B928BD4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F4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12AD1B6-6017-486D-BAE1-CD4F669DF37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0E10789-0552-4121-A759-11861A5A3F76}"/>
              </a:ext>
            </a:extLst>
          </p:cNvPr>
          <p:cNvSpPr>
            <a:spLocks xmlns:a="http://schemas.openxmlformats.org/drawingml/2006/main" noGrp="1"/>
          </p:cNvSpPr>
          <p:nvPr/>
        </p:nvSpPr>
        <p:spPr>
          <a:xfrm xmlns:a="http://schemas.openxmlformats.org/drawingml/2006/main">
            <a:off x="171450" y="0"/>
            <a:ext cx="4953000" cy="6858000"/>
          </a:xfrm>
          <a:prstGeom xmlns:a="http://schemas.openxmlformats.org/drawingml/2006/main" prst="rect">
            <a:avLst/>
          </a:prstGeom>
          <a:solidFill xmlns:a="http://schemas.openxmlformats.org/drawingml/2006/main">
            <a:srgbClr val="071F49"/>
          </a:solidFill>
          <a:ln xmlns:a="http://schemas.openxmlformats.org/drawingml/2006/main" w="0">
            <a:solidFill>
              <a:srgbClr val="000000">
                <a:alpha val="0"/>
              </a:srgbClr>
            </a:solidFill>
            <a:prstDash val="solid"/>
          </a:ln>
        </p:spPr>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cccf220d5c5b4b35"/>
          <a:stretch xmlns:a="http://schemas.openxmlformats.org/drawingml/2006/main"/>
        </p:blipFill>
        <p:spPr>
          <a:xfrm xmlns:a="http://schemas.openxmlformats.org/drawingml/2006/main">
            <a:off x="781050" y="1028700"/>
            <a:ext cx="876300" cy="87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7F7ECE5-068D-4685-A974-17E54B95A329}"/>
              </a:ext>
            </a:extLst>
          </p:cNvPr>
          <p:cNvSpPr>
            <a:spLocks xmlns:a="http://schemas.openxmlformats.org/drawingml/2006/main" noGrp="1"/>
          </p:cNvSpPr>
          <p:nvPr/>
        </p:nvSpPr>
        <p:spPr>
          <a:xfrm xmlns:a="http://schemas.openxmlformats.org/drawingml/2006/main">
            <a:off x="781050" y="2114550"/>
            <a:ext cx="4572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UniPortal</a:t>
            </a:r>
          </a:p>
        </p:txBody>
      </p:sp>
      <p:sp>
        <p:nvSpPr>
          <p:cNvPr id="6" name="">
            <a:extLst xmlns:a="http://schemas.openxmlformats.org/drawingml/2006/main">
              <a:ext uri="{FF2B5EF4-FFF2-40B4-BE49-F238E27FC236}">
                <a16:creationId xmlns:a16="http://schemas.microsoft.com/office/drawing/2014/main" id="{F353C9B6-3222-4DE7-8179-D04133A70B47}"/>
              </a:ext>
            </a:extLst>
          </p:cNvPr>
          <p:cNvSpPr>
            <a:spLocks xmlns:a="http://schemas.openxmlformats.org/drawingml/2006/main" noGrp="1"/>
          </p:cNvSpPr>
          <p:nvPr/>
        </p:nvSpPr>
        <p:spPr>
          <a:xfrm xmlns:a="http://schemas.openxmlformats.org/drawingml/2006/main">
            <a:off x="819150" y="2781300"/>
            <a:ext cx="4953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D9E2F1"/>
                </a:solidFill>
                <a:latin typeface="Aptos"/>
                <a:ea typeface="Aptos"/>
                <a:cs typeface="Aptos"/>
              </a:defRPr>
            </a:pPr>
            <a:r>
              <a:rPr sz="1425" b="0">
                <a:solidFill>
                  <a:srgbClr val="D9E2F1"/>
                </a:solidFill>
                <a:latin typeface="Aptos"/>
                <a:ea typeface="Aptos"/>
                <a:cs typeface="Aptos"/>
              </a:rPr>
              <a:t>Institutional Student Information and Enrollment Management System</a:t>
            </a:r>
          </a:p>
        </p:txBody>
      </p:sp>
      <p:sp>
        <p:nvSpPr>
          <p:cNvPr id="7" name="">
            <a:extLst xmlns:a="http://schemas.openxmlformats.org/drawingml/2006/main">
              <a:ext uri="{FF2B5EF4-FFF2-40B4-BE49-F238E27FC236}">
                <a16:creationId xmlns:a16="http://schemas.microsoft.com/office/drawing/2014/main" id="{B6C741BC-05E5-4776-B4C9-5460DA6BCE99}"/>
              </a:ext>
            </a:extLst>
          </p:cNvPr>
          <p:cNvSpPr>
            <a:spLocks xmlns:a="http://schemas.openxmlformats.org/drawingml/2006/main" noGrp="1"/>
          </p:cNvSpPr>
          <p:nvPr/>
        </p:nvSpPr>
        <p:spPr>
          <a:xfrm xmlns:a="http://schemas.openxmlformats.org/drawingml/2006/main">
            <a:off x="819150" y="3600450"/>
            <a:ext cx="1619250" cy="381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D96723A-9864-4253-B58D-BACE0B65FE45}"/>
              </a:ext>
            </a:extLst>
          </p:cNvPr>
          <p:cNvSpPr>
            <a:spLocks xmlns:a="http://schemas.openxmlformats.org/drawingml/2006/main" noGrp="1"/>
          </p:cNvSpPr>
          <p:nvPr/>
        </p:nvSpPr>
        <p:spPr>
          <a:xfrm xmlns:a="http://schemas.openxmlformats.org/drawingml/2006/main">
            <a:off x="819150" y="3886200"/>
            <a:ext cx="47625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FFFFF"/>
                </a:solidFill>
                <a:latin typeface="Aptos"/>
                <a:ea typeface="Aptos"/>
                <a:cs typeface="Aptos"/>
              </a:defRPr>
            </a:pPr>
            <a:r>
              <a:rPr sz="1200" b="0">
                <a:solidFill>
                  <a:srgbClr val="FFFFFF"/>
                </a:solidFill>
                <a:latin typeface="Aptos"/>
                <a:ea typeface="Aptos"/>
                <a:cs typeface="Aptos"/>
              </a:rPr>
              <a:t>Executive presentation for university and college decision-makers</a:t>
            </a:r>
          </a:p>
        </p:txBody>
      </p:sp>
      <p:sp>
        <p:nvSpPr>
          <p:cNvPr id="9" name="">
            <a:extLst xmlns:a="http://schemas.openxmlformats.org/drawingml/2006/main">
              <a:ext uri="{FF2B5EF4-FFF2-40B4-BE49-F238E27FC236}">
                <a16:creationId xmlns:a16="http://schemas.microsoft.com/office/drawing/2014/main" id="{D1AF47F6-A028-4370-B25C-C3923A7CF593}"/>
              </a:ext>
            </a:extLst>
          </p:cNvPr>
          <p:cNvSpPr>
            <a:spLocks xmlns:a="http://schemas.openxmlformats.org/drawingml/2006/main" noGrp="1"/>
          </p:cNvSpPr>
          <p:nvPr/>
        </p:nvSpPr>
        <p:spPr>
          <a:xfrm xmlns:a="http://schemas.openxmlformats.org/drawingml/2006/main">
            <a:off x="6191250" y="1123950"/>
            <a:ext cx="4762500" cy="367665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0" name="">
            <a:extLst xmlns:a="http://schemas.openxmlformats.org/drawingml/2006/main">
              <a:ext uri="{FF2B5EF4-FFF2-40B4-BE49-F238E27FC236}">
                <a16:creationId xmlns:a16="http://schemas.microsoft.com/office/drawing/2014/main" id="{C0E45501-EC50-4343-98ED-BE1DF84CC1E4}"/>
              </a:ext>
            </a:extLst>
          </p:cNvPr>
          <p:cNvSpPr>
            <a:spLocks xmlns:a="http://schemas.openxmlformats.org/drawingml/2006/main" noGrp="1"/>
          </p:cNvSpPr>
          <p:nvPr/>
        </p:nvSpPr>
        <p:spPr>
          <a:xfrm xmlns:a="http://schemas.openxmlformats.org/drawingml/2006/main">
            <a:off x="6191250" y="1123950"/>
            <a:ext cx="47625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E65D94B-6EF3-4460-A612-A282CE96EFAF}"/>
              </a:ext>
            </a:extLst>
          </p:cNvPr>
          <p:cNvSpPr>
            <a:spLocks xmlns:a="http://schemas.openxmlformats.org/drawingml/2006/main" noGrp="1"/>
          </p:cNvSpPr>
          <p:nvPr/>
        </p:nvSpPr>
        <p:spPr>
          <a:xfrm xmlns:a="http://schemas.openxmlformats.org/drawingml/2006/main">
            <a:off x="6419850" y="1466850"/>
            <a:ext cx="4305300" cy="280035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2" name="">
            <a:extLst xmlns:a="http://schemas.openxmlformats.org/drawingml/2006/main">
              <a:ext uri="{FF2B5EF4-FFF2-40B4-BE49-F238E27FC236}">
                <a16:creationId xmlns:a16="http://schemas.microsoft.com/office/drawing/2014/main" id="{6FDB1EC4-1232-4AA6-90D5-2DE27471F334}"/>
              </a:ext>
            </a:extLst>
          </p:cNvPr>
          <p:cNvSpPr>
            <a:spLocks xmlns:a="http://schemas.openxmlformats.org/drawingml/2006/main" noGrp="1"/>
          </p:cNvSpPr>
          <p:nvPr/>
        </p:nvSpPr>
        <p:spPr>
          <a:xfrm xmlns:a="http://schemas.openxmlformats.org/drawingml/2006/main">
            <a:off x="6534150" y="4362450"/>
            <a:ext cx="40767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[UniPortal Login / Branding Screenshot]</a:t>
            </a:r>
          </a:p>
        </p:txBody>
      </p:sp>
      <p:sp>
        <p:nvSpPr>
          <p:cNvPr id="13" name="">
            <a:extLst xmlns:a="http://schemas.openxmlformats.org/drawingml/2006/main">
              <a:ext uri="{FF2B5EF4-FFF2-40B4-BE49-F238E27FC236}">
                <a16:creationId xmlns:a16="http://schemas.microsoft.com/office/drawing/2014/main" id="{02FABADC-8BF4-4830-A380-48BC92093A35}"/>
              </a:ext>
            </a:extLst>
          </p:cNvPr>
          <p:cNvSpPr>
            <a:spLocks xmlns:a="http://schemas.openxmlformats.org/drawingml/2006/main" noGrp="1"/>
          </p:cNvSpPr>
          <p:nvPr/>
        </p:nvSpPr>
        <p:spPr>
          <a:xfrm xmlns:a="http://schemas.openxmlformats.org/drawingml/2006/main">
            <a:off x="6572250" y="2867025"/>
            <a:ext cx="4000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4" name="">
            <a:extLst xmlns:a="http://schemas.openxmlformats.org/drawingml/2006/main">
              <a:ext uri="{FF2B5EF4-FFF2-40B4-BE49-F238E27FC236}">
                <a16:creationId xmlns:a16="http://schemas.microsoft.com/office/drawing/2014/main" id="{C9F1F6D0-33A0-4CD5-A4DC-860ED47E77D9}"/>
              </a:ext>
            </a:extLst>
          </p:cNvPr>
          <p:cNvSpPr>
            <a:spLocks xmlns:a="http://schemas.openxmlformats.org/drawingml/2006/main" noGrp="1"/>
          </p:cNvSpPr>
          <p:nvPr/>
        </p:nvSpPr>
        <p:spPr>
          <a:xfrm xmlns:a="http://schemas.openxmlformats.org/drawingml/2006/main">
            <a:off x="6191250" y="5219700"/>
            <a:ext cx="476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D4AF37"/>
                </a:solidFill>
                <a:latin typeface="Aptos"/>
                <a:ea typeface="Aptos"/>
                <a:cs typeface="Aptos"/>
              </a:defRPr>
            </a:pPr>
            <a:r>
              <a:rPr sz="1500" b="1">
                <a:solidFill>
                  <a:srgbClr val="D4AF37"/>
                </a:solidFill>
                <a:latin typeface="Aptos"/>
                <a:ea typeface="Aptos"/>
                <a:cs typeface="Aptos"/>
              </a:rPr>
              <a:t>Recommended Next Step: Pilot Discovery Workshop</a:t>
            </a:r>
          </a:p>
        </p:txBody>
      </p:sp>
      <p:sp>
        <p:nvSpPr>
          <p:cNvPr id="15" name="">
            <a:extLst xmlns:a="http://schemas.openxmlformats.org/drawingml/2006/main">
              <a:ext uri="{FF2B5EF4-FFF2-40B4-BE49-F238E27FC236}">
                <a16:creationId xmlns:a16="http://schemas.microsoft.com/office/drawing/2014/main" id="{85A524BA-57A5-428A-B1B0-B30D18EADA12}"/>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D9E2F1"/>
                </a:solidFill>
                <a:latin typeface="Aptos"/>
                <a:ea typeface="Aptos"/>
                <a:cs typeface="Aptos"/>
              </a:defRPr>
            </a:pPr>
            <a:r>
              <a:rPr sz="638" b="0">
                <a:solidFill>
                  <a:srgbClr val="D9E2F1"/>
                </a:solidFill>
                <a:latin typeface="Aptos"/>
                <a:ea typeface="Aptos"/>
                <a:cs typeface="Aptos"/>
              </a:rPr>
              <a:t>UniPortal Executive Presentation  |  01</a:t>
            </a:r>
          </a:p>
        </p:txBody>
      </p:sp>
    </p:spTree>
    <p:extLst>
      <p:ext uri="{BB962C8B-B14F-4D97-AF65-F5344CB8AC3E}">
        <p14:creationId xmlns:p14="http://schemas.microsoft.com/office/powerpoint/2010/main" val="49995073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39911C-92D6-49A1-85C7-BF068BFE906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8DCFE25-E986-4561-9581-54FB26E6311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d31e6f0b61364346"/>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1567B6A-2E73-48E8-A142-226C5BA49D3A}"/>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37D8FED0-45B3-4206-BC30-BEDCBE2CF881}"/>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A1B5E4A0-8AD7-4ED7-A3DC-8E7C53035686}"/>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Agenda</a:t>
            </a:r>
          </a:p>
        </p:txBody>
      </p:sp>
      <p:sp>
        <p:nvSpPr>
          <p:cNvPr id="7" name="">
            <a:extLst xmlns:a="http://schemas.openxmlformats.org/drawingml/2006/main">
              <a:ext uri="{FF2B5EF4-FFF2-40B4-BE49-F238E27FC236}">
                <a16:creationId xmlns:a16="http://schemas.microsoft.com/office/drawing/2014/main" id="{6B3E5EF8-03C0-464D-98F6-C4FA5C13E2CB}"/>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A concise walkthrough for institutional decision-makers</a:t>
            </a:r>
          </a:p>
        </p:txBody>
      </p:sp>
      <p:sp>
        <p:nvSpPr>
          <p:cNvPr id="8" name="">
            <a:extLst xmlns:a="http://schemas.openxmlformats.org/drawingml/2006/main">
              <a:ext uri="{FF2B5EF4-FFF2-40B4-BE49-F238E27FC236}">
                <a16:creationId xmlns:a16="http://schemas.microsoft.com/office/drawing/2014/main" id="{E5F43CF6-2FB3-4560-B56F-46F0002CE7F2}"/>
              </a:ext>
            </a:extLst>
          </p:cNvPr>
          <p:cNvSpPr>
            <a:spLocks xmlns:a="http://schemas.openxmlformats.org/drawingml/2006/main" noGrp="1"/>
          </p:cNvSpPr>
          <p:nvPr/>
        </p:nvSpPr>
        <p:spPr>
          <a:xfrm xmlns:a="http://schemas.openxmlformats.org/drawingml/2006/main">
            <a:off x="666750" y="2019300"/>
            <a:ext cx="495300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D9E2F1"/>
            </a:solidFill>
          </a:ln>
        </p:spPr>
      </p:sp>
      <p:sp>
        <p:nvSpPr>
          <p:cNvPr id="9" name="">
            <a:extLst xmlns:a="http://schemas.openxmlformats.org/drawingml/2006/main">
              <a:ext uri="{FF2B5EF4-FFF2-40B4-BE49-F238E27FC236}">
                <a16:creationId xmlns:a16="http://schemas.microsoft.com/office/drawing/2014/main" id="{5767A6EE-5938-441C-88DB-9307695CCBD0}"/>
              </a:ext>
            </a:extLst>
          </p:cNvPr>
          <p:cNvSpPr>
            <a:spLocks xmlns:a="http://schemas.openxmlformats.org/drawingml/2006/main" noGrp="1"/>
          </p:cNvSpPr>
          <p:nvPr/>
        </p:nvSpPr>
        <p:spPr>
          <a:xfrm xmlns:a="http://schemas.openxmlformats.org/drawingml/2006/main">
            <a:off x="895350" y="2143125"/>
            <a:ext cx="447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B2F6B"/>
                </a:solidFill>
                <a:latin typeface="Aptos"/>
                <a:ea typeface="Aptos"/>
                <a:cs typeface="Aptos"/>
              </a:defRPr>
            </a:pPr>
            <a:r>
              <a:rPr sz="1275" b="1">
                <a:solidFill>
                  <a:srgbClr val="0B2F6B"/>
                </a:solidFill>
                <a:latin typeface="Aptos"/>
                <a:ea typeface="Aptos"/>
                <a:cs typeface="Aptos"/>
              </a:rPr>
              <a:t>1  Institutional challenge</a:t>
            </a:r>
          </a:p>
        </p:txBody>
      </p:sp>
      <p:sp>
        <p:nvSpPr>
          <p:cNvPr id="10" name="">
            <a:extLst xmlns:a="http://schemas.openxmlformats.org/drawingml/2006/main">
              <a:ext uri="{FF2B5EF4-FFF2-40B4-BE49-F238E27FC236}">
                <a16:creationId xmlns:a16="http://schemas.microsoft.com/office/drawing/2014/main" id="{CE95DE40-0293-4666-8D04-4FA8792F730D}"/>
              </a:ext>
            </a:extLst>
          </p:cNvPr>
          <p:cNvSpPr>
            <a:spLocks xmlns:a="http://schemas.openxmlformats.org/drawingml/2006/main" noGrp="1"/>
          </p:cNvSpPr>
          <p:nvPr/>
        </p:nvSpPr>
        <p:spPr>
          <a:xfrm xmlns:a="http://schemas.openxmlformats.org/drawingml/2006/main">
            <a:off x="666750" y="2686050"/>
            <a:ext cx="495300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D9E2F1"/>
            </a:solidFill>
          </a:ln>
        </p:spPr>
      </p:sp>
      <p:sp>
        <p:nvSpPr>
          <p:cNvPr id="11" name="">
            <a:extLst xmlns:a="http://schemas.openxmlformats.org/drawingml/2006/main">
              <a:ext uri="{FF2B5EF4-FFF2-40B4-BE49-F238E27FC236}">
                <a16:creationId xmlns:a16="http://schemas.microsoft.com/office/drawing/2014/main" id="{F2762CCF-9D16-43CC-A79C-0861289F2E8E}"/>
              </a:ext>
            </a:extLst>
          </p:cNvPr>
          <p:cNvSpPr>
            <a:spLocks xmlns:a="http://schemas.openxmlformats.org/drawingml/2006/main" noGrp="1"/>
          </p:cNvSpPr>
          <p:nvPr/>
        </p:nvSpPr>
        <p:spPr>
          <a:xfrm xmlns:a="http://schemas.openxmlformats.org/drawingml/2006/main">
            <a:off x="895350" y="2809875"/>
            <a:ext cx="447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B2F6B"/>
                </a:solidFill>
                <a:latin typeface="Aptos"/>
                <a:ea typeface="Aptos"/>
                <a:cs typeface="Aptos"/>
              </a:defRPr>
            </a:pPr>
            <a:r>
              <a:rPr sz="1275" b="1">
                <a:solidFill>
                  <a:srgbClr val="0B2F6B"/>
                </a:solidFill>
                <a:latin typeface="Aptos"/>
                <a:ea typeface="Aptos"/>
                <a:cs typeface="Aptos"/>
              </a:rPr>
              <a:t>2  UniPortal workflow</a:t>
            </a:r>
          </a:p>
        </p:txBody>
      </p:sp>
      <p:sp>
        <p:nvSpPr>
          <p:cNvPr id="12" name="">
            <a:extLst xmlns:a="http://schemas.openxmlformats.org/drawingml/2006/main">
              <a:ext uri="{FF2B5EF4-FFF2-40B4-BE49-F238E27FC236}">
                <a16:creationId xmlns:a16="http://schemas.microsoft.com/office/drawing/2014/main" id="{539D7C8A-4012-42A3-95E7-493D2FB038C4}"/>
              </a:ext>
            </a:extLst>
          </p:cNvPr>
          <p:cNvSpPr>
            <a:spLocks xmlns:a="http://schemas.openxmlformats.org/drawingml/2006/main" noGrp="1"/>
          </p:cNvSpPr>
          <p:nvPr/>
        </p:nvSpPr>
        <p:spPr>
          <a:xfrm xmlns:a="http://schemas.openxmlformats.org/drawingml/2006/main">
            <a:off x="666750" y="3352800"/>
            <a:ext cx="495300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D9E2F1"/>
            </a:solidFill>
          </a:ln>
        </p:spPr>
      </p:sp>
      <p:sp>
        <p:nvSpPr>
          <p:cNvPr id="13" name="">
            <a:extLst xmlns:a="http://schemas.openxmlformats.org/drawingml/2006/main">
              <a:ext uri="{FF2B5EF4-FFF2-40B4-BE49-F238E27FC236}">
                <a16:creationId xmlns:a16="http://schemas.microsoft.com/office/drawing/2014/main" id="{F0E66BFA-D4E9-4528-9F1F-668E92B55947}"/>
              </a:ext>
            </a:extLst>
          </p:cNvPr>
          <p:cNvSpPr>
            <a:spLocks xmlns:a="http://schemas.openxmlformats.org/drawingml/2006/main" noGrp="1"/>
          </p:cNvSpPr>
          <p:nvPr/>
        </p:nvSpPr>
        <p:spPr>
          <a:xfrm xmlns:a="http://schemas.openxmlformats.org/drawingml/2006/main">
            <a:off x="895350" y="3476625"/>
            <a:ext cx="447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B2F6B"/>
                </a:solidFill>
                <a:latin typeface="Aptos"/>
                <a:ea typeface="Aptos"/>
                <a:cs typeface="Aptos"/>
              </a:defRPr>
            </a:pPr>
            <a:r>
              <a:rPr sz="1275" b="1">
                <a:solidFill>
                  <a:srgbClr val="0B2F6B"/>
                </a:solidFill>
                <a:latin typeface="Aptos"/>
                <a:ea typeface="Aptos"/>
                <a:cs typeface="Aptos"/>
              </a:rPr>
              <a:t>3  Role-based product walkthrough</a:t>
            </a:r>
          </a:p>
        </p:txBody>
      </p:sp>
      <p:sp>
        <p:nvSpPr>
          <p:cNvPr id="14" name="">
            <a:extLst xmlns:a="http://schemas.openxmlformats.org/drawingml/2006/main">
              <a:ext uri="{FF2B5EF4-FFF2-40B4-BE49-F238E27FC236}">
                <a16:creationId xmlns:a16="http://schemas.microsoft.com/office/drawing/2014/main" id="{18BCA510-BB95-4A86-B7D8-1D8C833A901D}"/>
              </a:ext>
            </a:extLst>
          </p:cNvPr>
          <p:cNvSpPr>
            <a:spLocks xmlns:a="http://schemas.openxmlformats.org/drawingml/2006/main" noGrp="1"/>
          </p:cNvSpPr>
          <p:nvPr/>
        </p:nvSpPr>
        <p:spPr>
          <a:xfrm xmlns:a="http://schemas.openxmlformats.org/drawingml/2006/main">
            <a:off x="666750" y="4019550"/>
            <a:ext cx="4953000" cy="457200"/>
          </a:xfrm>
          <a:prstGeom xmlns:a="http://schemas.openxmlformats.org/drawingml/2006/main" prst="rect">
            <a:avLst/>
          </a:prstGeom>
          <a:solidFill xmlns:a="http://schemas.openxmlformats.org/drawingml/2006/main">
            <a:srgbClr val="F8FAFC"/>
          </a:solidFill>
          <a:ln xmlns:a="http://schemas.openxmlformats.org/drawingml/2006/main" w="9525">
            <a:solidFill>
              <a:srgbClr val="D9E2F1"/>
            </a:solidFill>
          </a:ln>
        </p:spPr>
      </p:sp>
      <p:sp>
        <p:nvSpPr>
          <p:cNvPr id="15" name="">
            <a:extLst xmlns:a="http://schemas.openxmlformats.org/drawingml/2006/main">
              <a:ext uri="{FF2B5EF4-FFF2-40B4-BE49-F238E27FC236}">
                <a16:creationId xmlns:a16="http://schemas.microsoft.com/office/drawing/2014/main" id="{4AD0836A-A263-4E92-906B-A4B73850FB44}"/>
              </a:ext>
            </a:extLst>
          </p:cNvPr>
          <p:cNvSpPr>
            <a:spLocks xmlns:a="http://schemas.openxmlformats.org/drawingml/2006/main" noGrp="1"/>
          </p:cNvSpPr>
          <p:nvPr/>
        </p:nvSpPr>
        <p:spPr>
          <a:xfrm xmlns:a="http://schemas.openxmlformats.org/drawingml/2006/main">
            <a:off x="895350" y="4143375"/>
            <a:ext cx="447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B2F6B"/>
                </a:solidFill>
                <a:latin typeface="Aptos"/>
                <a:ea typeface="Aptos"/>
                <a:cs typeface="Aptos"/>
              </a:defRPr>
            </a:pPr>
            <a:r>
              <a:rPr sz="1275" b="1">
                <a:solidFill>
                  <a:srgbClr val="0B2F6B"/>
                </a:solidFill>
                <a:latin typeface="Aptos"/>
                <a:ea typeface="Aptos"/>
                <a:cs typeface="Aptos"/>
              </a:rPr>
              <a:t>4  Security, ROI, and deployment</a:t>
            </a:r>
          </a:p>
        </p:txBody>
      </p:sp>
      <p:sp>
        <p:nvSpPr>
          <p:cNvPr id="16" name="">
            <a:extLst xmlns:a="http://schemas.openxmlformats.org/drawingml/2006/main">
              <a:ext uri="{FF2B5EF4-FFF2-40B4-BE49-F238E27FC236}">
                <a16:creationId xmlns:a16="http://schemas.microsoft.com/office/drawing/2014/main" id="{C8C145E1-9D31-4BF1-8FBF-36B1FA20176C}"/>
              </a:ext>
            </a:extLst>
          </p:cNvPr>
          <p:cNvSpPr>
            <a:spLocks xmlns:a="http://schemas.openxmlformats.org/drawingml/2006/main" noGrp="1"/>
          </p:cNvSpPr>
          <p:nvPr/>
        </p:nvSpPr>
        <p:spPr>
          <a:xfrm xmlns:a="http://schemas.openxmlformats.org/drawingml/2006/main">
            <a:off x="666750" y="4686300"/>
            <a:ext cx="4953000" cy="457200"/>
          </a:xfrm>
          <a:prstGeom xmlns:a="http://schemas.openxmlformats.org/drawingml/2006/main" prst="rect">
            <a:avLst/>
          </a:prstGeom>
          <a:solidFill xmlns:a="http://schemas.openxmlformats.org/drawingml/2006/main">
            <a:srgbClr val="FFF7DF"/>
          </a:solidFill>
          <a:ln xmlns:a="http://schemas.openxmlformats.org/drawingml/2006/main" w="9525">
            <a:solidFill>
              <a:srgbClr val="D4AF37"/>
            </a:solidFill>
          </a:ln>
        </p:spPr>
      </p:sp>
      <p:sp>
        <p:nvSpPr>
          <p:cNvPr id="17" name="">
            <a:extLst xmlns:a="http://schemas.openxmlformats.org/drawingml/2006/main">
              <a:ext uri="{FF2B5EF4-FFF2-40B4-BE49-F238E27FC236}">
                <a16:creationId xmlns:a16="http://schemas.microsoft.com/office/drawing/2014/main" id="{688B9DA2-3358-40F6-B01C-7C7860C84ABB}"/>
              </a:ext>
            </a:extLst>
          </p:cNvPr>
          <p:cNvSpPr>
            <a:spLocks xmlns:a="http://schemas.openxmlformats.org/drawingml/2006/main" noGrp="1"/>
          </p:cNvSpPr>
          <p:nvPr/>
        </p:nvSpPr>
        <p:spPr>
          <a:xfrm xmlns:a="http://schemas.openxmlformats.org/drawingml/2006/main">
            <a:off x="895350" y="4810125"/>
            <a:ext cx="447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B2F6B"/>
                </a:solidFill>
                <a:latin typeface="Aptos"/>
                <a:ea typeface="Aptos"/>
                <a:cs typeface="Aptos"/>
              </a:defRPr>
            </a:pPr>
            <a:r>
              <a:rPr sz="1275" b="1">
                <a:solidFill>
                  <a:srgbClr val="0B2F6B"/>
                </a:solidFill>
                <a:latin typeface="Aptos"/>
                <a:ea typeface="Aptos"/>
                <a:cs typeface="Aptos"/>
              </a:rPr>
              <a:t>5  Roadmap and pilot next step</a:t>
            </a:r>
          </a:p>
        </p:txBody>
      </p:sp>
      <p:sp>
        <p:nvSpPr>
          <p:cNvPr id="18" name="">
            <a:extLst xmlns:a="http://schemas.openxmlformats.org/drawingml/2006/main">
              <a:ext uri="{FF2B5EF4-FFF2-40B4-BE49-F238E27FC236}">
                <a16:creationId xmlns:a16="http://schemas.microsoft.com/office/drawing/2014/main" id="{C26F3451-F409-4179-A07F-C84DD0BD6B46}"/>
              </a:ext>
            </a:extLst>
          </p:cNvPr>
          <p:cNvSpPr>
            <a:spLocks xmlns:a="http://schemas.openxmlformats.org/drawingml/2006/main" noGrp="1"/>
          </p:cNvSpPr>
          <p:nvPr/>
        </p:nvSpPr>
        <p:spPr>
          <a:xfrm xmlns:a="http://schemas.openxmlformats.org/drawingml/2006/main">
            <a:off x="6858000" y="1428750"/>
            <a:ext cx="4095750" cy="3733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9" name="">
            <a:extLst xmlns:a="http://schemas.openxmlformats.org/drawingml/2006/main">
              <a:ext uri="{FF2B5EF4-FFF2-40B4-BE49-F238E27FC236}">
                <a16:creationId xmlns:a16="http://schemas.microsoft.com/office/drawing/2014/main" id="{0864E525-17BD-48C1-9648-C1C6978A3647}"/>
              </a:ext>
            </a:extLst>
          </p:cNvPr>
          <p:cNvSpPr>
            <a:spLocks xmlns:a="http://schemas.openxmlformats.org/drawingml/2006/main" noGrp="1"/>
          </p:cNvSpPr>
          <p:nvPr/>
        </p:nvSpPr>
        <p:spPr>
          <a:xfrm xmlns:a="http://schemas.openxmlformats.org/drawingml/2006/main">
            <a:off x="6858000" y="1428750"/>
            <a:ext cx="409575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2DD00CEE-852B-4B34-A340-B429EC124BB9}"/>
              </a:ext>
            </a:extLst>
          </p:cNvPr>
          <p:cNvSpPr>
            <a:spLocks xmlns:a="http://schemas.openxmlformats.org/drawingml/2006/main" noGrp="1"/>
          </p:cNvSpPr>
          <p:nvPr/>
        </p:nvSpPr>
        <p:spPr>
          <a:xfrm xmlns:a="http://schemas.openxmlformats.org/drawingml/2006/main">
            <a:off x="7086600" y="1771650"/>
            <a:ext cx="36385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21" name="">
            <a:extLst xmlns:a="http://schemas.openxmlformats.org/drawingml/2006/main">
              <a:ext uri="{FF2B5EF4-FFF2-40B4-BE49-F238E27FC236}">
                <a16:creationId xmlns:a16="http://schemas.microsoft.com/office/drawing/2014/main" id="{6527FBB3-9D91-47D8-9A3B-C62BDAEA68C4}"/>
              </a:ext>
            </a:extLst>
          </p:cNvPr>
          <p:cNvSpPr>
            <a:spLocks xmlns:a="http://schemas.openxmlformats.org/drawingml/2006/main" noGrp="1"/>
          </p:cNvSpPr>
          <p:nvPr/>
        </p:nvSpPr>
        <p:spPr>
          <a:xfrm xmlns:a="http://schemas.openxmlformats.org/drawingml/2006/main">
            <a:off x="7200900" y="4724400"/>
            <a:ext cx="34099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[Executive Agenda Visual]</a:t>
            </a:r>
          </a:p>
        </p:txBody>
      </p:sp>
      <p:sp>
        <p:nvSpPr>
          <p:cNvPr id="22" name="">
            <a:extLst xmlns:a="http://schemas.openxmlformats.org/drawingml/2006/main">
              <a:ext uri="{FF2B5EF4-FFF2-40B4-BE49-F238E27FC236}">
                <a16:creationId xmlns:a16="http://schemas.microsoft.com/office/drawing/2014/main" id="{11459F9A-267F-420C-998C-A6DB1423BB1F}"/>
              </a:ext>
            </a:extLst>
          </p:cNvPr>
          <p:cNvSpPr>
            <a:spLocks xmlns:a="http://schemas.openxmlformats.org/drawingml/2006/main" noGrp="1"/>
          </p:cNvSpPr>
          <p:nvPr/>
        </p:nvSpPr>
        <p:spPr>
          <a:xfrm xmlns:a="http://schemas.openxmlformats.org/drawingml/2006/main">
            <a:off x="7239000" y="3200400"/>
            <a:ext cx="3333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23" name="">
            <a:extLst xmlns:a="http://schemas.openxmlformats.org/drawingml/2006/main">
              <a:ext uri="{FF2B5EF4-FFF2-40B4-BE49-F238E27FC236}">
                <a16:creationId xmlns:a16="http://schemas.microsoft.com/office/drawing/2014/main" id="{11544A5C-F874-47BE-B3E9-D2001EDB7112}"/>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02</a:t>
            </a:r>
          </a:p>
        </p:txBody>
      </p:sp>
    </p:spTree>
    <p:extLst>
      <p:ext uri="{BB962C8B-B14F-4D97-AF65-F5344CB8AC3E}">
        <p14:creationId xmlns:p14="http://schemas.microsoft.com/office/powerpoint/2010/main" val="99476427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D754C2-B915-4B1F-975C-E1C86940EB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ACE6FD0-0915-4136-8EC7-86BBF154DB5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712c5e0512ea48c2"/>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D174895-05FE-4C5A-8AE2-69E78EB073AE}"/>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F03712EF-B12A-44A9-B980-23D3864E56D8}"/>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6ED3B21F-259F-4756-9DBC-769B420639BD}"/>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The institutional challenge</a:t>
            </a:r>
          </a:p>
        </p:txBody>
      </p:sp>
      <p:sp>
        <p:nvSpPr>
          <p:cNvPr id="7" name="">
            <a:extLst xmlns:a="http://schemas.openxmlformats.org/drawingml/2006/main">
              <a:ext uri="{FF2B5EF4-FFF2-40B4-BE49-F238E27FC236}">
                <a16:creationId xmlns:a16="http://schemas.microsoft.com/office/drawing/2014/main" id="{642FEF05-E76B-4331-B014-AA2A078758E0}"/>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Registration pressure is operational, not only technical</a:t>
            </a:r>
          </a:p>
        </p:txBody>
      </p:sp>
      <p:sp>
        <p:nvSpPr>
          <p:cNvPr id="8" name="">
            <a:extLst xmlns:a="http://schemas.openxmlformats.org/drawingml/2006/main">
              <a:ext uri="{FF2B5EF4-FFF2-40B4-BE49-F238E27FC236}">
                <a16:creationId xmlns:a16="http://schemas.microsoft.com/office/drawing/2014/main" id="{63795FA4-F3DD-4504-A184-B2A96AF3ECE9}"/>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734114B4-BE0B-4AB2-899F-E2C18675DCA6}"/>
              </a:ext>
            </a:extLst>
          </p:cNvPr>
          <p:cNvSpPr>
            <a:spLocks xmlns:a="http://schemas.openxmlformats.org/drawingml/2006/main" noGrp="1"/>
          </p:cNvSpPr>
          <p:nvPr/>
        </p:nvSpPr>
        <p:spPr>
          <a:xfrm xmlns:a="http://schemas.openxmlformats.org/drawingml/2006/main">
            <a:off x="628650" y="2143125"/>
            <a:ext cx="5715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Paper forms and spreadsheet dependency</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Lost or incomplete student records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Long queues and delayed approvals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Limited visibility for leadership</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Weak audit trails for decisions</a:t>
            </a:r>
          </a:p>
        </p:txBody>
      </p:sp>
      <p:sp>
        <p:nvSpPr>
          <p:cNvPr id="10" name="">
            <a:extLst xmlns:a="http://schemas.openxmlformats.org/drawingml/2006/main">
              <a:ext uri="{FF2B5EF4-FFF2-40B4-BE49-F238E27FC236}">
                <a16:creationId xmlns:a16="http://schemas.microsoft.com/office/drawing/2014/main" id="{BFD271D7-D521-4BCD-958C-FA3E20C775C3}"/>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012D23DE-31C5-4063-A7FD-F6D26775BD2A}"/>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29CEECEC-B49F-4EB8-AF3A-AD2BE1E308ED}"/>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AE338972-EFC5-40F7-B057-0C6721E3389C}"/>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[Manual Registration / Queue Visual]</a:t>
            </a:r>
          </a:p>
        </p:txBody>
      </p:sp>
      <p:sp>
        <p:nvSpPr>
          <p:cNvPr id="14" name="">
            <a:extLst xmlns:a="http://schemas.openxmlformats.org/drawingml/2006/main">
              <a:ext uri="{FF2B5EF4-FFF2-40B4-BE49-F238E27FC236}">
                <a16:creationId xmlns:a16="http://schemas.microsoft.com/office/drawing/2014/main" id="{9C277EEA-3843-4307-BDA7-2E42C53810F2}"/>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74509E47-0E4F-4376-8CB4-84C055F3408D}"/>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03</a:t>
            </a:r>
          </a:p>
        </p:txBody>
      </p:sp>
    </p:spTree>
    <p:extLst>
      <p:ext uri="{BB962C8B-B14F-4D97-AF65-F5344CB8AC3E}">
        <p14:creationId xmlns:p14="http://schemas.microsoft.com/office/powerpoint/2010/main" val="84192208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6A20997-7B72-4D68-ACFB-079164517A2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0EFB39F-2995-4AF0-BB43-A6C9EEFBF5F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a169bbff324542df"/>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66557DB-F1DF-4DAF-8875-B2DE6F580BAB}"/>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9287CFCE-D085-485E-BEBC-B9B9276BCD17}"/>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5625A5E6-F9E4-4F41-AAE5-145E784D014A}"/>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UniPortal solution</a:t>
            </a:r>
          </a:p>
        </p:txBody>
      </p:sp>
      <p:sp>
        <p:nvSpPr>
          <p:cNvPr id="7" name="">
            <a:extLst xmlns:a="http://schemas.openxmlformats.org/drawingml/2006/main">
              <a:ext uri="{FF2B5EF4-FFF2-40B4-BE49-F238E27FC236}">
                <a16:creationId xmlns:a16="http://schemas.microsoft.com/office/drawing/2014/main" id="{F37B7737-7DAF-46C6-AE90-BE68B022BC20}"/>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One controlled workflow from setup to approved registration</a:t>
            </a:r>
          </a:p>
        </p:txBody>
      </p:sp>
      <p:sp>
        <p:nvSpPr>
          <p:cNvPr id="8" name="">
            <a:extLst xmlns:a="http://schemas.openxmlformats.org/drawingml/2006/main">
              <a:ext uri="{FF2B5EF4-FFF2-40B4-BE49-F238E27FC236}">
                <a16:creationId xmlns:a16="http://schemas.microsoft.com/office/drawing/2014/main" id="{D35A0890-C982-410A-87F4-620969DC0E60}"/>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60933F5C-597A-49D7-89C8-F9CED9EADA1F}"/>
              </a:ext>
            </a:extLst>
          </p:cNvPr>
          <p:cNvSpPr>
            <a:spLocks xmlns:a="http://schemas.openxmlformats.org/drawingml/2006/main" noGrp="1"/>
          </p:cNvSpPr>
          <p:nvPr/>
        </p:nvSpPr>
        <p:spPr>
          <a:xfrm xmlns:a="http://schemas.openxmlformats.org/drawingml/2006/main">
            <a:off x="628650" y="2143125"/>
            <a:ext cx="5715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Academic structure setup</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Student profile and identity management</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Course registration requests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Registrar review and audit log</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Enrollment slips and academic records foundation</a:t>
            </a:r>
          </a:p>
        </p:txBody>
      </p:sp>
      <p:sp>
        <p:nvSpPr>
          <p:cNvPr id="10" name="">
            <a:extLst xmlns:a="http://schemas.openxmlformats.org/drawingml/2006/main">
              <a:ext uri="{FF2B5EF4-FFF2-40B4-BE49-F238E27FC236}">
                <a16:creationId xmlns:a16="http://schemas.microsoft.com/office/drawing/2014/main" id="{1B648DCF-620F-4CA3-951F-B80D9544CCF3}"/>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86F74C6A-CF6B-4890-98BF-7F4CE93481B6}"/>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46D0D5EB-72DE-47C3-AB59-88908B481C29}"/>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D2E005F8-010A-4A3E-89E9-FA286C69EADD}"/>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[System Workflow Diagram]</a:t>
            </a:r>
          </a:p>
        </p:txBody>
      </p:sp>
      <p:sp>
        <p:nvSpPr>
          <p:cNvPr id="14" name="">
            <a:extLst xmlns:a="http://schemas.openxmlformats.org/drawingml/2006/main">
              <a:ext uri="{FF2B5EF4-FFF2-40B4-BE49-F238E27FC236}">
                <a16:creationId xmlns:a16="http://schemas.microsoft.com/office/drawing/2014/main" id="{6D971B1E-8E6E-4E6D-9453-226267481579}"/>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DEDF64C7-238C-4CF9-871D-D6A2A6C873A9}"/>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04</a:t>
            </a:r>
          </a:p>
        </p:txBody>
      </p:sp>
    </p:spTree>
    <p:extLst>
      <p:ext uri="{BB962C8B-B14F-4D97-AF65-F5344CB8AC3E}">
        <p14:creationId xmlns:p14="http://schemas.microsoft.com/office/powerpoint/2010/main" val="77772705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AE9E230-F8F1-4DA5-9BA6-8951D3D7418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0735DCD-AB97-42F6-906D-1F6B7A868D9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66a13d4735fc4ff3"/>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57EBF37-1A59-4664-A4B2-72D5EFEDABC3}"/>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10250C05-23A1-4489-BC57-A7739A0000FA}"/>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AC2A22D8-EE72-4467-A636-94E03FF9D1DA}"/>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Role-based experience</a:t>
            </a:r>
          </a:p>
        </p:txBody>
      </p:sp>
      <p:sp>
        <p:nvSpPr>
          <p:cNvPr id="7" name="">
            <a:extLst xmlns:a="http://schemas.openxmlformats.org/drawingml/2006/main">
              <a:ext uri="{FF2B5EF4-FFF2-40B4-BE49-F238E27FC236}">
                <a16:creationId xmlns:a16="http://schemas.microsoft.com/office/drawing/2014/main" id="{4B02065F-09B2-471A-81BA-F6EF9AF94AF4}"/>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Clear separation for admin, registrar, and student users</a:t>
            </a:r>
          </a:p>
        </p:txBody>
      </p:sp>
      <p:sp>
        <p:nvSpPr>
          <p:cNvPr id="8" name="">
            <a:extLst xmlns:a="http://schemas.openxmlformats.org/drawingml/2006/main">
              <a:ext uri="{FF2B5EF4-FFF2-40B4-BE49-F238E27FC236}">
                <a16:creationId xmlns:a16="http://schemas.microsoft.com/office/drawing/2014/main" id="{45CFA953-C7B8-4D21-82FC-BBD99300462B}"/>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8A47F2A3-D49E-4679-AF18-0DCF066842DA}"/>
              </a:ext>
            </a:extLst>
          </p:cNvPr>
          <p:cNvSpPr>
            <a:spLocks xmlns:a="http://schemas.openxmlformats.org/drawingml/2006/main" noGrp="1"/>
          </p:cNvSpPr>
          <p:nvPr/>
        </p:nvSpPr>
        <p:spPr>
          <a:xfrm xmlns:a="http://schemas.openxmlformats.org/drawingml/2006/main">
            <a:off x="628650" y="2143125"/>
            <a:ext cx="5715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Admin manages setup, students, courses, and sessions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Registrar reviews enrollment requests and decisions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Student browses courses, requests enrollment, and prints slips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Protected routes reduce accidental access</a:t>
            </a:r>
          </a:p>
        </p:txBody>
      </p:sp>
      <p:sp>
        <p:nvSpPr>
          <p:cNvPr id="10" name="">
            <a:extLst xmlns:a="http://schemas.openxmlformats.org/drawingml/2006/main">
              <a:ext uri="{FF2B5EF4-FFF2-40B4-BE49-F238E27FC236}">
                <a16:creationId xmlns:a16="http://schemas.microsoft.com/office/drawing/2014/main" id="{CE0FC9F9-B53D-409E-9D5F-6CE26876E6C0}"/>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9FE7069E-BCE7-47D6-AB3B-D838CFBE1518}"/>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04C365B8-2D53-4B4F-BF17-9348AF9DB61E}"/>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831FC603-D5FF-4FA8-B4C3-921D023E0860}"/>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[Role-Based Navigation Screenshot]</a:t>
            </a:r>
          </a:p>
        </p:txBody>
      </p:sp>
      <p:sp>
        <p:nvSpPr>
          <p:cNvPr id="14" name="">
            <a:extLst xmlns:a="http://schemas.openxmlformats.org/drawingml/2006/main">
              <a:ext uri="{FF2B5EF4-FFF2-40B4-BE49-F238E27FC236}">
                <a16:creationId xmlns:a16="http://schemas.microsoft.com/office/drawing/2014/main" id="{13F5D567-BA2A-497D-A371-E2AAC378BB58}"/>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0895CF20-854A-476D-ADD6-F36CA1CA4018}"/>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05</a:t>
            </a:r>
          </a:p>
        </p:txBody>
      </p:sp>
    </p:spTree>
    <p:extLst>
      <p:ext uri="{BB962C8B-B14F-4D97-AF65-F5344CB8AC3E}">
        <p14:creationId xmlns:p14="http://schemas.microsoft.com/office/powerpoint/2010/main" val="63407601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9BED446-213A-4D20-9AD3-C224B415248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E37BA99-3D62-4554-8639-F0076520212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e0a861ede6134480"/>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F1C8D7-9F05-4B1B-A306-6303E2C4F525}"/>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7C72DD86-0E80-415B-9D7F-B06DA7AB38F6}"/>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F24ADF70-7F94-487C-90EA-1C1B8DFFB090}"/>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Admin dashboard</a:t>
            </a:r>
          </a:p>
        </p:txBody>
      </p:sp>
      <p:sp>
        <p:nvSpPr>
          <p:cNvPr id="7" name="">
            <a:extLst xmlns:a="http://schemas.openxmlformats.org/drawingml/2006/main">
              <a:ext uri="{FF2B5EF4-FFF2-40B4-BE49-F238E27FC236}">
                <a16:creationId xmlns:a16="http://schemas.microsoft.com/office/drawing/2014/main" id="{DDE0DB4D-7476-472E-A38E-9143F355C29E}"/>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Institutional command center for registration visibility</a:t>
            </a:r>
          </a:p>
        </p:txBody>
      </p:sp>
      <p:sp>
        <p:nvSpPr>
          <p:cNvPr id="8" name="">
            <a:extLst xmlns:a="http://schemas.openxmlformats.org/drawingml/2006/main">
              <a:ext uri="{FF2B5EF4-FFF2-40B4-BE49-F238E27FC236}">
                <a16:creationId xmlns:a16="http://schemas.microsoft.com/office/drawing/2014/main" id="{83359AB6-5ED5-4CD5-8047-B2EEEA8E5853}"/>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488D1F1B-5674-4591-93DD-47984E7BB636}"/>
              </a:ext>
            </a:extLst>
          </p:cNvPr>
          <p:cNvSpPr>
            <a:spLocks xmlns:a="http://schemas.openxmlformats.org/drawingml/2006/main" noGrp="1"/>
          </p:cNvSpPr>
          <p:nvPr/>
        </p:nvSpPr>
        <p:spPr>
          <a:xfrm xmlns:a="http://schemas.openxmlformats.org/drawingml/2006/main">
            <a:off x="628650" y="2143125"/>
            <a:ext cx="5715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Students, courses, faculties, and departments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Enrollment status counts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Active academic session</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Registration open or closed state</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Recent students, courses, and enrollments</a:t>
            </a:r>
          </a:p>
        </p:txBody>
      </p:sp>
      <p:sp>
        <p:nvSpPr>
          <p:cNvPr id="10" name="">
            <a:extLst xmlns:a="http://schemas.openxmlformats.org/drawingml/2006/main">
              <a:ext uri="{FF2B5EF4-FFF2-40B4-BE49-F238E27FC236}">
                <a16:creationId xmlns:a16="http://schemas.microsoft.com/office/drawing/2014/main" id="{B1A9964E-80AC-45DD-9513-7293C8AF1561}"/>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2A87DCF1-29FF-4C91-8F99-BC7F5F147317}"/>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4802EF6-92AC-4AC1-9D3D-3EDC69E6EAD1}"/>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CB3DC6E0-A470-429D-9ED1-A74D42CE6E71}"/>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[Admin Dashboard Screenshot]</a:t>
            </a:r>
          </a:p>
        </p:txBody>
      </p:sp>
      <p:sp>
        <p:nvSpPr>
          <p:cNvPr id="14" name="">
            <a:extLst xmlns:a="http://schemas.openxmlformats.org/drawingml/2006/main">
              <a:ext uri="{FF2B5EF4-FFF2-40B4-BE49-F238E27FC236}">
                <a16:creationId xmlns:a16="http://schemas.microsoft.com/office/drawing/2014/main" id="{8F10C17A-B247-4830-B0C5-130138595278}"/>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21B996C9-5F2C-44DE-AF54-DD7C1CA49591}"/>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06</a:t>
            </a:r>
          </a:p>
        </p:txBody>
      </p:sp>
    </p:spTree>
    <p:extLst>
      <p:ext uri="{BB962C8B-B14F-4D97-AF65-F5344CB8AC3E}">
        <p14:creationId xmlns:p14="http://schemas.microsoft.com/office/powerpoint/2010/main" val="124326669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C5EEF19-8085-41F3-9E8D-72CE38AA9F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B4790C8-1D6D-4BEF-A65A-F78784988A5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763b0877d7e0438a"/>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FD1DFFA-3E95-476B-9DCE-16D4376162AF}"/>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08EA8426-A88B-425B-9EBA-F0E8F187B879}"/>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72612BB9-6B7F-423B-85FB-38E17B1BF791}"/>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Academic structure</a:t>
            </a:r>
          </a:p>
        </p:txBody>
      </p:sp>
      <p:sp>
        <p:nvSpPr>
          <p:cNvPr id="7" name="">
            <a:extLst xmlns:a="http://schemas.openxmlformats.org/drawingml/2006/main">
              <a:ext uri="{FF2B5EF4-FFF2-40B4-BE49-F238E27FC236}">
                <a16:creationId xmlns:a16="http://schemas.microsoft.com/office/drawing/2014/main" id="{08AB163B-631D-4BA7-AD21-E87B90D698A8}"/>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Faculty → Department → Program → Course</a:t>
            </a:r>
          </a:p>
        </p:txBody>
      </p:sp>
      <p:sp>
        <p:nvSpPr>
          <p:cNvPr id="8" name="">
            <a:extLst xmlns:a="http://schemas.openxmlformats.org/drawingml/2006/main">
              <a:ext uri="{FF2B5EF4-FFF2-40B4-BE49-F238E27FC236}">
                <a16:creationId xmlns:a16="http://schemas.microsoft.com/office/drawing/2014/main" id="{5F50F619-D510-4DEE-9385-E83401C1303E}"/>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361DF984-8786-49EA-9712-F0E63D9AAD4A}"/>
              </a:ext>
            </a:extLst>
          </p:cNvPr>
          <p:cNvSpPr>
            <a:spLocks xmlns:a="http://schemas.openxmlformats.org/drawingml/2006/main" noGrp="1"/>
          </p:cNvSpPr>
          <p:nvPr/>
        </p:nvSpPr>
        <p:spPr>
          <a:xfrm xmlns:a="http://schemas.openxmlformats.org/drawingml/2006/main">
            <a:off x="628650" y="2143125"/>
            <a:ext cx="5715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Mirrors university organization</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Creates a clean foundation for registration</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Enables filtering and future reporting</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Supports faculty and department ownership</a:t>
            </a:r>
          </a:p>
        </p:txBody>
      </p:sp>
      <p:sp>
        <p:nvSpPr>
          <p:cNvPr id="10" name="">
            <a:extLst xmlns:a="http://schemas.openxmlformats.org/drawingml/2006/main">
              <a:ext uri="{FF2B5EF4-FFF2-40B4-BE49-F238E27FC236}">
                <a16:creationId xmlns:a16="http://schemas.microsoft.com/office/drawing/2014/main" id="{8F59B815-E319-4125-87F3-D013DF5429C5}"/>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3997CA85-1EBF-4872-829B-25CC604A302E}"/>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2DE9357F-07AC-45B3-BA9B-21C0E302E521}"/>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E9F22526-1C69-4569-90E7-3CD4D271258D}"/>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[Academic Setup Screenshot]</a:t>
            </a:r>
          </a:p>
        </p:txBody>
      </p:sp>
      <p:sp>
        <p:nvSpPr>
          <p:cNvPr id="14" name="">
            <a:extLst xmlns:a="http://schemas.openxmlformats.org/drawingml/2006/main">
              <a:ext uri="{FF2B5EF4-FFF2-40B4-BE49-F238E27FC236}">
                <a16:creationId xmlns:a16="http://schemas.microsoft.com/office/drawing/2014/main" id="{5B403528-4DE4-43E2-BAF0-56F757117090}"/>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1AFD18DA-A4A8-45C4-B6AE-C7B557B9204C}"/>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07</a:t>
            </a:r>
          </a:p>
        </p:txBody>
      </p:sp>
    </p:spTree>
    <p:extLst>
      <p:ext uri="{BB962C8B-B14F-4D97-AF65-F5344CB8AC3E}">
        <p14:creationId xmlns:p14="http://schemas.microsoft.com/office/powerpoint/2010/main" val="176575386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E6A3A9E-1DD9-4EDF-8C83-81FC45A8CE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67FC233-EF87-498C-A7F1-A9D77788B47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8c4a6c2367b24888"/>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7166346-5909-45DC-8ACE-E147935A14DB}"/>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A3D4D623-DC65-418B-9A75-3E5DB6B60DE1}"/>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FF1FADFF-EA9D-4D5C-A0F9-C505F95FF63B}"/>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Course management</a:t>
            </a:r>
          </a:p>
        </p:txBody>
      </p:sp>
      <p:sp>
        <p:nvSpPr>
          <p:cNvPr id="7" name="">
            <a:extLst xmlns:a="http://schemas.openxmlformats.org/drawingml/2006/main">
              <a:ext uri="{FF2B5EF4-FFF2-40B4-BE49-F238E27FC236}">
                <a16:creationId xmlns:a16="http://schemas.microsoft.com/office/drawing/2014/main" id="{F177B14E-49D5-4FDD-83B5-DA7A15744F97}"/>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Professional course administration by academic structure</a:t>
            </a:r>
          </a:p>
        </p:txBody>
      </p:sp>
      <p:sp>
        <p:nvSpPr>
          <p:cNvPr id="8" name="">
            <a:extLst xmlns:a="http://schemas.openxmlformats.org/drawingml/2006/main">
              <a:ext uri="{FF2B5EF4-FFF2-40B4-BE49-F238E27FC236}">
                <a16:creationId xmlns:a16="http://schemas.microsoft.com/office/drawing/2014/main" id="{B6942CC4-EF87-499E-82BD-349D4F5459ED}"/>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C2D5E0B0-BB37-427F-8103-A78F86E1AFED}"/>
              </a:ext>
            </a:extLst>
          </p:cNvPr>
          <p:cNvSpPr>
            <a:spLocks xmlns:a="http://schemas.openxmlformats.org/drawingml/2006/main" noGrp="1"/>
          </p:cNvSpPr>
          <p:nvPr/>
        </p:nvSpPr>
        <p:spPr>
          <a:xfrm xmlns:a="http://schemas.openxmlformats.org/drawingml/2006/main">
            <a:off x="628650" y="2143125"/>
            <a:ext cx="5715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Create, edit, activate, and deactivate courses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Search and filter by faculty, department, program</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Review course profile and enrollment counts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Reduce invalid course selection</a:t>
            </a:r>
          </a:p>
        </p:txBody>
      </p:sp>
      <p:sp>
        <p:nvSpPr>
          <p:cNvPr id="10" name="">
            <a:extLst xmlns:a="http://schemas.openxmlformats.org/drawingml/2006/main">
              <a:ext uri="{FF2B5EF4-FFF2-40B4-BE49-F238E27FC236}">
                <a16:creationId xmlns:a16="http://schemas.microsoft.com/office/drawing/2014/main" id="{5808B60D-1A51-4184-81C3-E83A730222E5}"/>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2D8E8AE6-DEB8-4939-9874-9B77CEF566C3}"/>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F6DFDE2-FA4A-4696-A210-21E480A69E5B}"/>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BC0FABDB-A4B4-41CD-B27C-39E4CF256B6B}"/>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[Course Management + Detail Screenshot]</a:t>
            </a:r>
          </a:p>
        </p:txBody>
      </p:sp>
      <p:sp>
        <p:nvSpPr>
          <p:cNvPr id="14" name="">
            <a:extLst xmlns:a="http://schemas.openxmlformats.org/drawingml/2006/main">
              <a:ext uri="{FF2B5EF4-FFF2-40B4-BE49-F238E27FC236}">
                <a16:creationId xmlns:a16="http://schemas.microsoft.com/office/drawing/2014/main" id="{96EE5CA2-2751-4085-99FE-4071E9B82F60}"/>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AC70A3BD-E8B2-4B09-876E-91A57E29064F}"/>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08</a:t>
            </a:r>
          </a:p>
        </p:txBody>
      </p:sp>
    </p:spTree>
    <p:extLst>
      <p:ext uri="{BB962C8B-B14F-4D97-AF65-F5344CB8AC3E}">
        <p14:creationId xmlns:p14="http://schemas.microsoft.com/office/powerpoint/2010/main" val="31654512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8FA799-379E-44B6-8142-20102EC612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0B2C994-7040-4DDC-8925-7685BB5DDB1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b9bbdd0e9c3f4d22"/>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E459A0B-BB3A-4692-9266-83E0DB60B33E}"/>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2877E699-23EC-4703-BCAE-6D60BE7565A4}"/>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093E81E4-17F6-4D8A-9340-ED91A4B523DE}"/>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Student management</a:t>
            </a:r>
          </a:p>
        </p:txBody>
      </p:sp>
      <p:sp>
        <p:nvSpPr>
          <p:cNvPr id="7" name="">
            <a:extLst xmlns:a="http://schemas.openxmlformats.org/drawingml/2006/main">
              <a:ext uri="{FF2B5EF4-FFF2-40B4-BE49-F238E27FC236}">
                <a16:creationId xmlns:a16="http://schemas.microsoft.com/office/drawing/2014/main" id="{5122A17F-EF8A-40A2-A307-73B4D45916A9}"/>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Centralized student identity and academic placement</a:t>
            </a:r>
          </a:p>
        </p:txBody>
      </p:sp>
      <p:sp>
        <p:nvSpPr>
          <p:cNvPr id="8" name="">
            <a:extLst xmlns:a="http://schemas.openxmlformats.org/drawingml/2006/main">
              <a:ext uri="{FF2B5EF4-FFF2-40B4-BE49-F238E27FC236}">
                <a16:creationId xmlns:a16="http://schemas.microsoft.com/office/drawing/2014/main" id="{75BF9382-48D6-4A6D-9369-030346C8E4CE}"/>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DF986E18-E847-4664-9220-20742D1ACBFD}"/>
              </a:ext>
            </a:extLst>
          </p:cNvPr>
          <p:cNvSpPr>
            <a:spLocks xmlns:a="http://schemas.openxmlformats.org/drawingml/2006/main" noGrp="1"/>
          </p:cNvSpPr>
          <p:nvPr/>
        </p:nvSpPr>
        <p:spPr>
          <a:xfrm xmlns:a="http://schemas.openxmlformats.org/drawingml/2006/main">
            <a:off x="628650" y="2143125"/>
            <a:ext cx="5715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Student ID and registration number</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Faculty, department, program, level, intake year</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Guardian and contact details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Account status and academic verification</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Admin-created student accounts</a:t>
            </a:r>
          </a:p>
        </p:txBody>
      </p:sp>
      <p:sp>
        <p:nvSpPr>
          <p:cNvPr id="10" name="">
            <a:extLst xmlns:a="http://schemas.openxmlformats.org/drawingml/2006/main">
              <a:ext uri="{FF2B5EF4-FFF2-40B4-BE49-F238E27FC236}">
                <a16:creationId xmlns:a16="http://schemas.microsoft.com/office/drawing/2014/main" id="{B775C0F7-93E3-4135-8E18-F55C78945816}"/>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80CCFF5C-4B95-43BE-A736-81979688459C}"/>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EBF488C-5CA4-403D-92DE-FC9076345603}"/>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EE9BD571-57A8-4B8C-B70B-F5CF7BABC3ED}"/>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[Student Management Screenshot]</a:t>
            </a:r>
          </a:p>
        </p:txBody>
      </p:sp>
      <p:sp>
        <p:nvSpPr>
          <p:cNvPr id="14" name="">
            <a:extLst xmlns:a="http://schemas.openxmlformats.org/drawingml/2006/main">
              <a:ext uri="{FF2B5EF4-FFF2-40B4-BE49-F238E27FC236}">
                <a16:creationId xmlns:a16="http://schemas.microsoft.com/office/drawing/2014/main" id="{3274FABB-D439-4334-80E3-93F9F54519EB}"/>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AB755AC5-9E64-4E5F-8BCD-F9C9BE2F5E0F}"/>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09</a:t>
            </a:r>
          </a:p>
        </p:txBody>
      </p:sp>
    </p:spTree>
    <p:extLst>
      <p:ext uri="{BB962C8B-B14F-4D97-AF65-F5344CB8AC3E}">
        <p14:creationId xmlns:p14="http://schemas.microsoft.com/office/powerpoint/2010/main" val="114656089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061DA96-E3BD-4D80-A6F2-9C18AF4D6BF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A3C3DAC-0A8F-4752-B783-93CE3D13958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7a0baa9c13264b75"/>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8474261-D5BB-4F38-AA59-53C09E500EF8}"/>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874473ED-A444-4DC8-881A-74DEBCE52AA2}"/>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F0DD9CFC-24B1-4CC3-B218-62A35ED8A039}"/>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Academic session control</a:t>
            </a:r>
          </a:p>
        </p:txBody>
      </p:sp>
      <p:sp>
        <p:nvSpPr>
          <p:cNvPr id="7" name="">
            <a:extLst xmlns:a="http://schemas.openxmlformats.org/drawingml/2006/main">
              <a:ext uri="{FF2B5EF4-FFF2-40B4-BE49-F238E27FC236}">
                <a16:creationId xmlns:a16="http://schemas.microsoft.com/office/drawing/2014/main" id="{5DE51C11-368A-4460-AB99-0E7BE13A2D66}"/>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Open and close registration by academic year and semester</a:t>
            </a:r>
          </a:p>
        </p:txBody>
      </p:sp>
      <p:sp>
        <p:nvSpPr>
          <p:cNvPr id="8" name="">
            <a:extLst xmlns:a="http://schemas.openxmlformats.org/drawingml/2006/main">
              <a:ext uri="{FF2B5EF4-FFF2-40B4-BE49-F238E27FC236}">
                <a16:creationId xmlns:a16="http://schemas.microsoft.com/office/drawing/2014/main" id="{2F05D7CF-D077-435D-B0AD-88AE41C10719}"/>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216546FF-2CF2-4E2C-B8EB-363266A8F4FF}"/>
              </a:ext>
            </a:extLst>
          </p:cNvPr>
          <p:cNvSpPr>
            <a:spLocks xmlns:a="http://schemas.openxmlformats.org/drawingml/2006/main" noGrp="1"/>
          </p:cNvSpPr>
          <p:nvPr/>
        </p:nvSpPr>
        <p:spPr>
          <a:xfrm xmlns:a="http://schemas.openxmlformats.org/drawingml/2006/main">
            <a:off x="628650" y="2143125"/>
            <a:ext cx="5715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Active academic year and semester</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Enrollment open or closed status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Start and end dates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Prevents late or invalid registration requests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Clear registration policy for students</a:t>
            </a:r>
          </a:p>
        </p:txBody>
      </p:sp>
      <p:sp>
        <p:nvSpPr>
          <p:cNvPr id="10" name="">
            <a:extLst xmlns:a="http://schemas.openxmlformats.org/drawingml/2006/main">
              <a:ext uri="{FF2B5EF4-FFF2-40B4-BE49-F238E27FC236}">
                <a16:creationId xmlns:a16="http://schemas.microsoft.com/office/drawing/2014/main" id="{0D68E0DE-7D05-459D-B41D-153B66495E47}"/>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BB4C5DF3-CA82-4FC3-9427-C353560808A1}"/>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E739ED73-E84F-41E7-8A72-26C425C2FB9A}"/>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764D391E-C66A-4794-8D96-D0A6EC42C8B4}"/>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[Academic Sessions Screenshot]</a:t>
            </a:r>
          </a:p>
        </p:txBody>
      </p:sp>
      <p:sp>
        <p:nvSpPr>
          <p:cNvPr id="14" name="">
            <a:extLst xmlns:a="http://schemas.openxmlformats.org/drawingml/2006/main">
              <a:ext uri="{FF2B5EF4-FFF2-40B4-BE49-F238E27FC236}">
                <a16:creationId xmlns:a16="http://schemas.microsoft.com/office/drawing/2014/main" id="{183A69F5-0189-4BCC-A347-3AC39616F91B}"/>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5D34FC0A-C019-402D-8664-D9C2755088C7}"/>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10</a:t>
            </a:r>
          </a:p>
        </p:txBody>
      </p:sp>
    </p:spTree>
    <p:extLst>
      <p:ext uri="{BB962C8B-B14F-4D97-AF65-F5344CB8AC3E}">
        <p14:creationId xmlns:p14="http://schemas.microsoft.com/office/powerpoint/2010/main" val="9116663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17E268A-82E6-4049-B943-CFEB12ECD66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3E251DB-4D11-4266-BD94-B7D06F05B04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553075693ac5493f"/>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3E0BFB4-9CE7-4B65-AE18-DAA649F7E70D}"/>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7E5FE179-AC96-401B-AD5E-FB516C64CC0A}"/>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4209C3C4-0F3E-4910-8F64-23AA6D71D557}"/>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Student course registration</a:t>
            </a:r>
          </a:p>
        </p:txBody>
      </p:sp>
      <p:sp>
        <p:nvSpPr>
          <p:cNvPr id="7" name="">
            <a:extLst xmlns:a="http://schemas.openxmlformats.org/drawingml/2006/main">
              <a:ext uri="{FF2B5EF4-FFF2-40B4-BE49-F238E27FC236}">
                <a16:creationId xmlns:a16="http://schemas.microsoft.com/office/drawing/2014/main" id="{A19CC226-FE70-4E1E-8B3F-1424DA8C93F7}"/>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Simple self-service enrollment request experience</a:t>
            </a:r>
          </a:p>
        </p:txBody>
      </p:sp>
      <p:sp>
        <p:nvSpPr>
          <p:cNvPr id="8" name="">
            <a:extLst xmlns:a="http://schemas.openxmlformats.org/drawingml/2006/main">
              <a:ext uri="{FF2B5EF4-FFF2-40B4-BE49-F238E27FC236}">
                <a16:creationId xmlns:a16="http://schemas.microsoft.com/office/drawing/2014/main" id="{23F38F7D-9F3D-495F-9763-7F9AAC73B40C}"/>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9FA1C1D4-145B-4ECD-966A-DE0A3A687178}"/>
              </a:ext>
            </a:extLst>
          </p:cNvPr>
          <p:cNvSpPr>
            <a:spLocks xmlns:a="http://schemas.openxmlformats.org/drawingml/2006/main" noGrp="1"/>
          </p:cNvSpPr>
          <p:nvPr/>
        </p:nvSpPr>
        <p:spPr>
          <a:xfrm xmlns:a="http://schemas.openxmlformats.org/drawingml/2006/main">
            <a:off x="628650" y="2143125"/>
            <a:ext cx="5715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Browse available courses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See active session status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Request enrollment</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Prevent duplicate requests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Track pending, approved, rejected, or correction status</a:t>
            </a:r>
          </a:p>
        </p:txBody>
      </p:sp>
      <p:sp>
        <p:nvSpPr>
          <p:cNvPr id="10" name="">
            <a:extLst xmlns:a="http://schemas.openxmlformats.org/drawingml/2006/main">
              <a:ext uri="{FF2B5EF4-FFF2-40B4-BE49-F238E27FC236}">
                <a16:creationId xmlns:a16="http://schemas.microsoft.com/office/drawing/2014/main" id="{A19C3862-DFA6-4564-81FB-8C40DB9FBC0B}"/>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DAA436DD-8839-4D4B-B641-0A6A9713CB1E}"/>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9D892BDF-38C9-4192-BF1B-360566F21B61}"/>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E131DFC7-AC7B-4751-AB9A-DE42B52A69B2}"/>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[Student Course Browsing Screenshot]</a:t>
            </a:r>
          </a:p>
        </p:txBody>
      </p:sp>
      <p:sp>
        <p:nvSpPr>
          <p:cNvPr id="14" name="">
            <a:extLst xmlns:a="http://schemas.openxmlformats.org/drawingml/2006/main">
              <a:ext uri="{FF2B5EF4-FFF2-40B4-BE49-F238E27FC236}">
                <a16:creationId xmlns:a16="http://schemas.microsoft.com/office/drawing/2014/main" id="{CF57395E-343B-470D-A666-1B612B3B45DD}"/>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B5A50C97-48AA-43EE-AC6E-7BE5228FA537}"/>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11</a:t>
            </a:r>
          </a:p>
        </p:txBody>
      </p:sp>
    </p:spTree>
    <p:extLst>
      <p:ext uri="{BB962C8B-B14F-4D97-AF65-F5344CB8AC3E}">
        <p14:creationId xmlns:p14="http://schemas.microsoft.com/office/powerpoint/2010/main" val="57805229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9674DB-2A4B-4C8E-A6E7-8FBB7987DD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F4D76C1-0357-4C97-AE98-475837D5BFE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5656c49758ff44f5"/>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07A697-ED16-41B2-9B24-070F87528C9D}"/>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E27A89D1-190C-4829-98D0-8D686D68CB51}"/>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05398186-18E0-4E9D-9368-78DC0C53CDE8}"/>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Registrar review workflow</a:t>
            </a:r>
          </a:p>
        </p:txBody>
      </p:sp>
      <p:sp>
        <p:nvSpPr>
          <p:cNvPr id="7" name="">
            <a:extLst xmlns:a="http://schemas.openxmlformats.org/drawingml/2006/main">
              <a:ext uri="{FF2B5EF4-FFF2-40B4-BE49-F238E27FC236}">
                <a16:creationId xmlns:a16="http://schemas.microsoft.com/office/drawing/2014/main" id="{14518E78-EE46-4EFE-82A1-549888B12DD7}"/>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Official approval before enrollment becomes final</a:t>
            </a:r>
          </a:p>
        </p:txBody>
      </p:sp>
      <p:sp>
        <p:nvSpPr>
          <p:cNvPr id="8" name="">
            <a:extLst xmlns:a="http://schemas.openxmlformats.org/drawingml/2006/main">
              <a:ext uri="{FF2B5EF4-FFF2-40B4-BE49-F238E27FC236}">
                <a16:creationId xmlns:a16="http://schemas.microsoft.com/office/drawing/2014/main" id="{F6A6FFDE-C616-4C5A-B417-604A4AE7A5D2}"/>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CEB72ABC-01A8-4819-90F6-E7B9AD20819E}"/>
              </a:ext>
            </a:extLst>
          </p:cNvPr>
          <p:cNvSpPr>
            <a:spLocks xmlns:a="http://schemas.openxmlformats.org/drawingml/2006/main" noGrp="1"/>
          </p:cNvSpPr>
          <p:nvPr/>
        </p:nvSpPr>
        <p:spPr>
          <a:xfrm xmlns:a="http://schemas.openxmlformats.org/drawingml/2006/main">
            <a:off x="628650" y="2143125"/>
            <a:ext cx="5715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Pending enrollment queue</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Student profile and academic context</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Selected courses and credit totals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Approve, reject, or return for correction</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Structured reasons for decisions</a:t>
            </a:r>
          </a:p>
        </p:txBody>
      </p:sp>
      <p:sp>
        <p:nvSpPr>
          <p:cNvPr id="10" name="">
            <a:extLst xmlns:a="http://schemas.openxmlformats.org/drawingml/2006/main">
              <a:ext uri="{FF2B5EF4-FFF2-40B4-BE49-F238E27FC236}">
                <a16:creationId xmlns:a16="http://schemas.microsoft.com/office/drawing/2014/main" id="{F5F2C18E-926D-4ED2-B6DA-412DDE979647}"/>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22BA67C9-7863-4F74-989F-1EF67753551A}"/>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14FE0E4B-D97B-4082-9DF1-331CD9B563D7}"/>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D93F533D-2033-409E-8A7D-FC7C64444B4D}"/>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[Registrar Review Workflow Screenshot]</a:t>
            </a:r>
          </a:p>
        </p:txBody>
      </p:sp>
      <p:sp>
        <p:nvSpPr>
          <p:cNvPr id="14" name="">
            <a:extLst xmlns:a="http://schemas.openxmlformats.org/drawingml/2006/main">
              <a:ext uri="{FF2B5EF4-FFF2-40B4-BE49-F238E27FC236}">
                <a16:creationId xmlns:a16="http://schemas.microsoft.com/office/drawing/2014/main" id="{6F4AEC01-C627-4CDC-9173-896CCE2C78D6}"/>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36D27C4E-B3E7-49CC-9FEE-EA5505732B47}"/>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12</a:t>
            </a:r>
          </a:p>
        </p:txBody>
      </p:sp>
    </p:spTree>
    <p:extLst>
      <p:ext uri="{BB962C8B-B14F-4D97-AF65-F5344CB8AC3E}">
        <p14:creationId xmlns:p14="http://schemas.microsoft.com/office/powerpoint/2010/main" val="162628468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258AC2-E6BB-4B29-A8AB-5F1A3C55E8D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965EE10-E983-4268-A3D0-4BDED40A3CF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46c3a505b8e14be7"/>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363DA87-0FD4-40ED-8792-BFCBC6E38C09}"/>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F5126696-FA8E-4E90-8714-D85587DD7E7B}"/>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8D1D27B9-1E1B-4227-A52C-55A537164649}"/>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Decision audit log</a:t>
            </a:r>
          </a:p>
        </p:txBody>
      </p:sp>
      <p:sp>
        <p:nvSpPr>
          <p:cNvPr id="7" name="">
            <a:extLst xmlns:a="http://schemas.openxmlformats.org/drawingml/2006/main">
              <a:ext uri="{FF2B5EF4-FFF2-40B4-BE49-F238E27FC236}">
                <a16:creationId xmlns:a16="http://schemas.microsoft.com/office/drawing/2014/main" id="{97DF0673-BBAF-4637-BF21-CE41B65DB99B}"/>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Accountability for every enrollment decision</a:t>
            </a:r>
          </a:p>
        </p:txBody>
      </p:sp>
      <p:sp>
        <p:nvSpPr>
          <p:cNvPr id="8" name="">
            <a:extLst xmlns:a="http://schemas.openxmlformats.org/drawingml/2006/main">
              <a:ext uri="{FF2B5EF4-FFF2-40B4-BE49-F238E27FC236}">
                <a16:creationId xmlns:a16="http://schemas.microsoft.com/office/drawing/2014/main" id="{9FD050BB-FE6E-4EF4-AE9A-696BB8A0A24C}"/>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3237FCE8-6776-49F9-ACFA-13F456F8F54A}"/>
              </a:ext>
            </a:extLst>
          </p:cNvPr>
          <p:cNvSpPr>
            <a:spLocks xmlns:a="http://schemas.openxmlformats.org/drawingml/2006/main" noGrp="1"/>
          </p:cNvSpPr>
          <p:nvPr/>
        </p:nvSpPr>
        <p:spPr>
          <a:xfrm xmlns:a="http://schemas.openxmlformats.org/drawingml/2006/main">
            <a:off x="628650" y="2143125"/>
            <a:ext cx="5715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Reviewer identity and role</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Previous and new status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Decision date and time</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Reason type and decision note</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Traceable registration history</a:t>
            </a:r>
          </a:p>
        </p:txBody>
      </p:sp>
      <p:sp>
        <p:nvSpPr>
          <p:cNvPr id="10" name="">
            <a:extLst xmlns:a="http://schemas.openxmlformats.org/drawingml/2006/main">
              <a:ext uri="{FF2B5EF4-FFF2-40B4-BE49-F238E27FC236}">
                <a16:creationId xmlns:a16="http://schemas.microsoft.com/office/drawing/2014/main" id="{22E426DC-DA0E-4189-862C-19F4FB9B4727}"/>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26B1B5DD-8F09-4A1F-A740-47D44D114981}"/>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06B5DC66-3D9A-4C0D-8CDF-E5D4E2B0EBAA}"/>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505E737D-0084-43AD-9CA6-3DC63D1951BA}"/>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[Audit Log Screenshot]</a:t>
            </a:r>
          </a:p>
        </p:txBody>
      </p:sp>
      <p:sp>
        <p:nvSpPr>
          <p:cNvPr id="14" name="">
            <a:extLst xmlns:a="http://schemas.openxmlformats.org/drawingml/2006/main">
              <a:ext uri="{FF2B5EF4-FFF2-40B4-BE49-F238E27FC236}">
                <a16:creationId xmlns:a16="http://schemas.microsoft.com/office/drawing/2014/main" id="{F4F219CF-7980-4649-A36E-18DA61FA426E}"/>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603708B5-2D5A-48EE-ABEC-7D9886D039AE}"/>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13</a:t>
            </a:r>
          </a:p>
        </p:txBody>
      </p:sp>
    </p:spTree>
    <p:extLst>
      <p:ext uri="{BB962C8B-B14F-4D97-AF65-F5344CB8AC3E}">
        <p14:creationId xmlns:p14="http://schemas.microsoft.com/office/powerpoint/2010/main" val="25387433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D8936F-65D8-4AE6-87CE-971E75AA2D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6E45F7D-C5BE-4499-BA47-16CD0A65948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25ae692612754064"/>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915619B-578A-46F7-85CB-82CDEC07C69E}"/>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E2C70C72-6752-46F3-99DA-69C2C0BEB60C}"/>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2F5BCC7B-8F19-460D-8733-5A48D40A2D91}"/>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Enrollment slip and academic records</a:t>
            </a:r>
          </a:p>
        </p:txBody>
      </p:sp>
      <p:sp>
        <p:nvSpPr>
          <p:cNvPr id="7" name="">
            <a:extLst xmlns:a="http://schemas.openxmlformats.org/drawingml/2006/main">
              <a:ext uri="{FF2B5EF4-FFF2-40B4-BE49-F238E27FC236}">
                <a16:creationId xmlns:a16="http://schemas.microsoft.com/office/drawing/2014/main" id="{5DCA50BF-A2AF-4C1D-86EA-3DF98D527779}"/>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From approved registration to official student record</a:t>
            </a:r>
          </a:p>
        </p:txBody>
      </p:sp>
      <p:sp>
        <p:nvSpPr>
          <p:cNvPr id="8" name="">
            <a:extLst xmlns:a="http://schemas.openxmlformats.org/drawingml/2006/main">
              <a:ext uri="{FF2B5EF4-FFF2-40B4-BE49-F238E27FC236}">
                <a16:creationId xmlns:a16="http://schemas.microsoft.com/office/drawing/2014/main" id="{433EE11A-80B2-4921-8237-AFC1522211BE}"/>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4B9C6D2C-6A70-499B-A76E-DC93BA8E4E78}"/>
              </a:ext>
            </a:extLst>
          </p:cNvPr>
          <p:cNvSpPr>
            <a:spLocks xmlns:a="http://schemas.openxmlformats.org/drawingml/2006/main" noGrp="1"/>
          </p:cNvSpPr>
          <p:nvPr/>
        </p:nvSpPr>
        <p:spPr>
          <a:xfrm xmlns:a="http://schemas.openxmlformats.org/drawingml/2006/main">
            <a:off x="628650" y="2143125"/>
            <a:ext cx="5715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Printable approved enrollment slip</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Student identity and academic context</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Approved courses and total credits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Decision date and reviewer</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Academic records foundation with GPA and remarks</a:t>
            </a:r>
          </a:p>
        </p:txBody>
      </p:sp>
      <p:sp>
        <p:nvSpPr>
          <p:cNvPr id="10" name="">
            <a:extLst xmlns:a="http://schemas.openxmlformats.org/drawingml/2006/main">
              <a:ext uri="{FF2B5EF4-FFF2-40B4-BE49-F238E27FC236}">
                <a16:creationId xmlns:a16="http://schemas.microsoft.com/office/drawing/2014/main" id="{93DEF72B-5CED-4C66-9596-D47BD2DC3FB1}"/>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4DC83AB1-F359-4687-B030-6FE805CB88B0}"/>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24E5EBC0-3F73-42FB-A3FD-DB6203C4D36E}"/>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3F4A7A60-CEDF-4B42-BD1E-52BCCE063DB3}"/>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[Printable Enrollment Slip Screenshot]</a:t>
            </a:r>
          </a:p>
        </p:txBody>
      </p:sp>
      <p:sp>
        <p:nvSpPr>
          <p:cNvPr id="14" name="">
            <a:extLst xmlns:a="http://schemas.openxmlformats.org/drawingml/2006/main">
              <a:ext uri="{FF2B5EF4-FFF2-40B4-BE49-F238E27FC236}">
                <a16:creationId xmlns:a16="http://schemas.microsoft.com/office/drawing/2014/main" id="{21249457-1724-4036-9BEE-73E68BE19660}"/>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E392AE02-CEBA-442E-AC08-2DDEF0B8F1F2}"/>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14</a:t>
            </a:r>
          </a:p>
        </p:txBody>
      </p:sp>
    </p:spTree>
    <p:extLst>
      <p:ext uri="{BB962C8B-B14F-4D97-AF65-F5344CB8AC3E}">
        <p14:creationId xmlns:p14="http://schemas.microsoft.com/office/powerpoint/2010/main" val="1853945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2EFBDD4-C730-4033-B986-E040C23DC64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2E7C556-F7AF-4A02-82CE-9DB241BA3B6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232821e70bcf467b"/>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A5B0B69-BDD4-4093-B8D5-E79338E53F13}"/>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C30F56D0-468E-4D75-A8C2-5423F7A9C84E}"/>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0A87929F-FD63-479F-B78E-8C280EFFED49}"/>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Security and deployment readiness</a:t>
            </a:r>
          </a:p>
        </p:txBody>
      </p:sp>
      <p:sp>
        <p:nvSpPr>
          <p:cNvPr id="7" name="">
            <a:extLst xmlns:a="http://schemas.openxmlformats.org/drawingml/2006/main">
              <a:ext uri="{FF2B5EF4-FFF2-40B4-BE49-F238E27FC236}">
                <a16:creationId xmlns:a16="http://schemas.microsoft.com/office/drawing/2014/main" id="{93191EF6-D255-4E57-B901-5D8D525E45CD}"/>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Built for controlled institutional access</a:t>
            </a:r>
          </a:p>
        </p:txBody>
      </p:sp>
      <p:sp>
        <p:nvSpPr>
          <p:cNvPr id="8" name="">
            <a:extLst xmlns:a="http://schemas.openxmlformats.org/drawingml/2006/main">
              <a:ext uri="{FF2B5EF4-FFF2-40B4-BE49-F238E27FC236}">
                <a16:creationId xmlns:a16="http://schemas.microsoft.com/office/drawing/2014/main" id="{62B950DE-FE4D-4BAC-99F3-206C7CD31579}"/>
              </a:ext>
            </a:extLst>
          </p:cNvPr>
          <p:cNvSpPr>
            <a:spLocks xmlns:a="http://schemas.openxmlformats.org/drawingml/2006/main" noGrp="1"/>
          </p:cNvSpPr>
          <p:nvPr/>
        </p:nvSpPr>
        <p:spPr>
          <a:xfrm xmlns:a="http://schemas.openxmlformats.org/drawingml/2006/main">
            <a:off x="628650" y="1828800"/>
            <a:ext cx="342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4AF37"/>
                </a:solidFill>
                <a:latin typeface="Aptos"/>
                <a:ea typeface="Aptos"/>
                <a:cs typeface="Aptos"/>
              </a:defRPr>
            </a:pPr>
            <a:r>
              <a:rPr sz="750" b="1">
                <a:solidFill>
                  <a:srgbClr val="D4AF37"/>
                </a:solidFill>
                <a:latin typeface="Aptos"/>
                <a:ea typeface="Aptos"/>
                <a:cs typeface="Aptos"/>
              </a:rPr>
              <a:t>EXECUTIVE FOCUS</a:t>
            </a:r>
          </a:p>
        </p:txBody>
      </p:sp>
      <p:sp>
        <p:nvSpPr>
          <p:cNvPr id="9" name="">
            <a:extLst xmlns:a="http://schemas.openxmlformats.org/drawingml/2006/main">
              <a:ext uri="{FF2B5EF4-FFF2-40B4-BE49-F238E27FC236}">
                <a16:creationId xmlns:a16="http://schemas.microsoft.com/office/drawing/2014/main" id="{0B846AF2-4158-4360-98A8-5BD012053B6C}"/>
              </a:ext>
            </a:extLst>
          </p:cNvPr>
          <p:cNvSpPr>
            <a:spLocks xmlns:a="http://schemas.openxmlformats.org/drawingml/2006/main" noGrp="1"/>
          </p:cNvSpPr>
          <p:nvPr/>
        </p:nvSpPr>
        <p:spPr>
          <a:xfrm xmlns:a="http://schemas.openxmlformats.org/drawingml/2006/main">
            <a:off x="628650" y="2143125"/>
            <a:ext cx="5715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JWT authentication and hashed passwords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Role-based access control</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Protected API routes and CORS controls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Auth rate limiting and request body limits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Render backend, Vercel frontend, MongoDB Atlas</a:t>
            </a:r>
          </a:p>
        </p:txBody>
      </p:sp>
      <p:sp>
        <p:nvSpPr>
          <p:cNvPr id="10" name="">
            <a:extLst xmlns:a="http://schemas.openxmlformats.org/drawingml/2006/main">
              <a:ext uri="{FF2B5EF4-FFF2-40B4-BE49-F238E27FC236}">
                <a16:creationId xmlns:a16="http://schemas.microsoft.com/office/drawing/2014/main" id="{C0703848-0762-4760-AB6C-7D175B2BDAAF}"/>
              </a:ext>
            </a:extLst>
          </p:cNvPr>
          <p:cNvSpPr>
            <a:spLocks xmlns:a="http://schemas.openxmlformats.org/drawingml/2006/main" noGrp="1"/>
          </p:cNvSpPr>
          <p:nvPr/>
        </p:nvSpPr>
        <p:spPr>
          <a:xfrm xmlns:a="http://schemas.openxmlformats.org/drawingml/2006/main">
            <a:off x="7067550" y="102870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11" name="">
            <a:extLst xmlns:a="http://schemas.openxmlformats.org/drawingml/2006/main">
              <a:ext uri="{FF2B5EF4-FFF2-40B4-BE49-F238E27FC236}">
                <a16:creationId xmlns:a16="http://schemas.microsoft.com/office/drawing/2014/main" id="{A98460A7-65C3-419A-A63A-EDF0E8F9B1C6}"/>
              </a:ext>
            </a:extLst>
          </p:cNvPr>
          <p:cNvSpPr>
            <a:spLocks xmlns:a="http://schemas.openxmlformats.org/drawingml/2006/main" noGrp="1"/>
          </p:cNvSpPr>
          <p:nvPr/>
        </p:nvSpPr>
        <p:spPr>
          <a:xfrm xmlns:a="http://schemas.openxmlformats.org/drawingml/2006/main">
            <a:off x="7067550" y="102870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123D3E5-AC6D-446F-AD59-9752B4DA2DE0}"/>
              </a:ext>
            </a:extLst>
          </p:cNvPr>
          <p:cNvSpPr>
            <a:spLocks xmlns:a="http://schemas.openxmlformats.org/drawingml/2006/main" noGrp="1"/>
          </p:cNvSpPr>
          <p:nvPr/>
        </p:nvSpPr>
        <p:spPr>
          <a:xfrm xmlns:a="http://schemas.openxmlformats.org/drawingml/2006/main">
            <a:off x="7296150" y="137160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13" name="">
            <a:extLst xmlns:a="http://schemas.openxmlformats.org/drawingml/2006/main">
              <a:ext uri="{FF2B5EF4-FFF2-40B4-BE49-F238E27FC236}">
                <a16:creationId xmlns:a16="http://schemas.microsoft.com/office/drawing/2014/main" id="{64B3DA71-E213-4E5D-AF81-EF22365D2ECB}"/>
              </a:ext>
            </a:extLst>
          </p:cNvPr>
          <p:cNvSpPr>
            <a:spLocks xmlns:a="http://schemas.openxmlformats.org/drawingml/2006/main" noGrp="1"/>
          </p:cNvSpPr>
          <p:nvPr/>
        </p:nvSpPr>
        <p:spPr>
          <a:xfrm xmlns:a="http://schemas.openxmlformats.org/drawingml/2006/main">
            <a:off x="7410450" y="470535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[Deployment Architecture Placeholder]</a:t>
            </a:r>
          </a:p>
        </p:txBody>
      </p:sp>
      <p:sp>
        <p:nvSpPr>
          <p:cNvPr id="14" name="">
            <a:extLst xmlns:a="http://schemas.openxmlformats.org/drawingml/2006/main">
              <a:ext uri="{FF2B5EF4-FFF2-40B4-BE49-F238E27FC236}">
                <a16:creationId xmlns:a16="http://schemas.microsoft.com/office/drawing/2014/main" id="{DC8F6C68-67F1-4A5D-A4E8-45B90B190A36}"/>
              </a:ext>
            </a:extLst>
          </p:cNvPr>
          <p:cNvSpPr>
            <a:spLocks xmlns:a="http://schemas.openxmlformats.org/drawingml/2006/main" noGrp="1"/>
          </p:cNvSpPr>
          <p:nvPr/>
        </p:nvSpPr>
        <p:spPr>
          <a:xfrm xmlns:a="http://schemas.openxmlformats.org/drawingml/2006/main">
            <a:off x="7448550" y="299085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15" name="">
            <a:extLst xmlns:a="http://schemas.openxmlformats.org/drawingml/2006/main">
              <a:ext uri="{FF2B5EF4-FFF2-40B4-BE49-F238E27FC236}">
                <a16:creationId xmlns:a16="http://schemas.microsoft.com/office/drawing/2014/main" id="{A2B52783-6DB0-4793-9962-0BFD463C4F82}"/>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15</a:t>
            </a:r>
          </a:p>
        </p:txBody>
      </p:sp>
    </p:spTree>
    <p:extLst>
      <p:ext uri="{BB962C8B-B14F-4D97-AF65-F5344CB8AC3E}">
        <p14:creationId xmlns:p14="http://schemas.microsoft.com/office/powerpoint/2010/main" val="124528136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C4F71A-A450-485F-A775-7DA7CA98EA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50791AE-D7EB-4E4D-BDFB-D32DE4290D7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d6f95c446d9c4de5"/>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571F0D2-AE0F-4BCD-81CB-65D8881B3557}"/>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9B04270E-D31F-4556-B9B8-BBFEE1B0EF3D}"/>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5C892D56-6553-412A-A2A9-E6B4B25BFC21}"/>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Institutional ROI</a:t>
            </a:r>
          </a:p>
        </p:txBody>
      </p:sp>
      <p:sp>
        <p:nvSpPr>
          <p:cNvPr id="7" name="">
            <a:extLst xmlns:a="http://schemas.openxmlformats.org/drawingml/2006/main">
              <a:ext uri="{FF2B5EF4-FFF2-40B4-BE49-F238E27FC236}">
                <a16:creationId xmlns:a16="http://schemas.microsoft.com/office/drawing/2014/main" id="{5E65BBB8-03CC-4EEC-9A56-B7083FC2CBCB}"/>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Practical value for administration and student service</a:t>
            </a:r>
          </a:p>
        </p:txBody>
      </p:sp>
      <p:sp>
        <p:nvSpPr>
          <p:cNvPr id="8" name="">
            <a:extLst xmlns:a="http://schemas.openxmlformats.org/drawingml/2006/main">
              <a:ext uri="{FF2B5EF4-FFF2-40B4-BE49-F238E27FC236}">
                <a16:creationId xmlns:a16="http://schemas.microsoft.com/office/drawing/2014/main" id="{C4EE8C79-2656-4911-BD86-3D15361BBC6F}"/>
              </a:ext>
            </a:extLst>
          </p:cNvPr>
          <p:cNvSpPr>
            <a:spLocks xmlns:a="http://schemas.openxmlformats.org/drawingml/2006/main" noGrp="1"/>
          </p:cNvSpPr>
          <p:nvPr/>
        </p:nvSpPr>
        <p:spPr>
          <a:xfrm xmlns:a="http://schemas.openxmlformats.org/drawingml/2006/main">
            <a:off x="666750" y="2076450"/>
            <a:ext cx="1352550" cy="838200"/>
          </a:xfrm>
          <a:prstGeom xmlns:a="http://schemas.openxmlformats.org/drawingml/2006/main" prst="rect">
            <a:avLst/>
          </a:prstGeom>
          <a:solidFill xmlns:a="http://schemas.openxmlformats.org/drawingml/2006/main">
            <a:srgbClr val="F5F7FB"/>
          </a:solidFill>
          <a:ln xmlns:a="http://schemas.openxmlformats.org/drawingml/2006/main" w="9525">
            <a:solidFill>
              <a:srgbClr val="D9E2F1"/>
            </a:solidFill>
          </a:ln>
        </p:spPr>
      </p:sp>
      <p:sp>
        <p:nvSpPr>
          <p:cNvPr id="9" name="">
            <a:extLst xmlns:a="http://schemas.openxmlformats.org/drawingml/2006/main">
              <a:ext uri="{FF2B5EF4-FFF2-40B4-BE49-F238E27FC236}">
                <a16:creationId xmlns:a16="http://schemas.microsoft.com/office/drawing/2014/main" id="{B1194192-3975-4385-9B86-E5032C18ED98}"/>
              </a:ext>
            </a:extLst>
          </p:cNvPr>
          <p:cNvSpPr>
            <a:spLocks xmlns:a="http://schemas.openxmlformats.org/drawingml/2006/main" noGrp="1"/>
          </p:cNvSpPr>
          <p:nvPr/>
        </p:nvSpPr>
        <p:spPr>
          <a:xfrm xmlns:a="http://schemas.openxmlformats.org/drawingml/2006/main">
            <a:off x="800100" y="2228850"/>
            <a:ext cx="108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B2F6B"/>
                </a:solidFill>
                <a:latin typeface="Aptos"/>
                <a:ea typeface="Aptos"/>
                <a:cs typeface="Aptos"/>
              </a:defRPr>
            </a:pPr>
            <a:r>
              <a:rPr sz="1800" b="1">
                <a:solidFill>
                  <a:srgbClr val="0B2F6B"/>
                </a:solidFill>
                <a:latin typeface="Aptos"/>
                <a:ea typeface="Aptos"/>
                <a:cs typeface="Aptos"/>
              </a:rPr>
              <a:t>Reduced</a:t>
            </a:r>
          </a:p>
        </p:txBody>
      </p:sp>
      <p:sp>
        <p:nvSpPr>
          <p:cNvPr id="10" name="">
            <a:extLst xmlns:a="http://schemas.openxmlformats.org/drawingml/2006/main">
              <a:ext uri="{FF2B5EF4-FFF2-40B4-BE49-F238E27FC236}">
                <a16:creationId xmlns:a16="http://schemas.microsoft.com/office/drawing/2014/main" id="{73A8DCC5-FAE0-4999-B675-944BB59AF3FF}"/>
              </a:ext>
            </a:extLst>
          </p:cNvPr>
          <p:cNvSpPr>
            <a:spLocks xmlns:a="http://schemas.openxmlformats.org/drawingml/2006/main" noGrp="1"/>
          </p:cNvSpPr>
          <p:nvPr/>
        </p:nvSpPr>
        <p:spPr>
          <a:xfrm xmlns:a="http://schemas.openxmlformats.org/drawingml/2006/main">
            <a:off x="800100" y="2552700"/>
            <a:ext cx="1085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B7280"/>
                </a:solidFill>
                <a:latin typeface="Aptos"/>
                <a:ea typeface="Aptos"/>
                <a:cs typeface="Aptos"/>
              </a:defRPr>
            </a:pPr>
            <a:r>
              <a:rPr sz="825" b="1">
                <a:solidFill>
                  <a:srgbClr val="6B7280"/>
                </a:solidFill>
                <a:latin typeface="Aptos"/>
                <a:ea typeface="Aptos"/>
                <a:cs typeface="Aptos"/>
              </a:rPr>
              <a:t>Paperwork</a:t>
            </a:r>
          </a:p>
        </p:txBody>
      </p:sp>
      <p:sp>
        <p:nvSpPr>
          <p:cNvPr id="11" name="">
            <a:extLst xmlns:a="http://schemas.openxmlformats.org/drawingml/2006/main">
              <a:ext uri="{FF2B5EF4-FFF2-40B4-BE49-F238E27FC236}">
                <a16:creationId xmlns:a16="http://schemas.microsoft.com/office/drawing/2014/main" id="{5E2A62AD-C591-4A77-B68C-A48D10FEFD1B}"/>
              </a:ext>
            </a:extLst>
          </p:cNvPr>
          <p:cNvSpPr>
            <a:spLocks xmlns:a="http://schemas.openxmlformats.org/drawingml/2006/main" noGrp="1"/>
          </p:cNvSpPr>
          <p:nvPr/>
        </p:nvSpPr>
        <p:spPr>
          <a:xfrm xmlns:a="http://schemas.openxmlformats.org/drawingml/2006/main">
            <a:off x="2190750" y="2076450"/>
            <a:ext cx="1352550" cy="838200"/>
          </a:xfrm>
          <a:prstGeom xmlns:a="http://schemas.openxmlformats.org/drawingml/2006/main" prst="rect">
            <a:avLst/>
          </a:prstGeom>
          <a:solidFill xmlns:a="http://schemas.openxmlformats.org/drawingml/2006/main">
            <a:srgbClr val="F5F7FB"/>
          </a:solidFill>
          <a:ln xmlns:a="http://schemas.openxmlformats.org/drawingml/2006/main" w="9525">
            <a:solidFill>
              <a:srgbClr val="D9E2F1"/>
            </a:solidFill>
          </a:ln>
        </p:spPr>
      </p:sp>
      <p:sp>
        <p:nvSpPr>
          <p:cNvPr id="12" name="">
            <a:extLst xmlns:a="http://schemas.openxmlformats.org/drawingml/2006/main">
              <a:ext uri="{FF2B5EF4-FFF2-40B4-BE49-F238E27FC236}">
                <a16:creationId xmlns:a16="http://schemas.microsoft.com/office/drawing/2014/main" id="{DD6DB2EA-D453-4E71-A6D1-AA805A339B6B}"/>
              </a:ext>
            </a:extLst>
          </p:cNvPr>
          <p:cNvSpPr>
            <a:spLocks xmlns:a="http://schemas.openxmlformats.org/drawingml/2006/main" noGrp="1"/>
          </p:cNvSpPr>
          <p:nvPr/>
        </p:nvSpPr>
        <p:spPr>
          <a:xfrm xmlns:a="http://schemas.openxmlformats.org/drawingml/2006/main">
            <a:off x="2324100" y="2228850"/>
            <a:ext cx="108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B2F6B"/>
                </a:solidFill>
                <a:latin typeface="Aptos"/>
                <a:ea typeface="Aptos"/>
                <a:cs typeface="Aptos"/>
              </a:defRPr>
            </a:pPr>
            <a:r>
              <a:rPr sz="1800" b="1">
                <a:solidFill>
                  <a:srgbClr val="0B2F6B"/>
                </a:solidFill>
                <a:latin typeface="Aptos"/>
                <a:ea typeface="Aptos"/>
                <a:cs typeface="Aptos"/>
              </a:rPr>
              <a:t>Faster</a:t>
            </a:r>
          </a:p>
        </p:txBody>
      </p:sp>
      <p:sp>
        <p:nvSpPr>
          <p:cNvPr id="13" name="">
            <a:extLst xmlns:a="http://schemas.openxmlformats.org/drawingml/2006/main">
              <a:ext uri="{FF2B5EF4-FFF2-40B4-BE49-F238E27FC236}">
                <a16:creationId xmlns:a16="http://schemas.microsoft.com/office/drawing/2014/main" id="{0CD72055-CE86-4922-9651-37912E10D09B}"/>
              </a:ext>
            </a:extLst>
          </p:cNvPr>
          <p:cNvSpPr>
            <a:spLocks xmlns:a="http://schemas.openxmlformats.org/drawingml/2006/main" noGrp="1"/>
          </p:cNvSpPr>
          <p:nvPr/>
        </p:nvSpPr>
        <p:spPr>
          <a:xfrm xmlns:a="http://schemas.openxmlformats.org/drawingml/2006/main">
            <a:off x="2324100" y="2552700"/>
            <a:ext cx="1085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B7280"/>
                </a:solidFill>
                <a:latin typeface="Aptos"/>
                <a:ea typeface="Aptos"/>
                <a:cs typeface="Aptos"/>
              </a:defRPr>
            </a:pPr>
            <a:r>
              <a:rPr sz="825" b="1">
                <a:solidFill>
                  <a:srgbClr val="6B7280"/>
                </a:solidFill>
                <a:latin typeface="Aptos"/>
                <a:ea typeface="Aptos"/>
                <a:cs typeface="Aptos"/>
              </a:rPr>
              <a:t>Decisions</a:t>
            </a:r>
          </a:p>
        </p:txBody>
      </p:sp>
      <p:sp>
        <p:nvSpPr>
          <p:cNvPr id="14" name="">
            <a:extLst xmlns:a="http://schemas.openxmlformats.org/drawingml/2006/main">
              <a:ext uri="{FF2B5EF4-FFF2-40B4-BE49-F238E27FC236}">
                <a16:creationId xmlns:a16="http://schemas.microsoft.com/office/drawing/2014/main" id="{9012D871-C218-476E-98E9-A08273DA1BA7}"/>
              </a:ext>
            </a:extLst>
          </p:cNvPr>
          <p:cNvSpPr>
            <a:spLocks xmlns:a="http://schemas.openxmlformats.org/drawingml/2006/main" noGrp="1"/>
          </p:cNvSpPr>
          <p:nvPr/>
        </p:nvSpPr>
        <p:spPr>
          <a:xfrm xmlns:a="http://schemas.openxmlformats.org/drawingml/2006/main">
            <a:off x="3714750" y="2076450"/>
            <a:ext cx="1352550" cy="838200"/>
          </a:xfrm>
          <a:prstGeom xmlns:a="http://schemas.openxmlformats.org/drawingml/2006/main" prst="rect">
            <a:avLst/>
          </a:prstGeom>
          <a:solidFill xmlns:a="http://schemas.openxmlformats.org/drawingml/2006/main">
            <a:srgbClr val="F5F7FB"/>
          </a:solidFill>
          <a:ln xmlns:a="http://schemas.openxmlformats.org/drawingml/2006/main" w="9525">
            <a:solidFill>
              <a:srgbClr val="D9E2F1"/>
            </a:solidFill>
          </a:ln>
        </p:spPr>
      </p:sp>
      <p:sp>
        <p:nvSpPr>
          <p:cNvPr id="15" name="">
            <a:extLst xmlns:a="http://schemas.openxmlformats.org/drawingml/2006/main">
              <a:ext uri="{FF2B5EF4-FFF2-40B4-BE49-F238E27FC236}">
                <a16:creationId xmlns:a16="http://schemas.microsoft.com/office/drawing/2014/main" id="{9B3BD38B-55D4-4723-8E53-FBF6C2B891A8}"/>
              </a:ext>
            </a:extLst>
          </p:cNvPr>
          <p:cNvSpPr>
            <a:spLocks xmlns:a="http://schemas.openxmlformats.org/drawingml/2006/main" noGrp="1"/>
          </p:cNvSpPr>
          <p:nvPr/>
        </p:nvSpPr>
        <p:spPr>
          <a:xfrm xmlns:a="http://schemas.openxmlformats.org/drawingml/2006/main">
            <a:off x="3848100" y="2228850"/>
            <a:ext cx="108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B2F6B"/>
                </a:solidFill>
                <a:latin typeface="Aptos"/>
                <a:ea typeface="Aptos"/>
                <a:cs typeface="Aptos"/>
              </a:defRPr>
            </a:pPr>
            <a:r>
              <a:rPr sz="1800" b="1">
                <a:solidFill>
                  <a:srgbClr val="0B2F6B"/>
                </a:solidFill>
                <a:latin typeface="Aptos"/>
                <a:ea typeface="Aptos"/>
                <a:cs typeface="Aptos"/>
              </a:rPr>
              <a:t>Centralized</a:t>
            </a:r>
          </a:p>
        </p:txBody>
      </p:sp>
      <p:sp>
        <p:nvSpPr>
          <p:cNvPr id="16" name="">
            <a:extLst xmlns:a="http://schemas.openxmlformats.org/drawingml/2006/main">
              <a:ext uri="{FF2B5EF4-FFF2-40B4-BE49-F238E27FC236}">
                <a16:creationId xmlns:a16="http://schemas.microsoft.com/office/drawing/2014/main" id="{2624DCA8-B6EF-4520-8402-F02EC6345B30}"/>
              </a:ext>
            </a:extLst>
          </p:cNvPr>
          <p:cNvSpPr>
            <a:spLocks xmlns:a="http://schemas.openxmlformats.org/drawingml/2006/main" noGrp="1"/>
          </p:cNvSpPr>
          <p:nvPr/>
        </p:nvSpPr>
        <p:spPr>
          <a:xfrm xmlns:a="http://schemas.openxmlformats.org/drawingml/2006/main">
            <a:off x="3848100" y="2552700"/>
            <a:ext cx="1085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B7280"/>
                </a:solidFill>
                <a:latin typeface="Aptos"/>
                <a:ea typeface="Aptos"/>
                <a:cs typeface="Aptos"/>
              </a:defRPr>
            </a:pPr>
            <a:r>
              <a:rPr sz="825" b="1">
                <a:solidFill>
                  <a:srgbClr val="6B7280"/>
                </a:solidFill>
                <a:latin typeface="Aptos"/>
                <a:ea typeface="Aptos"/>
                <a:cs typeface="Aptos"/>
              </a:rPr>
              <a:t>Records</a:t>
            </a:r>
          </a:p>
        </p:txBody>
      </p:sp>
      <p:sp>
        <p:nvSpPr>
          <p:cNvPr id="17" name="">
            <a:extLst xmlns:a="http://schemas.openxmlformats.org/drawingml/2006/main">
              <a:ext uri="{FF2B5EF4-FFF2-40B4-BE49-F238E27FC236}">
                <a16:creationId xmlns:a16="http://schemas.microsoft.com/office/drawing/2014/main" id="{4CA80824-DC91-4666-BE80-07B89BAAEA86}"/>
              </a:ext>
            </a:extLst>
          </p:cNvPr>
          <p:cNvSpPr>
            <a:spLocks xmlns:a="http://schemas.openxmlformats.org/drawingml/2006/main" noGrp="1"/>
          </p:cNvSpPr>
          <p:nvPr/>
        </p:nvSpPr>
        <p:spPr>
          <a:xfrm xmlns:a="http://schemas.openxmlformats.org/drawingml/2006/main">
            <a:off x="5238750" y="2076450"/>
            <a:ext cx="1352550" cy="838200"/>
          </a:xfrm>
          <a:prstGeom xmlns:a="http://schemas.openxmlformats.org/drawingml/2006/main" prst="rect">
            <a:avLst/>
          </a:prstGeom>
          <a:solidFill xmlns:a="http://schemas.openxmlformats.org/drawingml/2006/main">
            <a:srgbClr val="F5F7FB"/>
          </a:solidFill>
          <a:ln xmlns:a="http://schemas.openxmlformats.org/drawingml/2006/main" w="9525">
            <a:solidFill>
              <a:srgbClr val="D9E2F1"/>
            </a:solidFill>
          </a:ln>
        </p:spPr>
      </p:sp>
      <p:sp>
        <p:nvSpPr>
          <p:cNvPr id="18" name="">
            <a:extLst xmlns:a="http://schemas.openxmlformats.org/drawingml/2006/main">
              <a:ext uri="{FF2B5EF4-FFF2-40B4-BE49-F238E27FC236}">
                <a16:creationId xmlns:a16="http://schemas.microsoft.com/office/drawing/2014/main" id="{2553D2CD-1D58-4D5B-9312-EF5C2F3B5B5B}"/>
              </a:ext>
            </a:extLst>
          </p:cNvPr>
          <p:cNvSpPr>
            <a:spLocks xmlns:a="http://schemas.openxmlformats.org/drawingml/2006/main" noGrp="1"/>
          </p:cNvSpPr>
          <p:nvPr/>
        </p:nvSpPr>
        <p:spPr>
          <a:xfrm xmlns:a="http://schemas.openxmlformats.org/drawingml/2006/main">
            <a:off x="5372100" y="2228850"/>
            <a:ext cx="1085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B2F6B"/>
                </a:solidFill>
                <a:latin typeface="Aptos"/>
                <a:ea typeface="Aptos"/>
                <a:cs typeface="Aptos"/>
              </a:defRPr>
            </a:pPr>
            <a:r>
              <a:rPr sz="1800" b="1">
                <a:solidFill>
                  <a:srgbClr val="0B2F6B"/>
                </a:solidFill>
                <a:latin typeface="Aptos"/>
                <a:ea typeface="Aptos"/>
                <a:cs typeface="Aptos"/>
              </a:rPr>
              <a:t>Improved</a:t>
            </a:r>
          </a:p>
        </p:txBody>
      </p:sp>
      <p:sp>
        <p:nvSpPr>
          <p:cNvPr id="19" name="">
            <a:extLst xmlns:a="http://schemas.openxmlformats.org/drawingml/2006/main">
              <a:ext uri="{FF2B5EF4-FFF2-40B4-BE49-F238E27FC236}">
                <a16:creationId xmlns:a16="http://schemas.microsoft.com/office/drawing/2014/main" id="{407702D1-0EDE-4D7B-B0E1-49B44D1908F7}"/>
              </a:ext>
            </a:extLst>
          </p:cNvPr>
          <p:cNvSpPr>
            <a:spLocks xmlns:a="http://schemas.openxmlformats.org/drawingml/2006/main" noGrp="1"/>
          </p:cNvSpPr>
          <p:nvPr/>
        </p:nvSpPr>
        <p:spPr>
          <a:xfrm xmlns:a="http://schemas.openxmlformats.org/drawingml/2006/main">
            <a:off x="5372100" y="2552700"/>
            <a:ext cx="1085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6B7280"/>
                </a:solidFill>
                <a:latin typeface="Aptos"/>
                <a:ea typeface="Aptos"/>
                <a:cs typeface="Aptos"/>
              </a:defRPr>
            </a:pPr>
            <a:r>
              <a:rPr sz="825" b="1">
                <a:solidFill>
                  <a:srgbClr val="6B7280"/>
                </a:solidFill>
                <a:latin typeface="Aptos"/>
                <a:ea typeface="Aptos"/>
                <a:cs typeface="Aptos"/>
              </a:rPr>
              <a:t>Visibility</a:t>
            </a:r>
          </a:p>
        </p:txBody>
      </p:sp>
      <p:sp>
        <p:nvSpPr>
          <p:cNvPr id="20" name="">
            <a:extLst xmlns:a="http://schemas.openxmlformats.org/drawingml/2006/main">
              <a:ext uri="{FF2B5EF4-FFF2-40B4-BE49-F238E27FC236}">
                <a16:creationId xmlns:a16="http://schemas.microsoft.com/office/drawing/2014/main" id="{B95F818D-19C5-463B-8517-204CED424E96}"/>
              </a:ext>
            </a:extLst>
          </p:cNvPr>
          <p:cNvSpPr>
            <a:spLocks xmlns:a="http://schemas.openxmlformats.org/drawingml/2006/main" noGrp="1"/>
          </p:cNvSpPr>
          <p:nvPr/>
        </p:nvSpPr>
        <p:spPr>
          <a:xfrm xmlns:a="http://schemas.openxmlformats.org/drawingml/2006/main">
            <a:off x="666750" y="3257550"/>
            <a:ext cx="5715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Less paperwork and manual reconciliation</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Fewer queues and student complaints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Reduced registrar workload</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Faster registration decisions</a:t>
            </a:r>
          </a:p>
          <a:p xmlns:a="http://schemas.openxmlformats.org/drawingml/2006/main">
            <a:pPr algn="l">
              <a:defRPr sz="1350" b="0">
                <a:solidFill>
                  <a:srgbClr val="172033"/>
                </a:solidFill>
                <a:latin typeface="Aptos"/>
                <a:ea typeface="Aptos"/>
                <a:cs typeface="Aptos"/>
              </a:defRPr>
            </a:pPr>
            <a:r>
              <a:rPr sz="1350" b="0">
                <a:solidFill>
                  <a:srgbClr val="172033"/>
                </a:solidFill>
                <a:latin typeface="Aptos"/>
                <a:ea typeface="Aptos"/>
                <a:cs typeface="Aptos"/>
              </a:rPr>
              <a:t>• Centralized records and better reporting foundation</a:t>
            </a:r>
          </a:p>
        </p:txBody>
      </p:sp>
      <p:sp>
        <p:nvSpPr>
          <p:cNvPr id="21" name="">
            <a:extLst xmlns:a="http://schemas.openxmlformats.org/drawingml/2006/main">
              <a:ext uri="{FF2B5EF4-FFF2-40B4-BE49-F238E27FC236}">
                <a16:creationId xmlns:a16="http://schemas.microsoft.com/office/drawing/2014/main" id="{F902A662-DDE0-4048-93DF-B506500235A4}"/>
              </a:ext>
            </a:extLst>
          </p:cNvPr>
          <p:cNvSpPr>
            <a:spLocks xmlns:a="http://schemas.openxmlformats.org/drawingml/2006/main" noGrp="1"/>
          </p:cNvSpPr>
          <p:nvPr/>
        </p:nvSpPr>
        <p:spPr>
          <a:xfrm xmlns:a="http://schemas.openxmlformats.org/drawingml/2006/main">
            <a:off x="7067550" y="1047750"/>
            <a:ext cx="4343400" cy="41148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22" name="">
            <a:extLst xmlns:a="http://schemas.openxmlformats.org/drawingml/2006/main">
              <a:ext uri="{FF2B5EF4-FFF2-40B4-BE49-F238E27FC236}">
                <a16:creationId xmlns:a16="http://schemas.microsoft.com/office/drawing/2014/main" id="{7A6F5D48-9B9F-4875-A366-251EAC9FC9B2}"/>
              </a:ext>
            </a:extLst>
          </p:cNvPr>
          <p:cNvSpPr>
            <a:spLocks xmlns:a="http://schemas.openxmlformats.org/drawingml/2006/main" noGrp="1"/>
          </p:cNvSpPr>
          <p:nvPr/>
        </p:nvSpPr>
        <p:spPr>
          <a:xfrm xmlns:a="http://schemas.openxmlformats.org/drawingml/2006/main">
            <a:off x="7067550" y="104775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70A79B1-3F22-4108-8040-7D4E04305795}"/>
              </a:ext>
            </a:extLst>
          </p:cNvPr>
          <p:cNvSpPr>
            <a:spLocks xmlns:a="http://schemas.openxmlformats.org/drawingml/2006/main" noGrp="1"/>
          </p:cNvSpPr>
          <p:nvPr/>
        </p:nvSpPr>
        <p:spPr>
          <a:xfrm xmlns:a="http://schemas.openxmlformats.org/drawingml/2006/main">
            <a:off x="7296150" y="1390650"/>
            <a:ext cx="3886200" cy="32385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24" name="">
            <a:extLst xmlns:a="http://schemas.openxmlformats.org/drawingml/2006/main">
              <a:ext uri="{FF2B5EF4-FFF2-40B4-BE49-F238E27FC236}">
                <a16:creationId xmlns:a16="http://schemas.microsoft.com/office/drawing/2014/main" id="{27F27B25-7AC0-4D2A-AE90-07EC901DE910}"/>
              </a:ext>
            </a:extLst>
          </p:cNvPr>
          <p:cNvSpPr>
            <a:spLocks xmlns:a="http://schemas.openxmlformats.org/drawingml/2006/main" noGrp="1"/>
          </p:cNvSpPr>
          <p:nvPr/>
        </p:nvSpPr>
        <p:spPr>
          <a:xfrm xmlns:a="http://schemas.openxmlformats.org/drawingml/2006/main">
            <a:off x="7410450" y="472440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[ROI Summary Visual]</a:t>
            </a:r>
          </a:p>
        </p:txBody>
      </p:sp>
      <p:sp>
        <p:nvSpPr>
          <p:cNvPr id="25" name="">
            <a:extLst xmlns:a="http://schemas.openxmlformats.org/drawingml/2006/main">
              <a:ext uri="{FF2B5EF4-FFF2-40B4-BE49-F238E27FC236}">
                <a16:creationId xmlns:a16="http://schemas.microsoft.com/office/drawing/2014/main" id="{F506F6F6-C5C7-48D5-A13A-37327475B4BE}"/>
              </a:ext>
            </a:extLst>
          </p:cNvPr>
          <p:cNvSpPr>
            <a:spLocks xmlns:a="http://schemas.openxmlformats.org/drawingml/2006/main" noGrp="1"/>
          </p:cNvSpPr>
          <p:nvPr/>
        </p:nvSpPr>
        <p:spPr>
          <a:xfrm xmlns:a="http://schemas.openxmlformats.org/drawingml/2006/main">
            <a:off x="7448550" y="300990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26" name="">
            <a:extLst xmlns:a="http://schemas.openxmlformats.org/drawingml/2006/main">
              <a:ext uri="{FF2B5EF4-FFF2-40B4-BE49-F238E27FC236}">
                <a16:creationId xmlns:a16="http://schemas.microsoft.com/office/drawing/2014/main" id="{8536C2FD-82DB-4E3F-B279-4330596E8CDF}"/>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16</a:t>
            </a:r>
          </a:p>
        </p:txBody>
      </p:sp>
    </p:spTree>
    <p:extLst>
      <p:ext uri="{BB962C8B-B14F-4D97-AF65-F5344CB8AC3E}">
        <p14:creationId xmlns:p14="http://schemas.microsoft.com/office/powerpoint/2010/main" val="111998619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96725C-E1AB-4C5A-84C7-88771C34D70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BF5C7CD-7A05-4036-930A-7AD4CBB53C3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425064b0ad4e429a"/>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C79BD2B-B2E0-412F-81E8-F7283B7515EB}"/>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B2F6B"/>
                </a:solidFill>
                <a:latin typeface="Aptos Display"/>
                <a:ea typeface="Aptos Display"/>
                <a:cs typeface="Aptos Display"/>
              </a:defRPr>
            </a:pPr>
            <a:r>
              <a:rPr sz="1725" b="1">
                <a:solidFill>
                  <a:srgbClr val="0B2F6B"/>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EFA7A445-115D-4078-AD23-F1D660743F06}"/>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6B7280"/>
                </a:solidFill>
                <a:latin typeface="Aptos"/>
                <a:ea typeface="Aptos"/>
                <a:cs typeface="Aptos"/>
              </a:defRPr>
            </a:pPr>
            <a:r>
              <a:rPr sz="675" b="1">
                <a:solidFill>
                  <a:srgbClr val="6B7280"/>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EFB7961F-0DE7-4992-BC74-CB9CF435E1D9}"/>
              </a:ext>
            </a:extLst>
          </p:cNvPr>
          <p:cNvSpPr>
            <a:spLocks xmlns:a="http://schemas.openxmlformats.org/drawingml/2006/main" noGrp="1"/>
          </p:cNvSpPr>
          <p:nvPr/>
        </p:nvSpPr>
        <p:spPr>
          <a:xfrm xmlns:a="http://schemas.openxmlformats.org/drawingml/2006/main">
            <a:off x="609600" y="876300"/>
            <a:ext cx="590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71F49"/>
                </a:solidFill>
                <a:latin typeface="Aptos Display"/>
                <a:ea typeface="Aptos Display"/>
                <a:cs typeface="Aptos Display"/>
              </a:defRPr>
            </a:pPr>
            <a:r>
              <a:rPr sz="2250" b="1">
                <a:solidFill>
                  <a:srgbClr val="071F49"/>
                </a:solidFill>
                <a:latin typeface="Aptos Display"/>
                <a:ea typeface="Aptos Display"/>
                <a:cs typeface="Aptos Display"/>
              </a:rPr>
              <a:t>Implementation strategy</a:t>
            </a:r>
          </a:p>
        </p:txBody>
      </p:sp>
      <p:sp>
        <p:nvSpPr>
          <p:cNvPr id="7" name="">
            <a:extLst xmlns:a="http://schemas.openxmlformats.org/drawingml/2006/main">
              <a:ext uri="{FF2B5EF4-FFF2-40B4-BE49-F238E27FC236}">
                <a16:creationId xmlns:a16="http://schemas.microsoft.com/office/drawing/2014/main" id="{D7C644F2-51C7-4D76-85A6-C81987623AD6}"/>
              </a:ext>
            </a:extLst>
          </p:cNvPr>
          <p:cNvSpPr>
            <a:spLocks xmlns:a="http://schemas.openxmlformats.org/drawingml/2006/main" noGrp="1"/>
          </p:cNvSpPr>
          <p:nvPr/>
        </p:nvSpPr>
        <p:spPr>
          <a:xfrm xmlns:a="http://schemas.openxmlformats.org/drawingml/2006/main">
            <a:off x="628650" y="1352550"/>
            <a:ext cx="5810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B7280"/>
                </a:solidFill>
                <a:latin typeface="Aptos"/>
                <a:ea typeface="Aptos"/>
                <a:cs typeface="Aptos"/>
              </a:defRPr>
            </a:pPr>
            <a:r>
              <a:rPr sz="1050" b="0">
                <a:solidFill>
                  <a:srgbClr val="6B7280"/>
                </a:solidFill>
                <a:latin typeface="Aptos"/>
                <a:ea typeface="Aptos"/>
                <a:cs typeface="Aptos"/>
              </a:rPr>
              <a:t>Low-risk phased rollout with honest MVP positioning</a:t>
            </a:r>
          </a:p>
        </p:txBody>
      </p:sp>
      <p:sp>
        <p:nvSpPr>
          <p:cNvPr id="8" name="">
            <a:extLst xmlns:a="http://schemas.openxmlformats.org/drawingml/2006/main">
              <a:ext uri="{FF2B5EF4-FFF2-40B4-BE49-F238E27FC236}">
                <a16:creationId xmlns:a16="http://schemas.microsoft.com/office/drawing/2014/main" id="{9ED18DF9-2FC3-4B33-B78B-BA2C9825BA79}"/>
              </a:ext>
            </a:extLst>
          </p:cNvPr>
          <p:cNvSpPr>
            <a:spLocks xmlns:a="http://schemas.openxmlformats.org/drawingml/2006/main" noGrp="1"/>
          </p:cNvSpPr>
          <p:nvPr/>
        </p:nvSpPr>
        <p:spPr>
          <a:xfrm xmlns:a="http://schemas.openxmlformats.org/drawingml/2006/main">
            <a:off x="666750" y="2171700"/>
            <a:ext cx="1809750" cy="1695450"/>
          </a:xfrm>
          <a:prstGeom xmlns:a="http://schemas.openxmlformats.org/drawingml/2006/main" prst="rect">
            <a:avLst/>
          </a:prstGeom>
          <a:solidFill xmlns:a="http://schemas.openxmlformats.org/drawingml/2006/main">
            <a:srgbClr val="FFF7DF"/>
          </a:solidFill>
          <a:ln xmlns:a="http://schemas.openxmlformats.org/drawingml/2006/main" w="9525">
            <a:solidFill>
              <a:srgbClr val="D4AF37"/>
            </a:solidFill>
          </a:ln>
        </p:spPr>
      </p:sp>
      <p:sp>
        <p:nvSpPr>
          <p:cNvPr id="9" name="">
            <a:extLst xmlns:a="http://schemas.openxmlformats.org/drawingml/2006/main">
              <a:ext uri="{FF2B5EF4-FFF2-40B4-BE49-F238E27FC236}">
                <a16:creationId xmlns:a16="http://schemas.microsoft.com/office/drawing/2014/main" id="{1F922C8D-5859-4762-8817-56A1E033E161}"/>
              </a:ext>
            </a:extLst>
          </p:cNvPr>
          <p:cNvSpPr>
            <a:spLocks xmlns:a="http://schemas.openxmlformats.org/drawingml/2006/main" noGrp="1"/>
          </p:cNvSpPr>
          <p:nvPr/>
        </p:nvSpPr>
        <p:spPr>
          <a:xfrm xmlns:a="http://schemas.openxmlformats.org/drawingml/2006/main">
            <a:off x="838200" y="23812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D4AF37"/>
                </a:solidFill>
                <a:latin typeface="Aptos"/>
                <a:ea typeface="Aptos"/>
                <a:cs typeface="Aptos"/>
              </a:defRPr>
            </a:pPr>
            <a:r>
              <a:rPr sz="825" b="1">
                <a:solidFill>
                  <a:srgbClr val="D4AF37"/>
                </a:solidFill>
                <a:latin typeface="Aptos"/>
                <a:ea typeface="Aptos"/>
                <a:cs typeface="Aptos"/>
              </a:rPr>
              <a:t>Phase 1</a:t>
            </a:r>
          </a:p>
        </p:txBody>
      </p:sp>
      <p:sp>
        <p:nvSpPr>
          <p:cNvPr id="10" name="">
            <a:extLst xmlns:a="http://schemas.openxmlformats.org/drawingml/2006/main">
              <a:ext uri="{FF2B5EF4-FFF2-40B4-BE49-F238E27FC236}">
                <a16:creationId xmlns:a16="http://schemas.microsoft.com/office/drawing/2014/main" id="{6CF87D67-DB9D-4FFB-B0C4-DF30D2D9FD95}"/>
              </a:ext>
            </a:extLst>
          </p:cNvPr>
          <p:cNvSpPr>
            <a:spLocks xmlns:a="http://schemas.openxmlformats.org/drawingml/2006/main" noGrp="1"/>
          </p:cNvSpPr>
          <p:nvPr/>
        </p:nvSpPr>
        <p:spPr>
          <a:xfrm xmlns:a="http://schemas.openxmlformats.org/drawingml/2006/main">
            <a:off x="838200" y="2647950"/>
            <a:ext cx="1428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B2F6B"/>
                </a:solidFill>
                <a:latin typeface="Aptos"/>
                <a:ea typeface="Aptos"/>
                <a:cs typeface="Aptos"/>
              </a:defRPr>
            </a:pPr>
            <a:r>
              <a:rPr sz="1425" b="1">
                <a:solidFill>
                  <a:srgbClr val="0B2F6B"/>
                </a:solidFill>
                <a:latin typeface="Aptos"/>
                <a:ea typeface="Aptos"/>
                <a:cs typeface="Aptos"/>
              </a:rPr>
              <a:t>Pilot</a:t>
            </a:r>
          </a:p>
        </p:txBody>
      </p:sp>
      <p:sp>
        <p:nvSpPr>
          <p:cNvPr id="11" name="">
            <a:extLst xmlns:a="http://schemas.openxmlformats.org/drawingml/2006/main">
              <a:ext uri="{FF2B5EF4-FFF2-40B4-BE49-F238E27FC236}">
                <a16:creationId xmlns:a16="http://schemas.microsoft.com/office/drawing/2014/main" id="{EAA68831-0493-43C7-9ADE-8331F67E880B}"/>
              </a:ext>
            </a:extLst>
          </p:cNvPr>
          <p:cNvSpPr>
            <a:spLocks xmlns:a="http://schemas.openxmlformats.org/drawingml/2006/main" noGrp="1"/>
          </p:cNvSpPr>
          <p:nvPr/>
        </p:nvSpPr>
        <p:spPr>
          <a:xfrm xmlns:a="http://schemas.openxmlformats.org/drawingml/2006/main">
            <a:off x="838200" y="3067050"/>
            <a:ext cx="1428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33"/>
                </a:solidFill>
                <a:latin typeface="Aptos"/>
                <a:ea typeface="Aptos"/>
                <a:cs typeface="Aptos"/>
              </a:defRPr>
            </a:pPr>
            <a:r>
              <a:rPr sz="975" b="0">
                <a:solidFill>
                  <a:srgbClr val="172033"/>
                </a:solidFill>
                <a:latin typeface="Aptos"/>
                <a:ea typeface="Aptos"/>
                <a:cs typeface="Aptos"/>
              </a:rPr>
              <a:t>One faculty, one session, real workflow</a:t>
            </a:r>
          </a:p>
        </p:txBody>
      </p:sp>
      <p:sp>
        <p:nvSpPr>
          <p:cNvPr id="12" name="">
            <a:extLst xmlns:a="http://schemas.openxmlformats.org/drawingml/2006/main">
              <a:ext uri="{FF2B5EF4-FFF2-40B4-BE49-F238E27FC236}">
                <a16:creationId xmlns:a16="http://schemas.microsoft.com/office/drawing/2014/main" id="{8F2AF8B0-D772-4676-9377-A86A9405B27A}"/>
              </a:ext>
            </a:extLst>
          </p:cNvPr>
          <p:cNvSpPr>
            <a:spLocks xmlns:a="http://schemas.openxmlformats.org/drawingml/2006/main" noGrp="1"/>
          </p:cNvSpPr>
          <p:nvPr/>
        </p:nvSpPr>
        <p:spPr>
          <a:xfrm xmlns:a="http://schemas.openxmlformats.org/drawingml/2006/main">
            <a:off x="2781300" y="2171700"/>
            <a:ext cx="1809750" cy="1695450"/>
          </a:xfrm>
          <a:prstGeom xmlns:a="http://schemas.openxmlformats.org/drawingml/2006/main" prst="rect">
            <a:avLst/>
          </a:prstGeom>
          <a:solidFill xmlns:a="http://schemas.openxmlformats.org/drawingml/2006/main">
            <a:srgbClr val="F8FAFC"/>
          </a:solidFill>
          <a:ln xmlns:a="http://schemas.openxmlformats.org/drawingml/2006/main" w="9525">
            <a:solidFill>
              <a:srgbClr val="D9E2F1"/>
            </a:solidFill>
          </a:ln>
        </p:spPr>
      </p:sp>
      <p:sp>
        <p:nvSpPr>
          <p:cNvPr id="13" name="">
            <a:extLst xmlns:a="http://schemas.openxmlformats.org/drawingml/2006/main">
              <a:ext uri="{FF2B5EF4-FFF2-40B4-BE49-F238E27FC236}">
                <a16:creationId xmlns:a16="http://schemas.microsoft.com/office/drawing/2014/main" id="{DBBB2E8E-30F9-41DD-B994-E615BD40441C}"/>
              </a:ext>
            </a:extLst>
          </p:cNvPr>
          <p:cNvSpPr>
            <a:spLocks xmlns:a="http://schemas.openxmlformats.org/drawingml/2006/main" noGrp="1"/>
          </p:cNvSpPr>
          <p:nvPr/>
        </p:nvSpPr>
        <p:spPr>
          <a:xfrm xmlns:a="http://schemas.openxmlformats.org/drawingml/2006/main">
            <a:off x="2952750" y="23812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D4AF37"/>
                </a:solidFill>
                <a:latin typeface="Aptos"/>
                <a:ea typeface="Aptos"/>
                <a:cs typeface="Aptos"/>
              </a:defRPr>
            </a:pPr>
            <a:r>
              <a:rPr sz="825" b="1">
                <a:solidFill>
                  <a:srgbClr val="D4AF37"/>
                </a:solidFill>
                <a:latin typeface="Aptos"/>
                <a:ea typeface="Aptos"/>
                <a:cs typeface="Aptos"/>
              </a:rPr>
              <a:t>Phase 2</a:t>
            </a:r>
          </a:p>
        </p:txBody>
      </p:sp>
      <p:sp>
        <p:nvSpPr>
          <p:cNvPr id="14" name="">
            <a:extLst xmlns:a="http://schemas.openxmlformats.org/drawingml/2006/main">
              <a:ext uri="{FF2B5EF4-FFF2-40B4-BE49-F238E27FC236}">
                <a16:creationId xmlns:a16="http://schemas.microsoft.com/office/drawing/2014/main" id="{F3085722-2E4D-444E-84ED-601D9505CD72}"/>
              </a:ext>
            </a:extLst>
          </p:cNvPr>
          <p:cNvSpPr>
            <a:spLocks xmlns:a="http://schemas.openxmlformats.org/drawingml/2006/main" noGrp="1"/>
          </p:cNvSpPr>
          <p:nvPr/>
        </p:nvSpPr>
        <p:spPr>
          <a:xfrm xmlns:a="http://schemas.openxmlformats.org/drawingml/2006/main">
            <a:off x="2952750" y="2647950"/>
            <a:ext cx="1428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B2F6B"/>
                </a:solidFill>
                <a:latin typeface="Aptos"/>
                <a:ea typeface="Aptos"/>
                <a:cs typeface="Aptos"/>
              </a:defRPr>
            </a:pPr>
            <a:r>
              <a:rPr sz="1425" b="1">
                <a:solidFill>
                  <a:srgbClr val="0B2F6B"/>
                </a:solidFill>
                <a:latin typeface="Aptos"/>
                <a:ea typeface="Aptos"/>
                <a:cs typeface="Aptos"/>
              </a:rPr>
              <a:t>Faculty rollout</a:t>
            </a:r>
          </a:p>
        </p:txBody>
      </p:sp>
      <p:sp>
        <p:nvSpPr>
          <p:cNvPr id="15" name="">
            <a:extLst xmlns:a="http://schemas.openxmlformats.org/drawingml/2006/main">
              <a:ext uri="{FF2B5EF4-FFF2-40B4-BE49-F238E27FC236}">
                <a16:creationId xmlns:a16="http://schemas.microsoft.com/office/drawing/2014/main" id="{7B91F012-5889-403F-86E6-7FBC5A273A24}"/>
              </a:ext>
            </a:extLst>
          </p:cNvPr>
          <p:cNvSpPr>
            <a:spLocks xmlns:a="http://schemas.openxmlformats.org/drawingml/2006/main" noGrp="1"/>
          </p:cNvSpPr>
          <p:nvPr/>
        </p:nvSpPr>
        <p:spPr>
          <a:xfrm xmlns:a="http://schemas.openxmlformats.org/drawingml/2006/main">
            <a:off x="2952750" y="3067050"/>
            <a:ext cx="1428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33"/>
                </a:solidFill>
                <a:latin typeface="Aptos"/>
                <a:ea typeface="Aptos"/>
                <a:cs typeface="Aptos"/>
              </a:defRPr>
            </a:pPr>
            <a:r>
              <a:rPr sz="975" b="0">
                <a:solidFill>
                  <a:srgbClr val="172033"/>
                </a:solidFill>
                <a:latin typeface="Aptos"/>
                <a:ea typeface="Aptos"/>
                <a:cs typeface="Aptos"/>
              </a:rPr>
              <a:t>Reports, exports, imports, training</a:t>
            </a:r>
          </a:p>
        </p:txBody>
      </p:sp>
      <p:sp>
        <p:nvSpPr>
          <p:cNvPr id="16" name="">
            <a:extLst xmlns:a="http://schemas.openxmlformats.org/drawingml/2006/main">
              <a:ext uri="{FF2B5EF4-FFF2-40B4-BE49-F238E27FC236}">
                <a16:creationId xmlns:a16="http://schemas.microsoft.com/office/drawing/2014/main" id="{5E3B0A7F-202D-40BB-87E8-53D20DB63FF0}"/>
              </a:ext>
            </a:extLst>
          </p:cNvPr>
          <p:cNvSpPr>
            <a:spLocks xmlns:a="http://schemas.openxmlformats.org/drawingml/2006/main" noGrp="1"/>
          </p:cNvSpPr>
          <p:nvPr/>
        </p:nvSpPr>
        <p:spPr>
          <a:xfrm xmlns:a="http://schemas.openxmlformats.org/drawingml/2006/main">
            <a:off x="4895850" y="2171700"/>
            <a:ext cx="1809750" cy="1695450"/>
          </a:xfrm>
          <a:prstGeom xmlns:a="http://schemas.openxmlformats.org/drawingml/2006/main" prst="rect">
            <a:avLst/>
          </a:prstGeom>
          <a:solidFill xmlns:a="http://schemas.openxmlformats.org/drawingml/2006/main">
            <a:srgbClr val="F8FAFC"/>
          </a:solidFill>
          <a:ln xmlns:a="http://schemas.openxmlformats.org/drawingml/2006/main" w="9525">
            <a:solidFill>
              <a:srgbClr val="D9E2F1"/>
            </a:solidFill>
          </a:ln>
        </p:spPr>
      </p:sp>
      <p:sp>
        <p:nvSpPr>
          <p:cNvPr id="17" name="">
            <a:extLst xmlns:a="http://schemas.openxmlformats.org/drawingml/2006/main">
              <a:ext uri="{FF2B5EF4-FFF2-40B4-BE49-F238E27FC236}">
                <a16:creationId xmlns:a16="http://schemas.microsoft.com/office/drawing/2014/main" id="{36C9FFAD-E609-4B86-86CE-0895FE31A5BC}"/>
              </a:ext>
            </a:extLst>
          </p:cNvPr>
          <p:cNvSpPr>
            <a:spLocks xmlns:a="http://schemas.openxmlformats.org/drawingml/2006/main" noGrp="1"/>
          </p:cNvSpPr>
          <p:nvPr/>
        </p:nvSpPr>
        <p:spPr>
          <a:xfrm xmlns:a="http://schemas.openxmlformats.org/drawingml/2006/main">
            <a:off x="5067300" y="23812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D4AF37"/>
                </a:solidFill>
                <a:latin typeface="Aptos"/>
                <a:ea typeface="Aptos"/>
                <a:cs typeface="Aptos"/>
              </a:defRPr>
            </a:pPr>
            <a:r>
              <a:rPr sz="825" b="1">
                <a:solidFill>
                  <a:srgbClr val="D4AF37"/>
                </a:solidFill>
                <a:latin typeface="Aptos"/>
                <a:ea typeface="Aptos"/>
                <a:cs typeface="Aptos"/>
              </a:rPr>
              <a:t>Phase 3</a:t>
            </a:r>
          </a:p>
        </p:txBody>
      </p:sp>
      <p:sp>
        <p:nvSpPr>
          <p:cNvPr id="18" name="">
            <a:extLst xmlns:a="http://schemas.openxmlformats.org/drawingml/2006/main">
              <a:ext uri="{FF2B5EF4-FFF2-40B4-BE49-F238E27FC236}">
                <a16:creationId xmlns:a16="http://schemas.microsoft.com/office/drawing/2014/main" id="{3E023521-2083-4A4D-A322-69AB65042903}"/>
              </a:ext>
            </a:extLst>
          </p:cNvPr>
          <p:cNvSpPr>
            <a:spLocks xmlns:a="http://schemas.openxmlformats.org/drawingml/2006/main" noGrp="1"/>
          </p:cNvSpPr>
          <p:nvPr/>
        </p:nvSpPr>
        <p:spPr>
          <a:xfrm xmlns:a="http://schemas.openxmlformats.org/drawingml/2006/main">
            <a:off x="5067300" y="2647950"/>
            <a:ext cx="1428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B2F6B"/>
                </a:solidFill>
                <a:latin typeface="Aptos"/>
                <a:ea typeface="Aptos"/>
                <a:cs typeface="Aptos"/>
              </a:defRPr>
            </a:pPr>
            <a:r>
              <a:rPr sz="1425" b="1">
                <a:solidFill>
                  <a:srgbClr val="0B2F6B"/>
                </a:solidFill>
                <a:latin typeface="Aptos"/>
                <a:ea typeface="Aptos"/>
                <a:cs typeface="Aptos"/>
              </a:rPr>
              <a:t>Institution-wide</a:t>
            </a:r>
          </a:p>
        </p:txBody>
      </p:sp>
      <p:sp>
        <p:nvSpPr>
          <p:cNvPr id="19" name="">
            <a:extLst xmlns:a="http://schemas.openxmlformats.org/drawingml/2006/main">
              <a:ext uri="{FF2B5EF4-FFF2-40B4-BE49-F238E27FC236}">
                <a16:creationId xmlns:a16="http://schemas.microsoft.com/office/drawing/2014/main" id="{BF07D5AC-BD20-4B7A-8F4B-9E85F1A6F347}"/>
              </a:ext>
            </a:extLst>
          </p:cNvPr>
          <p:cNvSpPr>
            <a:spLocks xmlns:a="http://schemas.openxmlformats.org/drawingml/2006/main" noGrp="1"/>
          </p:cNvSpPr>
          <p:nvPr/>
        </p:nvSpPr>
        <p:spPr>
          <a:xfrm xmlns:a="http://schemas.openxmlformats.org/drawingml/2006/main">
            <a:off x="5067300" y="3067050"/>
            <a:ext cx="14287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72033"/>
                </a:solidFill>
                <a:latin typeface="Aptos"/>
                <a:ea typeface="Aptos"/>
                <a:cs typeface="Aptos"/>
              </a:defRPr>
            </a:pPr>
            <a:r>
              <a:rPr sz="975" b="0">
                <a:solidFill>
                  <a:srgbClr val="172033"/>
                </a:solidFill>
                <a:latin typeface="Aptos"/>
                <a:ea typeface="Aptos"/>
                <a:cs typeface="Aptos"/>
              </a:rPr>
              <a:t>All faculties, governance, future modules</a:t>
            </a:r>
          </a:p>
        </p:txBody>
      </p:sp>
      <p:sp>
        <p:nvSpPr>
          <p:cNvPr id="20" name="">
            <a:extLst xmlns:a="http://schemas.openxmlformats.org/drawingml/2006/main">
              <a:ext uri="{FF2B5EF4-FFF2-40B4-BE49-F238E27FC236}">
                <a16:creationId xmlns:a16="http://schemas.microsoft.com/office/drawing/2014/main" id="{EAF9616F-9F37-40C1-90BE-7E9510858391}"/>
              </a:ext>
            </a:extLst>
          </p:cNvPr>
          <p:cNvSpPr>
            <a:spLocks xmlns:a="http://schemas.openxmlformats.org/drawingml/2006/main" noGrp="1"/>
          </p:cNvSpPr>
          <p:nvPr/>
        </p:nvSpPr>
        <p:spPr>
          <a:xfrm xmlns:a="http://schemas.openxmlformats.org/drawingml/2006/main">
            <a:off x="723900" y="4400550"/>
            <a:ext cx="5619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71F49"/>
                </a:solidFill>
                <a:latin typeface="Aptos"/>
                <a:ea typeface="Aptos"/>
                <a:cs typeface="Aptos"/>
              </a:defRPr>
            </a:pPr>
            <a:r>
              <a:rPr sz="1275" b="1">
                <a:solidFill>
                  <a:srgbClr val="071F49"/>
                </a:solidFill>
                <a:latin typeface="Aptos"/>
                <a:ea typeface="Aptos"/>
                <a:cs typeface="Aptos"/>
              </a:rPr>
              <a:t>Honest MVP positioning: strong registration workflow today; full SIS roadmap through phased rollout.</a:t>
            </a:r>
          </a:p>
        </p:txBody>
      </p:sp>
      <p:sp>
        <p:nvSpPr>
          <p:cNvPr id="21" name="">
            <a:extLst xmlns:a="http://schemas.openxmlformats.org/drawingml/2006/main">
              <a:ext uri="{FF2B5EF4-FFF2-40B4-BE49-F238E27FC236}">
                <a16:creationId xmlns:a16="http://schemas.microsoft.com/office/drawing/2014/main" id="{74647AC4-1748-415D-9C20-1778EF06444B}"/>
              </a:ext>
            </a:extLst>
          </p:cNvPr>
          <p:cNvSpPr>
            <a:spLocks xmlns:a="http://schemas.openxmlformats.org/drawingml/2006/main" noGrp="1"/>
          </p:cNvSpPr>
          <p:nvPr/>
        </p:nvSpPr>
        <p:spPr>
          <a:xfrm xmlns:a="http://schemas.openxmlformats.org/drawingml/2006/main">
            <a:off x="7067550" y="1276350"/>
            <a:ext cx="4343400" cy="3886200"/>
          </a:xfrm>
          <a:prstGeom xmlns:a="http://schemas.openxmlformats.org/drawingml/2006/main" prst="rect">
            <a:avLst/>
          </a:prstGeom>
          <a:solidFill xmlns:a="http://schemas.openxmlformats.org/drawingml/2006/main">
            <a:srgbClr val="F8FAFC"/>
          </a:solidFill>
          <a:ln xmlns:a="http://schemas.openxmlformats.org/drawingml/2006/main" w="11430">
            <a:solidFill>
              <a:srgbClr val="D9E2F1"/>
            </a:solidFill>
          </a:ln>
        </p:spPr>
      </p:sp>
      <p:sp>
        <p:nvSpPr>
          <p:cNvPr id="22" name="">
            <a:extLst xmlns:a="http://schemas.openxmlformats.org/drawingml/2006/main">
              <a:ext uri="{FF2B5EF4-FFF2-40B4-BE49-F238E27FC236}">
                <a16:creationId xmlns:a16="http://schemas.microsoft.com/office/drawing/2014/main" id="{8E0DE941-EC59-4711-A368-34828755BA46}"/>
              </a:ext>
            </a:extLst>
          </p:cNvPr>
          <p:cNvSpPr>
            <a:spLocks xmlns:a="http://schemas.openxmlformats.org/drawingml/2006/main" noGrp="1"/>
          </p:cNvSpPr>
          <p:nvPr/>
        </p:nvSpPr>
        <p:spPr>
          <a:xfrm xmlns:a="http://schemas.openxmlformats.org/drawingml/2006/main">
            <a:off x="7067550" y="1276350"/>
            <a:ext cx="4343400" cy="762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82B35A07-21F7-41EA-840B-D07624BFEF1B}"/>
              </a:ext>
            </a:extLst>
          </p:cNvPr>
          <p:cNvSpPr>
            <a:spLocks xmlns:a="http://schemas.openxmlformats.org/drawingml/2006/main" noGrp="1"/>
          </p:cNvSpPr>
          <p:nvPr/>
        </p:nvSpPr>
        <p:spPr>
          <a:xfrm xmlns:a="http://schemas.openxmlformats.org/drawingml/2006/main">
            <a:off x="7296150" y="1619250"/>
            <a:ext cx="3886200" cy="3009900"/>
          </a:xfrm>
          <a:prstGeom xmlns:a="http://schemas.openxmlformats.org/drawingml/2006/main" prst="rect">
            <a:avLst/>
          </a:prstGeom>
          <a:solidFill xmlns:a="http://schemas.openxmlformats.org/drawingml/2006/main">
            <a:srgbClr val="FFFFFF"/>
          </a:solidFill>
          <a:ln xmlns:a="http://schemas.openxmlformats.org/drawingml/2006/main" w="9525">
            <a:solidFill>
              <a:srgbClr val="E5E7EB"/>
            </a:solidFill>
          </a:ln>
        </p:spPr>
      </p:sp>
      <p:sp>
        <p:nvSpPr>
          <p:cNvPr id="24" name="">
            <a:extLst xmlns:a="http://schemas.openxmlformats.org/drawingml/2006/main">
              <a:ext uri="{FF2B5EF4-FFF2-40B4-BE49-F238E27FC236}">
                <a16:creationId xmlns:a16="http://schemas.microsoft.com/office/drawing/2014/main" id="{1226A431-2266-4DBF-996F-285C4203D242}"/>
              </a:ext>
            </a:extLst>
          </p:cNvPr>
          <p:cNvSpPr>
            <a:spLocks xmlns:a="http://schemas.openxmlformats.org/drawingml/2006/main" noGrp="1"/>
          </p:cNvSpPr>
          <p:nvPr/>
        </p:nvSpPr>
        <p:spPr>
          <a:xfrm xmlns:a="http://schemas.openxmlformats.org/drawingml/2006/main">
            <a:off x="7410450" y="4724400"/>
            <a:ext cx="3657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B2F6B"/>
                </a:solidFill>
                <a:latin typeface="Aptos"/>
                <a:ea typeface="Aptos"/>
                <a:cs typeface="Aptos"/>
              </a:defRPr>
            </a:pPr>
            <a:r>
              <a:rPr sz="1050" b="1">
                <a:solidFill>
                  <a:srgbClr val="0B2F6B"/>
                </a:solidFill>
                <a:latin typeface="Aptos"/>
                <a:ea typeface="Aptos"/>
                <a:cs typeface="Aptos"/>
              </a:rPr>
              <a:t>[Implementation Roadmap Placeholder]</a:t>
            </a:r>
          </a:p>
        </p:txBody>
      </p:sp>
      <p:sp>
        <p:nvSpPr>
          <p:cNvPr id="25" name="">
            <a:extLst xmlns:a="http://schemas.openxmlformats.org/drawingml/2006/main">
              <a:ext uri="{FF2B5EF4-FFF2-40B4-BE49-F238E27FC236}">
                <a16:creationId xmlns:a16="http://schemas.microsoft.com/office/drawing/2014/main" id="{607BAA23-A840-4F8D-926F-88AC563F2811}"/>
              </a:ext>
            </a:extLst>
          </p:cNvPr>
          <p:cNvSpPr>
            <a:spLocks xmlns:a="http://schemas.openxmlformats.org/drawingml/2006/main" noGrp="1"/>
          </p:cNvSpPr>
          <p:nvPr/>
        </p:nvSpPr>
        <p:spPr>
          <a:xfrm xmlns:a="http://schemas.openxmlformats.org/drawingml/2006/main">
            <a:off x="7448550" y="3124200"/>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94A3B8"/>
                </a:solidFill>
                <a:latin typeface="Aptos"/>
                <a:ea typeface="Aptos"/>
                <a:cs typeface="Aptos"/>
              </a:defRPr>
            </a:pPr>
            <a:r>
              <a:rPr sz="1350" b="1">
                <a:solidFill>
                  <a:srgbClr val="94A3B8"/>
                </a:solidFill>
                <a:latin typeface="Aptos"/>
                <a:ea typeface="Aptos"/>
                <a:cs typeface="Aptos"/>
              </a:rPr>
              <a:t>Screenshot Placeholder</a:t>
            </a:r>
          </a:p>
        </p:txBody>
      </p:sp>
      <p:sp>
        <p:nvSpPr>
          <p:cNvPr id="26" name="">
            <a:extLst xmlns:a="http://schemas.openxmlformats.org/drawingml/2006/main">
              <a:ext uri="{FF2B5EF4-FFF2-40B4-BE49-F238E27FC236}">
                <a16:creationId xmlns:a16="http://schemas.microsoft.com/office/drawing/2014/main" id="{D98F8CC8-359A-4B32-BC5C-1DFE68C62656}"/>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94A3B8"/>
                </a:solidFill>
                <a:latin typeface="Aptos"/>
                <a:ea typeface="Aptos"/>
                <a:cs typeface="Aptos"/>
              </a:defRPr>
            </a:pPr>
            <a:r>
              <a:rPr sz="638" b="0">
                <a:solidFill>
                  <a:srgbClr val="94A3B8"/>
                </a:solidFill>
                <a:latin typeface="Aptos"/>
                <a:ea typeface="Aptos"/>
                <a:cs typeface="Aptos"/>
              </a:rPr>
              <a:t>UniPortal Executive Presentation  |  17</a:t>
            </a:r>
          </a:p>
        </p:txBody>
      </p:sp>
    </p:spTree>
    <p:extLst>
      <p:ext uri="{BB962C8B-B14F-4D97-AF65-F5344CB8AC3E}">
        <p14:creationId xmlns:p14="http://schemas.microsoft.com/office/powerpoint/2010/main" val="107057914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0EAC65-41C2-4E3F-BD86-167D455E74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71F4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DC8C91E-0743-41E1-AC2D-FDDABB109B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4AF37"/>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f4af443c2fe147e5"/>
          <a:stretch xmlns:a="http://schemas.openxmlformats.org/drawingml/2006/main"/>
        </p:blipFill>
        <p:spPr>
          <a:xfrm xmlns:a="http://schemas.openxmlformats.org/drawingml/2006/main">
            <a:off x="495300" y="323850"/>
            <a:ext cx="361950" cy="361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98B2C73-B13F-446D-A63F-0B16E0D842CD}"/>
              </a:ext>
            </a:extLst>
          </p:cNvPr>
          <p:cNvSpPr>
            <a:spLocks xmlns:a="http://schemas.openxmlformats.org/drawingml/2006/main" noGrp="1"/>
          </p:cNvSpPr>
          <p:nvPr/>
        </p:nvSpPr>
        <p:spPr>
          <a:xfrm xmlns:a="http://schemas.openxmlformats.org/drawingml/2006/main">
            <a:off x="933450" y="3619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FFFFF"/>
                </a:solidFill>
                <a:latin typeface="Aptos Display"/>
                <a:ea typeface="Aptos Display"/>
                <a:cs typeface="Aptos Display"/>
              </a:defRPr>
            </a:pPr>
            <a:r>
              <a:rPr sz="1725" b="1">
                <a:solidFill>
                  <a:srgbClr val="FFFFFF"/>
                </a:solidFill>
                <a:latin typeface="Aptos Display"/>
                <a:ea typeface="Aptos Display"/>
                <a:cs typeface="Aptos Display"/>
              </a:rPr>
              <a:t>UniPortal</a:t>
            </a:r>
          </a:p>
        </p:txBody>
      </p:sp>
      <p:sp>
        <p:nvSpPr>
          <p:cNvPr id="5" name="">
            <a:extLst xmlns:a="http://schemas.openxmlformats.org/drawingml/2006/main">
              <a:ext uri="{FF2B5EF4-FFF2-40B4-BE49-F238E27FC236}">
                <a16:creationId xmlns:a16="http://schemas.microsoft.com/office/drawing/2014/main" id="{33EBC456-7910-4964-899C-199B493A1E10}"/>
              </a:ext>
            </a:extLst>
          </p:cNvPr>
          <p:cNvSpPr>
            <a:spLocks xmlns:a="http://schemas.openxmlformats.org/drawingml/2006/main" noGrp="1"/>
          </p:cNvSpPr>
          <p:nvPr/>
        </p:nvSpPr>
        <p:spPr>
          <a:xfrm xmlns:a="http://schemas.openxmlformats.org/drawingml/2006/main">
            <a:off x="952500" y="6096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D9E2F1"/>
                </a:solidFill>
                <a:latin typeface="Aptos"/>
                <a:ea typeface="Aptos"/>
                <a:cs typeface="Aptos"/>
              </a:defRPr>
            </a:pPr>
            <a:r>
              <a:rPr sz="675" b="1">
                <a:solidFill>
                  <a:srgbClr val="D9E2F1"/>
                </a:solidFill>
                <a:latin typeface="Aptos"/>
                <a:ea typeface="Aptos"/>
                <a:cs typeface="Aptos"/>
              </a:rPr>
              <a:t>Institutional SIS</a:t>
            </a:r>
          </a:p>
        </p:txBody>
      </p:sp>
      <p:sp>
        <p:nvSpPr>
          <p:cNvPr id="6" name="">
            <a:extLst xmlns:a="http://schemas.openxmlformats.org/drawingml/2006/main">
              <a:ext uri="{FF2B5EF4-FFF2-40B4-BE49-F238E27FC236}">
                <a16:creationId xmlns:a16="http://schemas.microsoft.com/office/drawing/2014/main" id="{835550BA-D6E9-4E75-8184-046B6E866FCD}"/>
              </a:ext>
            </a:extLst>
          </p:cNvPr>
          <p:cNvSpPr>
            <a:spLocks xmlns:a="http://schemas.openxmlformats.org/drawingml/2006/main" noGrp="1"/>
          </p:cNvSpPr>
          <p:nvPr/>
        </p:nvSpPr>
        <p:spPr>
          <a:xfrm xmlns:a="http://schemas.openxmlformats.org/drawingml/2006/main">
            <a:off x="742950" y="1238250"/>
            <a:ext cx="6191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D4AF37"/>
                </a:solidFill>
                <a:latin typeface="Aptos Display"/>
                <a:ea typeface="Aptos Display"/>
                <a:cs typeface="Aptos Display"/>
              </a:defRPr>
            </a:pPr>
            <a:r>
              <a:rPr sz="2100" b="1">
                <a:solidFill>
                  <a:srgbClr val="D4AF37"/>
                </a:solidFill>
                <a:latin typeface="Aptos Display"/>
                <a:ea typeface="Aptos Display"/>
                <a:cs typeface="Aptos Display"/>
              </a:rPr>
              <a:t>Recommended Next Step:</a:t>
            </a:r>
          </a:p>
        </p:txBody>
      </p:sp>
      <p:sp>
        <p:nvSpPr>
          <p:cNvPr id="7" name="">
            <a:extLst xmlns:a="http://schemas.openxmlformats.org/drawingml/2006/main">
              <a:ext uri="{FF2B5EF4-FFF2-40B4-BE49-F238E27FC236}">
                <a16:creationId xmlns:a16="http://schemas.microsoft.com/office/drawing/2014/main" id="{1969B96A-BE30-4825-AB18-F4DD75CEB7BF}"/>
              </a:ext>
            </a:extLst>
          </p:cNvPr>
          <p:cNvSpPr>
            <a:spLocks xmlns:a="http://schemas.openxmlformats.org/drawingml/2006/main" noGrp="1"/>
          </p:cNvSpPr>
          <p:nvPr/>
        </p:nvSpPr>
        <p:spPr>
          <a:xfrm xmlns:a="http://schemas.openxmlformats.org/drawingml/2006/main">
            <a:off x="742950" y="1676400"/>
            <a:ext cx="6667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Pilot Discovery Workshop</a:t>
            </a:r>
          </a:p>
        </p:txBody>
      </p:sp>
      <p:sp>
        <p:nvSpPr>
          <p:cNvPr id="8" name="">
            <a:extLst xmlns:a="http://schemas.openxmlformats.org/drawingml/2006/main">
              <a:ext uri="{FF2B5EF4-FFF2-40B4-BE49-F238E27FC236}">
                <a16:creationId xmlns:a16="http://schemas.microsoft.com/office/drawing/2014/main" id="{01D37283-EAFC-4FAA-AE8D-E24B3352798A}"/>
              </a:ext>
            </a:extLst>
          </p:cNvPr>
          <p:cNvSpPr>
            <a:spLocks xmlns:a="http://schemas.openxmlformats.org/drawingml/2006/main" noGrp="1"/>
          </p:cNvSpPr>
          <p:nvPr/>
        </p:nvSpPr>
        <p:spPr>
          <a:xfrm xmlns:a="http://schemas.openxmlformats.org/drawingml/2006/main">
            <a:off x="781050" y="2686050"/>
            <a:ext cx="5334000" cy="1562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350" b="0">
                <a:solidFill>
                  <a:srgbClr val="EAF2FF"/>
                </a:solidFill>
                <a:latin typeface="Aptos"/>
                <a:ea typeface="Aptos"/>
                <a:cs typeface="Aptos"/>
              </a:defRPr>
            </a:pPr>
            <a:r>
              <a:rPr sz="1350" b="0">
                <a:solidFill>
                  <a:srgbClr val="EAF2FF"/>
                </a:solidFill>
                <a:latin typeface="Aptos"/>
                <a:ea typeface="Aptos"/>
                <a:cs typeface="Aptos"/>
              </a:rPr>
              <a:t>• Select pilot faculty or departments</a:t>
            </a:r>
          </a:p>
          <a:p xmlns:a="http://schemas.openxmlformats.org/drawingml/2006/main">
            <a:pPr algn="l">
              <a:defRPr sz="1350" b="0">
                <a:solidFill>
                  <a:srgbClr val="EAF2FF"/>
                </a:solidFill>
                <a:latin typeface="Aptos"/>
                <a:ea typeface="Aptos"/>
                <a:cs typeface="Aptos"/>
              </a:defRPr>
            </a:pPr>
            <a:r>
              <a:rPr sz="1350" b="0">
                <a:solidFill>
                  <a:srgbClr val="EAF2FF"/>
                </a:solidFill>
                <a:latin typeface="Aptos"/>
                <a:ea typeface="Aptos"/>
                <a:cs typeface="Aptos"/>
              </a:rPr>
              <a:t>• Map registration workflow and policies</a:t>
            </a:r>
          </a:p>
          <a:p xmlns:a="http://schemas.openxmlformats.org/drawingml/2006/main">
            <a:pPr algn="l">
              <a:defRPr sz="1350" b="0">
                <a:solidFill>
                  <a:srgbClr val="EAF2FF"/>
                </a:solidFill>
                <a:latin typeface="Aptos"/>
                <a:ea typeface="Aptos"/>
                <a:cs typeface="Aptos"/>
              </a:defRPr>
            </a:pPr>
            <a:r>
              <a:rPr sz="1350" b="0">
                <a:solidFill>
                  <a:srgbClr val="EAF2FF"/>
                </a:solidFill>
                <a:latin typeface="Aptos"/>
                <a:ea typeface="Aptos"/>
                <a:cs typeface="Aptos"/>
              </a:rPr>
              <a:t>• Review data readiness and user roles</a:t>
            </a:r>
          </a:p>
          <a:p xmlns:a="http://schemas.openxmlformats.org/drawingml/2006/main">
            <a:pPr algn="l">
              <a:defRPr sz="1350" b="0">
                <a:solidFill>
                  <a:srgbClr val="EAF2FF"/>
                </a:solidFill>
                <a:latin typeface="Aptos"/>
                <a:ea typeface="Aptos"/>
                <a:cs typeface="Aptos"/>
              </a:defRPr>
            </a:pPr>
            <a:r>
              <a:rPr sz="1350" b="0">
                <a:solidFill>
                  <a:srgbClr val="EAF2FF"/>
                </a:solidFill>
                <a:latin typeface="Aptos"/>
                <a:ea typeface="Aptos"/>
                <a:cs typeface="Aptos"/>
              </a:rPr>
              <a:t>• Identify required reports and exports</a:t>
            </a:r>
          </a:p>
          <a:p xmlns:a="http://schemas.openxmlformats.org/drawingml/2006/main">
            <a:pPr algn="l">
              <a:defRPr sz="1350" b="0">
                <a:solidFill>
                  <a:srgbClr val="EAF2FF"/>
                </a:solidFill>
                <a:latin typeface="Aptos"/>
                <a:ea typeface="Aptos"/>
                <a:cs typeface="Aptos"/>
              </a:defRPr>
            </a:pPr>
            <a:r>
              <a:rPr sz="1350" b="0">
                <a:solidFill>
                  <a:srgbClr val="EAF2FF"/>
                </a:solidFill>
                <a:latin typeface="Aptos"/>
                <a:ea typeface="Aptos"/>
                <a:cs typeface="Aptos"/>
              </a:rPr>
              <a:t>• Confirm deployment requirements and success metrics</a:t>
            </a:r>
          </a:p>
        </p:txBody>
      </p:sp>
      <p:sp>
        <p:nvSpPr>
          <p:cNvPr id="9" name="">
            <a:extLst xmlns:a="http://schemas.openxmlformats.org/drawingml/2006/main">
              <a:ext uri="{FF2B5EF4-FFF2-40B4-BE49-F238E27FC236}">
                <a16:creationId xmlns:a16="http://schemas.microsoft.com/office/drawing/2014/main" id="{64432C98-A0BB-4387-B4BB-13EE0943BE15}"/>
              </a:ext>
            </a:extLst>
          </p:cNvPr>
          <p:cNvSpPr>
            <a:spLocks xmlns:a="http://schemas.openxmlformats.org/drawingml/2006/main" noGrp="1"/>
          </p:cNvSpPr>
          <p:nvPr/>
        </p:nvSpPr>
        <p:spPr>
          <a:xfrm xmlns:a="http://schemas.openxmlformats.org/drawingml/2006/main">
            <a:off x="6838950" y="1409700"/>
            <a:ext cx="4000500" cy="3048000"/>
          </a:xfrm>
          <a:prstGeom xmlns:a="http://schemas.openxmlformats.org/drawingml/2006/main" prst="rect">
            <a:avLst/>
          </a:prstGeom>
          <a:solidFill xmlns:a="http://schemas.openxmlformats.org/drawingml/2006/main">
            <a:srgbClr val="FFFFFF">
              <a:alpha val="7059"/>
            </a:srgbClr>
          </a:solidFill>
          <a:ln xmlns:a="http://schemas.openxmlformats.org/drawingml/2006/main" w="9525">
            <a:solidFill>
              <a:srgbClr val="FFFFFF">
                <a:alpha val="26667"/>
              </a:srgbClr>
            </a:solid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a44ab81bc18405f"/>
          <a:stretch xmlns:a="http://schemas.openxmlformats.org/drawingml/2006/main"/>
        </p:blipFill>
        <p:spPr>
          <a:xfrm xmlns:a="http://schemas.openxmlformats.org/drawingml/2006/main">
            <a:off x="8153400" y="1905000"/>
            <a:ext cx="1428750" cy="1428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003A038-1744-4B79-BF35-1649A81352B9}"/>
              </a:ext>
            </a:extLst>
          </p:cNvPr>
          <p:cNvSpPr>
            <a:spLocks xmlns:a="http://schemas.openxmlformats.org/drawingml/2006/main" noGrp="1"/>
          </p:cNvSpPr>
          <p:nvPr/>
        </p:nvSpPr>
        <p:spPr>
          <a:xfrm xmlns:a="http://schemas.openxmlformats.org/drawingml/2006/main">
            <a:off x="7143750" y="3638550"/>
            <a:ext cx="34290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FFFFFF"/>
                </a:solidFill>
                <a:latin typeface="Aptos"/>
                <a:ea typeface="Aptos"/>
                <a:cs typeface="Aptos"/>
              </a:defRPr>
            </a:pPr>
            <a:r>
              <a:rPr sz="1575" b="1">
                <a:solidFill>
                  <a:srgbClr val="FFFFFF"/>
                </a:solidFill>
                <a:latin typeface="Aptos"/>
                <a:ea typeface="Aptos"/>
                <a:cs typeface="Aptos"/>
              </a:rPr>
              <a:t>UniPortal is not simply software. It is a foundation for digital academic administration.</a:t>
            </a:r>
          </a:p>
        </p:txBody>
      </p:sp>
      <p:sp>
        <p:nvSpPr>
          <p:cNvPr id="12" name="">
            <a:extLst xmlns:a="http://schemas.openxmlformats.org/drawingml/2006/main">
              <a:ext uri="{FF2B5EF4-FFF2-40B4-BE49-F238E27FC236}">
                <a16:creationId xmlns:a16="http://schemas.microsoft.com/office/drawing/2014/main" id="{8F8BB82B-ADCC-4813-A5D2-DF2F53028547}"/>
              </a:ext>
            </a:extLst>
          </p:cNvPr>
          <p:cNvSpPr>
            <a:spLocks xmlns:a="http://schemas.openxmlformats.org/drawingml/2006/main" noGrp="1"/>
          </p:cNvSpPr>
          <p:nvPr/>
        </p:nvSpPr>
        <p:spPr>
          <a:xfrm xmlns:a="http://schemas.openxmlformats.org/drawingml/2006/main">
            <a:off x="8953500" y="6419850"/>
            <a:ext cx="2381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638" b="0">
                <a:solidFill>
                  <a:srgbClr val="D9E2F1"/>
                </a:solidFill>
                <a:latin typeface="Aptos"/>
                <a:ea typeface="Aptos"/>
                <a:cs typeface="Aptos"/>
              </a:defRPr>
            </a:pPr>
            <a:r>
              <a:rPr sz="638" b="0">
                <a:solidFill>
                  <a:srgbClr val="D9E2F1"/>
                </a:solidFill>
                <a:latin typeface="Aptos"/>
                <a:ea typeface="Aptos"/>
                <a:cs typeface="Aptos"/>
              </a:rPr>
              <a:t>UniPortal Executive Presentation  |  18</a:t>
            </a:r>
          </a:p>
        </p:txBody>
      </p:sp>
    </p:spTree>
    <p:extLst>
      <p:ext uri="{BB962C8B-B14F-4D97-AF65-F5344CB8AC3E}">
        <p14:creationId xmlns:p14="http://schemas.microsoft.com/office/powerpoint/2010/main" val="13190879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2026-05-23T22:31:01.7300000Z</dcterms:created>
  <dcterms:modified xsi:type="dcterms:W3CDTF">2026-05-23T22:31:01.7300000Z</dcterms:modified>
</coreProperties>
</file>