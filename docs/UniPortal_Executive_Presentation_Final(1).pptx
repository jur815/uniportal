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pic>
        <p:nvPicPr>
          <p:cNvPr id="3" name="Image 0" descr="/Users/peterjur/Desktop/uniportal/client/public/branding/uniporta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5486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2648" y="14173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Institutional Student Information and Enrollment Management System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12648" y="4005072"/>
            <a:ext cx="589788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42519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</a:rPr>
              <a:t>Prepared for university and college decision-makers.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12648" y="4736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22033"/>
                </a:solidFill>
              </a:rPr>
              <a:t>Focused institutional MVP for academic setup, student management, course registration, registrar approval, enrollment slips, and academic record foundations.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12648" y="57881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548C"/>
                </a:solidFill>
              </a:rPr>
              <a:t>Executive demo narrative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12648" y="6364224"/>
            <a:ext cx="10287000" cy="0"/>
          </a:xfrm>
          <a:prstGeom prst="line">
            <a:avLst/>
          </a:prstGeom>
          <a:noFill/>
          <a:ln w="7620">
            <a:solidFill>
              <a:srgbClr val="D6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" y="647395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5D6978"/>
                </a:solidFill>
              </a:rPr>
              <a:t>UniPortal / 01</a:t>
            </a:r>
            <a:endParaRPr lang="en-US" sz="6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pic>
        <p:nvPicPr>
          <p:cNvPr id="3" name="Image 0" descr="/Users/peterjur/Desktop/uniportal/client/public/branding/uniporta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20040"/>
            <a:ext cx="429768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04120" y="4389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presentation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612648" y="6364224"/>
            <a:ext cx="10287000" cy="0"/>
          </a:xfrm>
          <a:prstGeom prst="line">
            <a:avLst/>
          </a:prstGeom>
          <a:noFill/>
          <a:ln w="7620">
            <a:solidFill>
              <a:srgbClr val="D6E0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647395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5D6978"/>
                </a:solidFill>
              </a:rPr>
              <a:t>UniPortal / 02</a:t>
            </a:r>
            <a:endParaRPr lang="en-US" sz="660" dirty="0"/>
          </a:p>
        </p:txBody>
      </p:sp>
      <p:sp>
        <p:nvSpPr>
          <p:cNvPr id="7" name="Text 4"/>
          <p:cNvSpPr/>
          <p:nvPr/>
        </p:nvSpPr>
        <p:spPr>
          <a:xfrm>
            <a:off x="612648" y="960120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54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</a:t>
            </a:r>
            <a:endParaRPr lang="en-US" sz="820" dirty="0"/>
          </a:p>
        </p:txBody>
      </p:sp>
      <p:sp>
        <p:nvSpPr>
          <p:cNvPr id="8" name="Text 5"/>
          <p:cNvSpPr/>
          <p:nvPr/>
        </p:nvSpPr>
        <p:spPr>
          <a:xfrm>
            <a:off x="612648" y="1261872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Registration still runs through fragmented tools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12648" y="2084832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D6978"/>
                </a:solidFill>
              </a:rPr>
              <a:t>Paper forms, spreadsheets, manual approvals, and unclear student communication create avoidable friction.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41248" y="2843784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277977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Student records are fragmented across offices.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841248" y="3291840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42416" y="32278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Course registration lacks clear approval tracking.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841248" y="3739896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42416" y="36758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Registrars resolve duplicate or incomplete requests manually.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841248" y="4187952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42416" y="412394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Students do not always know their registration status.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41248" y="4636008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42416" y="45720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Leadership has limited real-time visibility.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841248" y="5084064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42416" y="502005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Audit trails are weak or missing.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6903720" y="2514600"/>
            <a:ext cx="3474720" cy="1417320"/>
          </a:xfrm>
          <a:prstGeom prst="roundRect">
            <a:avLst>
              <a:gd name="adj" fmla="val 2581"/>
            </a:avLst>
          </a:prstGeom>
          <a:solidFill>
            <a:srgbClr val="FBF5D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0" y="271576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Manual registration creates hidden queues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132320" y="308152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The cost is not only time; it is confidence in the institution's data.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pic>
        <p:nvPicPr>
          <p:cNvPr id="3" name="Image 0" descr="/Users/peterjur/Desktop/uniportal/client/public/branding/uniporta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20040"/>
            <a:ext cx="429768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04120" y="4389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presentation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612648" y="6364224"/>
            <a:ext cx="10287000" cy="0"/>
          </a:xfrm>
          <a:prstGeom prst="line">
            <a:avLst/>
          </a:prstGeom>
          <a:noFill/>
          <a:ln w="7620">
            <a:solidFill>
              <a:srgbClr val="D6E0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647395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5D6978"/>
                </a:solidFill>
              </a:rPr>
              <a:t>UniPortal / 03</a:t>
            </a:r>
            <a:endParaRPr lang="en-US" sz="660" dirty="0"/>
          </a:p>
        </p:txBody>
      </p:sp>
      <p:sp>
        <p:nvSpPr>
          <p:cNvPr id="7" name="Text 4"/>
          <p:cNvSpPr/>
          <p:nvPr/>
        </p:nvSpPr>
        <p:spPr>
          <a:xfrm>
            <a:off x="612648" y="960120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54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UNIPORTAL / AFTER UNIPORTAL</a:t>
            </a:r>
            <a:endParaRPr lang="en-US" sz="820" dirty="0"/>
          </a:p>
        </p:txBody>
      </p:sp>
      <p:sp>
        <p:nvSpPr>
          <p:cNvPr id="8" name="Text 5"/>
          <p:cNvSpPr/>
          <p:nvPr/>
        </p:nvSpPr>
        <p:spPr>
          <a:xfrm>
            <a:off x="612648" y="1261872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clearer path from manual registration to controlled digital workflow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143000" y="23317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Before UniPortal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543800" y="23317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After UniPortal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051560" y="2953512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52728" y="28895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Paper registration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1051560" y="3374136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52728" y="33101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Manual approvals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1051560" y="3794760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52728" y="37307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Fragmented records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1051560" y="4215384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52728" y="41513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Long student queues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1051560" y="4636008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52728" y="45720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Limited reporting visibility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7452360" y="2953512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53528" y="28895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Structured registration workflow</a:t>
            </a:r>
            <a:endParaRPr lang="en-US" sz="1020" dirty="0"/>
          </a:p>
        </p:txBody>
      </p:sp>
      <p:sp>
        <p:nvSpPr>
          <p:cNvPr id="23" name="Shape 20"/>
          <p:cNvSpPr/>
          <p:nvPr/>
        </p:nvSpPr>
        <p:spPr>
          <a:xfrm>
            <a:off x="7452360" y="3374136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53528" y="33101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Registrar approval process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7452360" y="3794760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53528" y="37307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Centralized student records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7452360" y="4215384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53528" y="41513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Clear student status tracking</a:t>
            </a:r>
            <a:endParaRPr lang="en-US" sz="1020" dirty="0"/>
          </a:p>
        </p:txBody>
      </p:sp>
      <p:sp>
        <p:nvSpPr>
          <p:cNvPr id="29" name="Shape 26"/>
          <p:cNvSpPr/>
          <p:nvPr/>
        </p:nvSpPr>
        <p:spPr>
          <a:xfrm>
            <a:off x="7452360" y="4636008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53528" y="45720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Leadership dashboard visibility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5166360" y="3246120"/>
            <a:ext cx="1417320" cy="1097280"/>
          </a:xfrm>
          <a:prstGeom prst="chevron">
            <a:avLst/>
          </a:prstGeom>
          <a:solidFill>
            <a:srgbClr val="C9A227">
              <a:alpha val="92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54880" y="4526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548C"/>
                </a:solidFill>
              </a:rPr>
              <a:t>Controlled digital process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pic>
        <p:nvPicPr>
          <p:cNvPr id="3" name="Image 0" descr="/Users/peterjur/Desktop/uniportal/client/public/branding/uniporta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20040"/>
            <a:ext cx="429768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04120" y="4389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presentation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612648" y="6364224"/>
            <a:ext cx="10287000" cy="0"/>
          </a:xfrm>
          <a:prstGeom prst="line">
            <a:avLst/>
          </a:prstGeom>
          <a:noFill/>
          <a:ln w="7620">
            <a:solidFill>
              <a:srgbClr val="D6E0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647395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5D6978"/>
                </a:solidFill>
              </a:rPr>
              <a:t>UniPortal / 04</a:t>
            </a:r>
            <a:endParaRPr lang="en-US" sz="660" dirty="0"/>
          </a:p>
        </p:txBody>
      </p:sp>
      <p:sp>
        <p:nvSpPr>
          <p:cNvPr id="7" name="Text 4"/>
          <p:cNvSpPr/>
          <p:nvPr/>
        </p:nvSpPr>
        <p:spPr>
          <a:xfrm>
            <a:off x="612648" y="960120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54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SOLUTION</a:t>
            </a:r>
            <a:endParaRPr lang="en-US" sz="820" dirty="0"/>
          </a:p>
        </p:txBody>
      </p:sp>
      <p:sp>
        <p:nvSpPr>
          <p:cNvPr id="8" name="Text 5"/>
          <p:cNvSpPr/>
          <p:nvPr/>
        </p:nvSpPr>
        <p:spPr>
          <a:xfrm>
            <a:off x="612648" y="1261872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web-based system for the core academic registration workflow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85800" y="2560320"/>
            <a:ext cx="452628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276148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Academic setup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31272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Faculties, departments, programs, courses, and active academic sessions.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5788152" y="2560320"/>
            <a:ext cx="452628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16752" y="276148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Student management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16752" y="31272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Account creation, profiles, academic identity, and verification status.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685800" y="4069080"/>
            <a:ext cx="452628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427024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Enrollment workflow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14400" y="46360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Student requests, registrar review, structured decisions, and audit logs.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5788152" y="4069080"/>
            <a:ext cx="452628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16752" y="427024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Official outputs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016752" y="46360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Printable enrollment slips and academic record foundations from approved enrollments.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pic>
        <p:nvPicPr>
          <p:cNvPr id="3" name="Image 0" descr="/Users/peterjur/Desktop/uniportal/client/public/branding/uniporta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20040"/>
            <a:ext cx="429768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04120" y="4389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presentation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612648" y="6364224"/>
            <a:ext cx="10287000" cy="0"/>
          </a:xfrm>
          <a:prstGeom prst="line">
            <a:avLst/>
          </a:prstGeom>
          <a:noFill/>
          <a:ln w="7620">
            <a:solidFill>
              <a:srgbClr val="D6E0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647395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5D6978"/>
                </a:solidFill>
              </a:rPr>
              <a:t>UniPortal / 05</a:t>
            </a:r>
            <a:endParaRPr lang="en-US" sz="660" dirty="0"/>
          </a:p>
        </p:txBody>
      </p:sp>
      <p:sp>
        <p:nvSpPr>
          <p:cNvPr id="7" name="Text 4"/>
          <p:cNvSpPr/>
          <p:nvPr/>
        </p:nvSpPr>
        <p:spPr>
          <a:xfrm>
            <a:off x="612648" y="960120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54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UNIPORTAL?</a:t>
            </a:r>
            <a:endParaRPr lang="en-US" sz="820" dirty="0"/>
          </a:p>
        </p:txBody>
      </p:sp>
      <p:sp>
        <p:nvSpPr>
          <p:cNvPr id="8" name="Text 5"/>
          <p:cNvSpPr/>
          <p:nvPr/>
        </p:nvSpPr>
        <p:spPr>
          <a:xfrm>
            <a:off x="612648" y="1261872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Institutional strengthening through local relevance, phased modernization, and practical support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024128" y="2267712"/>
            <a:ext cx="8686800" cy="42062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88720" y="240487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UniPortal Advantage</a:t>
            </a:r>
            <a:endParaRPr lang="en-US" sz="940" dirty="0"/>
          </a:p>
        </p:txBody>
      </p:sp>
      <p:sp>
        <p:nvSpPr>
          <p:cNvPr id="11" name="Text 8"/>
          <p:cNvSpPr/>
          <p:nvPr/>
        </p:nvSpPr>
        <p:spPr>
          <a:xfrm>
            <a:off x="4983480" y="240487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Institutional Benefit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1024128" y="2688336"/>
            <a:ext cx="3794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18888" y="2688336"/>
            <a:ext cx="4892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88720" y="279806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2033"/>
                </a:solidFill>
              </a:rPr>
              <a:t>Built around South Sudan institutional realities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4983480" y="279806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2033"/>
                </a:solidFill>
              </a:rPr>
              <a:t>Better local relevance and adaptability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1024128" y="3108960"/>
            <a:ext cx="3794760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18888" y="3108960"/>
            <a:ext cx="4892040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88720" y="32186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2033"/>
                </a:solidFill>
              </a:rPr>
              <a:t>Local technical support</a:t>
            </a:r>
            <a:endParaRPr lang="en-US" sz="880" dirty="0"/>
          </a:p>
        </p:txBody>
      </p:sp>
      <p:sp>
        <p:nvSpPr>
          <p:cNvPr id="19" name="Text 16"/>
          <p:cNvSpPr/>
          <p:nvPr/>
        </p:nvSpPr>
        <p:spPr>
          <a:xfrm>
            <a:off x="4983480" y="321868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2033"/>
                </a:solidFill>
              </a:rPr>
              <a:t>Faster support, training, and customization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1024128" y="3529584"/>
            <a:ext cx="3794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18888" y="3529584"/>
            <a:ext cx="4892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88720" y="363931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2033"/>
                </a:solidFill>
              </a:rPr>
              <a:t>Phased implementation model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983480" y="363931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2033"/>
                </a:solidFill>
              </a:rPr>
              <a:t>Lower adoption risk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1024128" y="3950208"/>
            <a:ext cx="3794760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818888" y="3950208"/>
            <a:ext cx="4892040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88720" y="4059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2033"/>
                </a:solidFill>
              </a:rPr>
              <a:t>Consultation-driven development</a:t>
            </a:r>
            <a:endParaRPr lang="en-US" sz="880" dirty="0"/>
          </a:p>
        </p:txBody>
      </p:sp>
      <p:sp>
        <p:nvSpPr>
          <p:cNvPr id="27" name="Text 24"/>
          <p:cNvSpPr/>
          <p:nvPr/>
        </p:nvSpPr>
        <p:spPr>
          <a:xfrm>
            <a:off x="4983480" y="405993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2033"/>
                </a:solidFill>
              </a:rPr>
              <a:t>Institution shapes priorities</a:t>
            </a:r>
            <a:endParaRPr lang="en-US" sz="880" dirty="0"/>
          </a:p>
        </p:txBody>
      </p:sp>
      <p:sp>
        <p:nvSpPr>
          <p:cNvPr id="28" name="Shape 25"/>
          <p:cNvSpPr/>
          <p:nvPr/>
        </p:nvSpPr>
        <p:spPr>
          <a:xfrm>
            <a:off x="1024128" y="4370832"/>
            <a:ext cx="3794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818888" y="4370832"/>
            <a:ext cx="4892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188720" y="44805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2033"/>
                </a:solidFill>
              </a:rPr>
              <a:t>Flexible academic structure</a:t>
            </a:r>
            <a:endParaRPr lang="en-US" sz="880" dirty="0"/>
          </a:p>
        </p:txBody>
      </p:sp>
      <p:sp>
        <p:nvSpPr>
          <p:cNvPr id="31" name="Text 28"/>
          <p:cNvSpPr/>
          <p:nvPr/>
        </p:nvSpPr>
        <p:spPr>
          <a:xfrm>
            <a:off x="4983480" y="44805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2033"/>
                </a:solidFill>
              </a:rPr>
              <a:t>Fits faculties, departments, programs, and courses</a:t>
            </a:r>
            <a:endParaRPr lang="en-US" sz="880" dirty="0"/>
          </a:p>
        </p:txBody>
      </p:sp>
      <p:sp>
        <p:nvSpPr>
          <p:cNvPr id="32" name="Shape 29"/>
          <p:cNvSpPr/>
          <p:nvPr/>
        </p:nvSpPr>
        <p:spPr>
          <a:xfrm>
            <a:off x="1024128" y="4791456"/>
            <a:ext cx="3794760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818888" y="4791456"/>
            <a:ext cx="4892040" cy="420624"/>
          </a:xfrm>
          <a:prstGeom prst="rect">
            <a:avLst/>
          </a:prstGeom>
          <a:solidFill>
            <a:srgbClr val="EAF1F8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188720" y="490118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2033"/>
                </a:solidFill>
              </a:rPr>
              <a:t>Cost-aware deployment</a:t>
            </a:r>
            <a:endParaRPr lang="en-US" sz="880" dirty="0"/>
          </a:p>
        </p:txBody>
      </p:sp>
      <p:sp>
        <p:nvSpPr>
          <p:cNvPr id="35" name="Text 32"/>
          <p:cNvSpPr/>
          <p:nvPr/>
        </p:nvSpPr>
        <p:spPr>
          <a:xfrm>
            <a:off x="4983480" y="490118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2033"/>
                </a:solidFill>
              </a:rPr>
              <a:t>More realistic for regional institutions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pic>
        <p:nvPicPr>
          <p:cNvPr id="3" name="Image 0" descr="/Users/peterjur/Desktop/uniportal/client/public/branding/uniporta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20040"/>
            <a:ext cx="429768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04120" y="4389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presentation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612648" y="6364224"/>
            <a:ext cx="10287000" cy="0"/>
          </a:xfrm>
          <a:prstGeom prst="line">
            <a:avLst/>
          </a:prstGeom>
          <a:noFill/>
          <a:ln w="7620">
            <a:solidFill>
              <a:srgbClr val="D6E0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647395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5D6978"/>
                </a:solidFill>
              </a:rPr>
              <a:t>UniPortal / 06</a:t>
            </a:r>
            <a:endParaRPr lang="en-US" sz="660" dirty="0"/>
          </a:p>
        </p:txBody>
      </p:sp>
      <p:sp>
        <p:nvSpPr>
          <p:cNvPr id="7" name="Text 4"/>
          <p:cNvSpPr/>
          <p:nvPr/>
        </p:nvSpPr>
        <p:spPr>
          <a:xfrm>
            <a:off x="612648" y="960120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54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MVP SCOPE</a:t>
            </a:r>
            <a:endParaRPr lang="en-US" sz="820" dirty="0"/>
          </a:p>
        </p:txBody>
      </p:sp>
      <p:sp>
        <p:nvSpPr>
          <p:cNvPr id="8" name="Text 5"/>
          <p:cNvSpPr/>
          <p:nvPr/>
        </p:nvSpPr>
        <p:spPr>
          <a:xfrm>
            <a:off x="612648" y="1261872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complete registration lifecycle is demonstrable today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914400" y="2697480"/>
            <a:ext cx="329184" cy="329184"/>
          </a:xfrm>
          <a:prstGeom prst="ellipse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277063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353312" y="26974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2033"/>
                </a:solidFill>
              </a:rPr>
              <a:t>Admin sets up faculties, departments, programs, and courses.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14400" y="3566160"/>
            <a:ext cx="329184" cy="329184"/>
          </a:xfrm>
          <a:prstGeom prst="ellipse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363931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353312" y="35661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2033"/>
                </a:solidFill>
              </a:rPr>
              <a:t>Admin creates or manages student profiles.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14400" y="4434840"/>
            <a:ext cx="329184" cy="329184"/>
          </a:xfrm>
          <a:prstGeom prst="ellipse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450799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353312" y="44348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2033"/>
                </a:solidFill>
              </a:rPr>
              <a:t>Admin opens an academic session for registration.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309360" y="2697480"/>
            <a:ext cx="329184" cy="329184"/>
          </a:xfrm>
          <a:prstGeom prst="ellipse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09360" y="277063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748272" y="26974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2033"/>
                </a:solidFill>
              </a:rPr>
              <a:t>Student browses courses and submits enrollment requests.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309360" y="3566160"/>
            <a:ext cx="329184" cy="329184"/>
          </a:xfrm>
          <a:prstGeom prst="ellipse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09360" y="363931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748272" y="35661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2033"/>
                </a:solidFill>
              </a:rPr>
              <a:t>Registrar approves, rejects, or returns requests.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309360" y="4434840"/>
            <a:ext cx="329184" cy="329184"/>
          </a:xfrm>
          <a:prstGeom prst="ellipse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09360" y="450799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748272" y="44348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2033"/>
                </a:solidFill>
              </a:rPr>
              <a:t>Student prints approved enrollment slip; records can begin.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429000" y="5559552"/>
            <a:ext cx="4297680" cy="310896"/>
          </a:xfrm>
          <a:prstGeom prst="roundRect">
            <a:avLst>
              <a:gd name="adj" fmla="val 11765"/>
            </a:avLst>
          </a:prstGeom>
          <a:solidFill>
            <a:srgbClr val="FBF5DF"/>
          </a:solidFill>
          <a:ln w="6350">
            <a:solidFill>
              <a:srgbClr val="E6D8A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11880" y="5660136"/>
            <a:ext cx="3931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F548C"/>
                </a:solidFill>
              </a:rPr>
              <a:t>Current demonstrable workflow available for pilot discussion</a:t>
            </a:r>
            <a:endParaRPr lang="en-US" sz="7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pic>
        <p:nvPicPr>
          <p:cNvPr id="3" name="Image 0" descr="/Users/peterjur/Desktop/uniportal/client/public/branding/uniporta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20040"/>
            <a:ext cx="429768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04120" y="4389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presentation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612648" y="6364224"/>
            <a:ext cx="10287000" cy="0"/>
          </a:xfrm>
          <a:prstGeom prst="line">
            <a:avLst/>
          </a:prstGeom>
          <a:noFill/>
          <a:ln w="7620">
            <a:solidFill>
              <a:srgbClr val="D6E0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647395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5D6978"/>
                </a:solidFill>
              </a:rPr>
              <a:t>UniPortal / 07</a:t>
            </a:r>
            <a:endParaRPr lang="en-US" sz="660" dirty="0"/>
          </a:p>
        </p:txBody>
      </p:sp>
      <p:sp>
        <p:nvSpPr>
          <p:cNvPr id="7" name="Text 4"/>
          <p:cNvSpPr/>
          <p:nvPr/>
        </p:nvSpPr>
        <p:spPr>
          <a:xfrm>
            <a:off x="612648" y="960120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54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ROLE-BASED EXPERIENCE</a:t>
            </a:r>
            <a:endParaRPr lang="en-US" sz="820" dirty="0"/>
          </a:p>
        </p:txBody>
      </p:sp>
      <p:sp>
        <p:nvSpPr>
          <p:cNvPr id="8" name="Text 5"/>
          <p:cNvSpPr/>
          <p:nvPr/>
        </p:nvSpPr>
        <p:spPr>
          <a:xfrm>
            <a:off x="612648" y="1261872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Access is separated by institutional responsibility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731520" y="2606040"/>
            <a:ext cx="3154680" cy="233172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80720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INSTITUTIONAL ROLE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0120" y="3172968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Admin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1051560" y="3657600"/>
            <a:ext cx="25603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22033"/>
                </a:solidFill>
              </a:rPr>
              <a:t>Academic setup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22033"/>
                </a:solidFill>
              </a:rPr>
              <a:t>Student management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22033"/>
                </a:solidFill>
              </a:rPr>
              <a:t>Course management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22033"/>
                </a:solidFill>
              </a:rPr>
              <a:t>Sessions and dashboards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4297680" y="2606040"/>
            <a:ext cx="3154680" cy="2331720"/>
          </a:xfrm>
          <a:prstGeom prst="roundRect">
            <a:avLst>
              <a:gd name="adj" fmla="val 1569"/>
            </a:avLst>
          </a:prstGeom>
          <a:solidFill>
            <a:srgbClr val="FBF5D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26280" y="280720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INSTITUTIONAL ROLE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26280" y="3172968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Registrar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4617720" y="3657600"/>
            <a:ext cx="25603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22033"/>
                </a:solidFill>
              </a:rPr>
              <a:t>Enrollment review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22033"/>
                </a:solidFill>
              </a:rPr>
              <a:t>Approval decisions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22033"/>
                </a:solidFill>
              </a:rPr>
              <a:t>Audit log review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22033"/>
                </a:solidFill>
              </a:rPr>
              <a:t>Academic records operations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7863840" y="2606040"/>
            <a:ext cx="3154680" cy="233172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92440" y="280720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INSTITUTIONAL ROLE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092440" y="3172968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Student</a:t>
            </a:r>
            <a:endParaRPr lang="en-US" sz="1020" dirty="0"/>
          </a:p>
        </p:txBody>
      </p:sp>
      <p:sp>
        <p:nvSpPr>
          <p:cNvPr id="20" name="Text 17"/>
          <p:cNvSpPr/>
          <p:nvPr/>
        </p:nvSpPr>
        <p:spPr>
          <a:xfrm>
            <a:off x="8183880" y="3657600"/>
            <a:ext cx="25603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22033"/>
                </a:solidFill>
              </a:rPr>
              <a:t>Profile update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22033"/>
                </a:solidFill>
              </a:rPr>
              <a:t>Course browsing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22033"/>
                </a:solidFill>
              </a:rPr>
              <a:t>Enrollment request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22033"/>
                </a:solidFill>
              </a:rPr>
              <a:t>Slips and records</a:t>
            </a:r>
            <a:endParaRPr lang="en-US" sz="9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pic>
        <p:nvPicPr>
          <p:cNvPr id="3" name="Image 0" descr="/Users/peterjur/Desktop/uniportal/client/public/branding/uniporta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20040"/>
            <a:ext cx="429768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04120" y="4389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presentation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612648" y="6364224"/>
            <a:ext cx="10287000" cy="0"/>
          </a:xfrm>
          <a:prstGeom prst="line">
            <a:avLst/>
          </a:prstGeom>
          <a:noFill/>
          <a:ln w="7620">
            <a:solidFill>
              <a:srgbClr val="D6E0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647395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5D6978"/>
                </a:solidFill>
              </a:rPr>
              <a:t>UniPortal / 08</a:t>
            </a:r>
            <a:endParaRPr lang="en-US" sz="660" dirty="0"/>
          </a:p>
        </p:txBody>
      </p:sp>
      <p:sp>
        <p:nvSpPr>
          <p:cNvPr id="7" name="Text 4"/>
          <p:cNvSpPr/>
          <p:nvPr/>
        </p:nvSpPr>
        <p:spPr>
          <a:xfrm>
            <a:off x="612648" y="960120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54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DASHBOARD</a:t>
            </a:r>
            <a:endParaRPr lang="en-US" sz="820" dirty="0"/>
          </a:p>
        </p:txBody>
      </p:sp>
      <p:sp>
        <p:nvSpPr>
          <p:cNvPr id="8" name="Text 5"/>
          <p:cNvSpPr/>
          <p:nvPr/>
        </p:nvSpPr>
        <p:spPr>
          <a:xfrm>
            <a:off x="612648" y="1261872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Leadership gets a quick institutional snapshot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12648" y="2084832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D6978"/>
                </a:solidFill>
              </a:rPr>
              <a:t>Administrators can understand registration activity without waiting for manual reports.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2743200"/>
            <a:ext cx="26060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294436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Total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51560" y="3310128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Students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4160520" y="2743200"/>
            <a:ext cx="26060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89120" y="294436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Total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389120" y="3310128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Courses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7498080" y="2743200"/>
            <a:ext cx="26060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26680" y="294436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Active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26680" y="3310128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Faculties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822960" y="3931920"/>
            <a:ext cx="26060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51560" y="413308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Active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51560" y="4498848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Departments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4160520" y="3931920"/>
            <a:ext cx="26060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89120" y="413308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By status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389120" y="4498848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Enrollments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7498080" y="3931920"/>
            <a:ext cx="26060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26680" y="413308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Open / closed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726680" y="4498848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Academic session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pic>
        <p:nvPicPr>
          <p:cNvPr id="3" name="Image 0" descr="/Users/peterjur/Desktop/uniportal/client/public/branding/uniporta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20040"/>
            <a:ext cx="429768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04120" y="4389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presentation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612648" y="6364224"/>
            <a:ext cx="10287000" cy="0"/>
          </a:xfrm>
          <a:prstGeom prst="line">
            <a:avLst/>
          </a:prstGeom>
          <a:noFill/>
          <a:ln w="7620">
            <a:solidFill>
              <a:srgbClr val="D6E0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647395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5D6978"/>
                </a:solidFill>
              </a:rPr>
              <a:t>UniPortal / 09</a:t>
            </a:r>
            <a:endParaRPr lang="en-US" sz="660" dirty="0"/>
          </a:p>
        </p:txBody>
      </p:sp>
      <p:sp>
        <p:nvSpPr>
          <p:cNvPr id="7" name="Text 4"/>
          <p:cNvSpPr/>
          <p:nvPr/>
        </p:nvSpPr>
        <p:spPr>
          <a:xfrm>
            <a:off x="612648" y="960120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54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ACADEMIC SETUP AND COURSE MANAGEMENT</a:t>
            </a:r>
            <a:endParaRPr lang="en-US" sz="820" dirty="0"/>
          </a:p>
        </p:txBody>
      </p:sp>
      <p:sp>
        <p:nvSpPr>
          <p:cNvPr id="8" name="Text 5"/>
          <p:cNvSpPr/>
          <p:nvPr/>
        </p:nvSpPr>
        <p:spPr>
          <a:xfrm>
            <a:off x="612648" y="1261872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academic structure universities expect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12648" y="2084832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D6978"/>
                </a:solidFill>
              </a:rPr>
              <a:t>Faculty -&gt; Department -&gt; Program -&gt; Course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68680" y="2743200"/>
            <a:ext cx="384048" cy="384048"/>
          </a:xfrm>
          <a:prstGeom prst="ellipse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84378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399032" y="28163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033"/>
                </a:solidFill>
              </a:rPr>
              <a:t>Faculty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46120" y="2743200"/>
            <a:ext cx="384048" cy="384048"/>
          </a:xfrm>
          <a:prstGeom prst="ellipse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46120" y="284378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776472" y="28163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033"/>
                </a:solidFill>
              </a:rPr>
              <a:t>Department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23560" y="2743200"/>
            <a:ext cx="384048" cy="384048"/>
          </a:xfrm>
          <a:prstGeom prst="ellipse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23560" y="284378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153912" y="28163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033"/>
                </a:solidFill>
              </a:rPr>
              <a:t>Program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01000" y="2743200"/>
            <a:ext cx="384048" cy="384048"/>
          </a:xfrm>
          <a:prstGeom prst="ellipse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01000" y="284378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531352" y="28163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033"/>
                </a:solidFill>
              </a:rPr>
              <a:t>Course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05840" y="3950208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07008" y="388620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Create faculties, departments, and programs.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1005840" y="4297680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07008" y="42336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Create and edit courses by level and semester.</a:t>
            </a:r>
            <a:endParaRPr lang="en-US" sz="1020" dirty="0"/>
          </a:p>
        </p:txBody>
      </p:sp>
      <p:sp>
        <p:nvSpPr>
          <p:cNvPr id="26" name="Shape 23"/>
          <p:cNvSpPr/>
          <p:nvPr/>
        </p:nvSpPr>
        <p:spPr>
          <a:xfrm>
            <a:off x="1005840" y="4645152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207008" y="458114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Filter courses by academic structure.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1005840" y="4992624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207008" y="492861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Activate or deactivate courses.</a:t>
            </a:r>
            <a:endParaRPr lang="en-US" sz="1020" dirty="0"/>
          </a:p>
        </p:txBody>
      </p:sp>
      <p:sp>
        <p:nvSpPr>
          <p:cNvPr id="30" name="Shape 27"/>
          <p:cNvSpPr/>
          <p:nvPr/>
        </p:nvSpPr>
        <p:spPr>
          <a:xfrm>
            <a:off x="1005840" y="5340096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207008" y="527608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View course detail and enrollment counts.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pic>
        <p:nvPicPr>
          <p:cNvPr id="3" name="Image 0" descr="/Users/peterjur/Desktop/uniportal/client/public/branding/uniporta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20040"/>
            <a:ext cx="429768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04120" y="4389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presentation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612648" y="6364224"/>
            <a:ext cx="10287000" cy="0"/>
          </a:xfrm>
          <a:prstGeom prst="line">
            <a:avLst/>
          </a:prstGeom>
          <a:noFill/>
          <a:ln w="7620">
            <a:solidFill>
              <a:srgbClr val="D6E0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647395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5D6978"/>
                </a:solidFill>
              </a:rPr>
              <a:t>UniPortal / 10</a:t>
            </a:r>
            <a:endParaRPr lang="en-US" sz="660" dirty="0"/>
          </a:p>
        </p:txBody>
      </p:sp>
      <p:sp>
        <p:nvSpPr>
          <p:cNvPr id="7" name="Text 4"/>
          <p:cNvSpPr/>
          <p:nvPr/>
        </p:nvSpPr>
        <p:spPr>
          <a:xfrm>
            <a:off x="612648" y="960120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54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MANAGEMENT</a:t>
            </a:r>
            <a:endParaRPr lang="en-US" sz="820" dirty="0"/>
          </a:p>
        </p:txBody>
      </p:sp>
      <p:sp>
        <p:nvSpPr>
          <p:cNvPr id="8" name="Text 5"/>
          <p:cNvSpPr/>
          <p:nvPr/>
        </p:nvSpPr>
        <p:spPr>
          <a:xfrm>
            <a:off x="612648" y="1261872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institution controls official academic identity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822960" y="2423160"/>
            <a:ext cx="4754880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262432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Student data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51560" y="2990088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Name, email, student ID or registration number, faculty, department, program, level, intake year, guardian/contact information, account status, and verification status.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6400800" y="2898648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01968" y="28346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Admins manage student identity and academic placement.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6400800" y="3429000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01968" y="33649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Academic verification protects official fields.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6400800" y="3959352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01968" y="38953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Students retain self-service for allowed profile details.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pic>
        <p:nvPicPr>
          <p:cNvPr id="3" name="Image 0" descr="/Users/peterjur/Desktop/uniportal/client/public/branding/uniporta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20040"/>
            <a:ext cx="429768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04120" y="4389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presentation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612648" y="6364224"/>
            <a:ext cx="10287000" cy="0"/>
          </a:xfrm>
          <a:prstGeom prst="line">
            <a:avLst/>
          </a:prstGeom>
          <a:noFill/>
          <a:ln w="7620">
            <a:solidFill>
              <a:srgbClr val="D6E0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647395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5D6978"/>
                </a:solidFill>
              </a:rPr>
              <a:t>UniPortal / 11</a:t>
            </a:r>
            <a:endParaRPr lang="en-US" sz="660" dirty="0"/>
          </a:p>
        </p:txBody>
      </p:sp>
      <p:sp>
        <p:nvSpPr>
          <p:cNvPr id="7" name="Text 4"/>
          <p:cNvSpPr/>
          <p:nvPr/>
        </p:nvSpPr>
        <p:spPr>
          <a:xfrm>
            <a:off x="612648" y="960120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54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REGISTRAR ENROLLMENT REVIEW</a:t>
            </a:r>
            <a:endParaRPr lang="en-US" sz="820" dirty="0"/>
          </a:p>
        </p:txBody>
      </p:sp>
      <p:sp>
        <p:nvSpPr>
          <p:cNvPr id="8" name="Text 5"/>
          <p:cNvSpPr/>
          <p:nvPr/>
        </p:nvSpPr>
        <p:spPr>
          <a:xfrm>
            <a:off x="612648" y="1261872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Enrollment becomes an official approval process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914400" y="2715768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5568" y="265176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View pending enrollment requests.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914400" y="3127248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306324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Review student profile and academic identity.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914400" y="3538728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" y="34747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Review selected courses and credit total.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914400" y="3950208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5568" y="388620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Approve, reject, or return enrollment for correction.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914400" y="4361688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5568" y="42976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Add structured reasons and decision notes.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7498080" y="2514600"/>
            <a:ext cx="192024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26680" y="27157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Pending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726680" y="3081528"/>
            <a:ext cx="1463040" cy="-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7498080" y="3200400"/>
            <a:ext cx="1920240" cy="420624"/>
          </a:xfrm>
          <a:prstGeom prst="roundRect">
            <a:avLst>
              <a:gd name="adj" fmla="val 8696"/>
            </a:avLst>
          </a:prstGeom>
          <a:solidFill>
            <a:srgbClr val="FBF5D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26680" y="34015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Approved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726680" y="3767328"/>
            <a:ext cx="1463040" cy="-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7498080" y="3886200"/>
            <a:ext cx="192024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26680" y="40873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Rejected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726680" y="4453128"/>
            <a:ext cx="1463040" cy="-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7498080" y="4572000"/>
            <a:ext cx="192024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26680" y="47731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Returned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726680" y="5138928"/>
            <a:ext cx="1463040" cy="-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0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pic>
        <p:nvPicPr>
          <p:cNvPr id="3" name="Image 0" descr="/Users/peterjur/Desktop/uniportal/client/public/branding/uniporta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20040"/>
            <a:ext cx="429768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04120" y="4389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presentation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612648" y="6364224"/>
            <a:ext cx="10287000" cy="0"/>
          </a:xfrm>
          <a:prstGeom prst="line">
            <a:avLst/>
          </a:prstGeom>
          <a:noFill/>
          <a:ln w="7620">
            <a:solidFill>
              <a:srgbClr val="D6E0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647395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5D6978"/>
                </a:solidFill>
              </a:rPr>
              <a:t>UniPortal / 12</a:t>
            </a:r>
            <a:endParaRPr lang="en-US" sz="660" dirty="0"/>
          </a:p>
        </p:txBody>
      </p:sp>
      <p:sp>
        <p:nvSpPr>
          <p:cNvPr id="7" name="Text 4"/>
          <p:cNvSpPr/>
          <p:nvPr/>
        </p:nvSpPr>
        <p:spPr>
          <a:xfrm>
            <a:off x="612648" y="960120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54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AUDIT LOG</a:t>
            </a:r>
            <a:endParaRPr lang="en-US" sz="820" dirty="0"/>
          </a:p>
        </p:txBody>
      </p:sp>
      <p:sp>
        <p:nvSpPr>
          <p:cNvPr id="8" name="Text 5"/>
          <p:cNvSpPr/>
          <p:nvPr/>
        </p:nvSpPr>
        <p:spPr>
          <a:xfrm>
            <a:off x="612648" y="1261872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enrollment decision is recorded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822960" y="2514600"/>
            <a:ext cx="4937760" cy="1234440"/>
          </a:xfrm>
          <a:prstGeom prst="roundRect">
            <a:avLst>
              <a:gd name="adj" fmla="val 2963"/>
            </a:avLst>
          </a:prstGeom>
          <a:solidFill>
            <a:srgbClr val="EAF1F8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271576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Audit log captures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51560" y="30815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Decision maker, decision time, previous status, new status, reason type, and decision note.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6492240" y="2807208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93408" y="2743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Supports accountability.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6492240" y="3374136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93408" y="33101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Improves transparency.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6492240" y="3941064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93408" y="38770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Helps resolve disputes with evidence.</a:t>
            </a:r>
            <a:endParaRPr lang="en-US" sz="10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pic>
        <p:nvPicPr>
          <p:cNvPr id="3" name="Image 0" descr="/Users/peterjur/Desktop/uniportal/client/public/branding/uniporta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20040"/>
            <a:ext cx="429768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04120" y="4389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presentation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612648" y="6364224"/>
            <a:ext cx="10287000" cy="0"/>
          </a:xfrm>
          <a:prstGeom prst="line">
            <a:avLst/>
          </a:prstGeom>
          <a:noFill/>
          <a:ln w="7620">
            <a:solidFill>
              <a:srgbClr val="D6E0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647395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5D6978"/>
                </a:solidFill>
              </a:rPr>
              <a:t>UniPortal / 13</a:t>
            </a:r>
            <a:endParaRPr lang="en-US" sz="660" dirty="0"/>
          </a:p>
        </p:txBody>
      </p:sp>
      <p:sp>
        <p:nvSpPr>
          <p:cNvPr id="7" name="Text 4"/>
          <p:cNvSpPr/>
          <p:nvPr/>
        </p:nvSpPr>
        <p:spPr>
          <a:xfrm>
            <a:off x="612648" y="960120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54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SELF-SERVICE</a:t>
            </a:r>
            <a:endParaRPr lang="en-US" sz="820" dirty="0"/>
          </a:p>
        </p:txBody>
      </p:sp>
      <p:sp>
        <p:nvSpPr>
          <p:cNvPr id="8" name="Text 5"/>
          <p:cNvSpPr/>
          <p:nvPr/>
        </p:nvSpPr>
        <p:spPr>
          <a:xfrm>
            <a:off x="612648" y="1261872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Students get clarity while offices receive fewer status-check visits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914400" y="2606040"/>
            <a:ext cx="329184" cy="329184"/>
          </a:xfrm>
          <a:prstGeom prst="ellipse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267919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353312" y="26060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2033"/>
                </a:solidFill>
              </a:rPr>
              <a:t>Login securely.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14400" y="3383280"/>
            <a:ext cx="329184" cy="329184"/>
          </a:xfrm>
          <a:prstGeom prst="ellipse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345643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353312" y="33832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2033"/>
                </a:solidFill>
              </a:rPr>
              <a:t>Update allowed profile fields.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14400" y="4160520"/>
            <a:ext cx="329184" cy="329184"/>
          </a:xfrm>
          <a:prstGeom prst="ellipse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423367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353312" y="41605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2033"/>
                </a:solidFill>
              </a:rPr>
              <a:t>Browse available courses.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309360" y="2606040"/>
            <a:ext cx="329184" cy="329184"/>
          </a:xfrm>
          <a:prstGeom prst="ellipse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09360" y="267919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748272" y="26060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2033"/>
                </a:solidFill>
              </a:rPr>
              <a:t>Submit enrollment requests.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309360" y="3383280"/>
            <a:ext cx="329184" cy="329184"/>
          </a:xfrm>
          <a:prstGeom prst="ellipse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09360" y="345643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748272" y="33832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2033"/>
                </a:solidFill>
              </a:rPr>
              <a:t>Track pending, approved, rejected, or correction-required status.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309360" y="4160520"/>
            <a:ext cx="329184" cy="329184"/>
          </a:xfrm>
          <a:prstGeom prst="ellipse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09360" y="423367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748272" y="41605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2033"/>
                </a:solidFill>
              </a:rPr>
              <a:t>Print approved enrollment slips and view academic records.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pic>
        <p:nvPicPr>
          <p:cNvPr id="3" name="Image 0" descr="/Users/peterjur/Desktop/uniportal/client/public/branding/uniporta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20040"/>
            <a:ext cx="429768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04120" y="4389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presentation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612648" y="6364224"/>
            <a:ext cx="10287000" cy="0"/>
          </a:xfrm>
          <a:prstGeom prst="line">
            <a:avLst/>
          </a:prstGeom>
          <a:noFill/>
          <a:ln w="7620">
            <a:solidFill>
              <a:srgbClr val="D6E0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647395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5D6978"/>
                </a:solidFill>
              </a:rPr>
              <a:t>UniPortal / 14</a:t>
            </a:r>
            <a:endParaRPr lang="en-US" sz="660" dirty="0"/>
          </a:p>
        </p:txBody>
      </p:sp>
      <p:sp>
        <p:nvSpPr>
          <p:cNvPr id="7" name="Text 4"/>
          <p:cNvSpPr/>
          <p:nvPr/>
        </p:nvSpPr>
        <p:spPr>
          <a:xfrm>
            <a:off x="612648" y="960120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54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PRINTABLE ENROLLMENT SLIP</a:t>
            </a:r>
            <a:endParaRPr lang="en-US" sz="820" dirty="0"/>
          </a:p>
        </p:txBody>
      </p:sp>
      <p:sp>
        <p:nvSpPr>
          <p:cNvPr id="8" name="Text 5"/>
          <p:cNvSpPr/>
          <p:nvPr/>
        </p:nvSpPr>
        <p:spPr>
          <a:xfrm>
            <a:off x="612648" y="1261872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Approved enrollments produce branded proof of registration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822960" y="2423160"/>
            <a:ext cx="4937760" cy="16916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262432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Slip contents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51560" y="299008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Student identity, academic year and semester, faculty, department, program, level, approved courses, credit hours, total credits, approval status, decision date, and reviewer.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6492240" y="2807208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93408" y="27432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Provides official proof for students.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6492240" y="3337560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93408" y="32735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Supports departments and administrative offices.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6492240" y="3867912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93408" y="38039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Turns approval into a usable institutional document.</a:t>
            </a:r>
            <a:endParaRPr lang="en-US" sz="10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pic>
        <p:nvPicPr>
          <p:cNvPr id="3" name="Image 0" descr="/Users/peterjur/Desktop/uniportal/client/public/branding/uniporta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20040"/>
            <a:ext cx="429768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04120" y="4389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presentation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612648" y="6364224"/>
            <a:ext cx="10287000" cy="0"/>
          </a:xfrm>
          <a:prstGeom prst="line">
            <a:avLst/>
          </a:prstGeom>
          <a:noFill/>
          <a:ln w="7620">
            <a:solidFill>
              <a:srgbClr val="D6E0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647395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5D6978"/>
                </a:solidFill>
              </a:rPr>
              <a:t>UniPortal / 15</a:t>
            </a:r>
            <a:endParaRPr lang="en-US" sz="660" dirty="0"/>
          </a:p>
        </p:txBody>
      </p:sp>
      <p:sp>
        <p:nvSpPr>
          <p:cNvPr id="7" name="Text 4"/>
          <p:cNvSpPr/>
          <p:nvPr/>
        </p:nvSpPr>
        <p:spPr>
          <a:xfrm>
            <a:off x="612648" y="960120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54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OWNERSHIP &amp; GOVERNANCE</a:t>
            </a:r>
            <a:endParaRPr lang="en-US" sz="820" dirty="0"/>
          </a:p>
        </p:txBody>
      </p:sp>
      <p:sp>
        <p:nvSpPr>
          <p:cNvPr id="8" name="Text 5"/>
          <p:cNvSpPr/>
          <p:nvPr/>
        </p:nvSpPr>
        <p:spPr>
          <a:xfrm>
            <a:off x="612648" y="1261872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institution owns its data.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12648" y="2084832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D6978"/>
                </a:solidFill>
              </a:rPr>
              <a:t>Governance expectations should be agreed before production deployment.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005840" y="2852928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07008" y="27889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University controls system administration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1005840" y="3401568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07008" y="33375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Role-based permissions protect access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1005840" y="3950208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07008" y="38862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Support access is restricted and authorized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6309360" y="2852928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10528" y="27889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Hosting options are agreed with the institution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6309360" y="3401568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10528" y="33375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Backup and recovery planning are part of deployment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6309360" y="3950208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10528" y="38862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Audit logs support accountability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1005840" y="4663440"/>
            <a:ext cx="9326880" cy="658368"/>
          </a:xfrm>
          <a:prstGeom prst="roundRect">
            <a:avLst>
              <a:gd name="adj" fmla="val 5556"/>
            </a:avLst>
          </a:prstGeom>
          <a:solidFill>
            <a:srgbClr val="FBF5D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34440" y="4864608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Governance position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234440" y="5230368"/>
            <a:ext cx="8869680" cy="-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Sky High Tech acts as a technology implementation and support partner, not the owner of institutional data.</a:t>
            </a:r>
            <a:endParaRPr lang="en-US" sz="10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pic>
        <p:nvPicPr>
          <p:cNvPr id="3" name="Image 0" descr="/Users/peterjur/Desktop/uniportal/client/public/branding/uniporta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20040"/>
            <a:ext cx="429768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04120" y="4389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presentation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612648" y="6364224"/>
            <a:ext cx="10287000" cy="0"/>
          </a:xfrm>
          <a:prstGeom prst="line">
            <a:avLst/>
          </a:prstGeom>
          <a:noFill/>
          <a:ln w="7620">
            <a:solidFill>
              <a:srgbClr val="D6E0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647395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5D6978"/>
                </a:solidFill>
              </a:rPr>
              <a:t>UniPortal / 16</a:t>
            </a:r>
            <a:endParaRPr lang="en-US" sz="660" dirty="0"/>
          </a:p>
        </p:txBody>
      </p:sp>
      <p:sp>
        <p:nvSpPr>
          <p:cNvPr id="7" name="Text 4"/>
          <p:cNvSpPr/>
          <p:nvPr/>
        </p:nvSpPr>
        <p:spPr>
          <a:xfrm>
            <a:off x="612648" y="960120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54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AND DEPLOYMENT READINESS</a:t>
            </a:r>
            <a:endParaRPr lang="en-US" sz="820" dirty="0"/>
          </a:p>
        </p:txBody>
      </p:sp>
      <p:sp>
        <p:nvSpPr>
          <p:cNvPr id="8" name="Text 5"/>
          <p:cNvSpPr/>
          <p:nvPr/>
        </p:nvSpPr>
        <p:spPr>
          <a:xfrm>
            <a:off x="612648" y="1261872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as a deployed web application, not only a local prototype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874520" cy="731520"/>
          </a:xfrm>
          <a:prstGeom prst="roundRect">
            <a:avLst>
              <a:gd name="adj" fmla="val 5000"/>
            </a:avLst>
          </a:prstGeom>
          <a:solidFill>
            <a:srgbClr val="EAF1F8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28072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JWT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97280" y="3172968"/>
            <a:ext cx="14173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Authentication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3200400" y="2606040"/>
            <a:ext cx="1874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29000" y="28072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RBAC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29000" y="3172968"/>
            <a:ext cx="14173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Role protection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5532120" y="2606040"/>
            <a:ext cx="1874520" cy="731520"/>
          </a:xfrm>
          <a:prstGeom prst="roundRect">
            <a:avLst>
              <a:gd name="adj" fmla="val 5000"/>
            </a:avLst>
          </a:prstGeom>
          <a:solidFill>
            <a:srgbClr val="EAF1F8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0720" y="28072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Helmet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760720" y="3172968"/>
            <a:ext cx="14173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Security headers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7863840" y="2606040"/>
            <a:ext cx="1874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92440" y="28072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CORS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092440" y="3172968"/>
            <a:ext cx="14173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Origin control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868680" y="3749040"/>
            <a:ext cx="1874520" cy="731520"/>
          </a:xfrm>
          <a:prstGeom prst="roundRect">
            <a:avLst>
              <a:gd name="adj" fmla="val 5000"/>
            </a:avLst>
          </a:prstGeom>
          <a:solidFill>
            <a:srgbClr val="EAF1F8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0" y="39502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Rate limit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97280" y="4315968"/>
            <a:ext cx="14173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Auth protection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3200400" y="3749040"/>
            <a:ext cx="1874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29000" y="39502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Health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429000" y="4315968"/>
            <a:ext cx="14173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Endpoint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5532120" y="3749040"/>
            <a:ext cx="1874520" cy="731520"/>
          </a:xfrm>
          <a:prstGeom prst="roundRect">
            <a:avLst>
              <a:gd name="adj" fmla="val 5000"/>
            </a:avLst>
          </a:prstGeom>
          <a:solidFill>
            <a:srgbClr val="EAF1F8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60720" y="39502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Render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760720" y="4315968"/>
            <a:ext cx="14173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Backend</a:t>
            </a:r>
            <a:endParaRPr lang="en-US" sz="1020" dirty="0"/>
          </a:p>
        </p:txBody>
      </p:sp>
      <p:sp>
        <p:nvSpPr>
          <p:cNvPr id="30" name="Shape 27"/>
          <p:cNvSpPr/>
          <p:nvPr/>
        </p:nvSpPr>
        <p:spPr>
          <a:xfrm>
            <a:off x="7863840" y="3749040"/>
            <a:ext cx="1874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092440" y="39502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Vercel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092440" y="4315968"/>
            <a:ext cx="14173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Frontend</a:t>
            </a:r>
            <a:endParaRPr lang="en-US" sz="10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pic>
        <p:nvPicPr>
          <p:cNvPr id="3" name="Image 0" descr="/Users/peterjur/Desktop/uniportal/client/public/branding/uniporta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20040"/>
            <a:ext cx="429768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04120" y="4389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presentation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612648" y="6364224"/>
            <a:ext cx="10287000" cy="0"/>
          </a:xfrm>
          <a:prstGeom prst="line">
            <a:avLst/>
          </a:prstGeom>
          <a:noFill/>
          <a:ln w="7620">
            <a:solidFill>
              <a:srgbClr val="D6E0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647395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5D6978"/>
                </a:solidFill>
              </a:rPr>
              <a:t>UniPortal / 17</a:t>
            </a:r>
            <a:endParaRPr lang="en-US" sz="660" dirty="0"/>
          </a:p>
        </p:txBody>
      </p:sp>
      <p:sp>
        <p:nvSpPr>
          <p:cNvPr id="7" name="Text 4"/>
          <p:cNvSpPr/>
          <p:nvPr/>
        </p:nvSpPr>
        <p:spPr>
          <a:xfrm>
            <a:off x="612648" y="960120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54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MVP PROVES</a:t>
            </a:r>
            <a:endParaRPr lang="en-US" sz="820" dirty="0"/>
          </a:p>
        </p:txBody>
      </p:sp>
      <p:sp>
        <p:nvSpPr>
          <p:cNvPr id="8" name="Text 5"/>
          <p:cNvSpPr/>
          <p:nvPr/>
        </p:nvSpPr>
        <p:spPr>
          <a:xfrm>
            <a:off x="612648" y="1261872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focused institutional registration MVP, not yet a complete production SIS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868680" y="2578608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69848" y="25146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The institution can model its academic structure.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868680" y="2926080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9848" y="28620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Students can be managed with academic identity.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868680" y="3273552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9848" y="3209544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Registration can be controlled by academic session.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868680" y="3621024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69848" y="355701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Registrars can review and approve requests.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868680" y="3968496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9848" y="39044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Decisions can be audited.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868680" y="4315968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9848" y="425196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Approved students can print enrollment slips.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868680" y="4663440"/>
            <a:ext cx="73152" cy="7315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9848" y="45994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Academic records can begin from approved enrollments.</a:t>
            </a:r>
            <a:endParaRPr lang="en-US" sz="1020" dirty="0"/>
          </a:p>
        </p:txBody>
      </p:sp>
      <p:sp>
        <p:nvSpPr>
          <p:cNvPr id="23" name="Shape 20"/>
          <p:cNvSpPr/>
          <p:nvPr/>
        </p:nvSpPr>
        <p:spPr>
          <a:xfrm>
            <a:off x="6995160" y="3931920"/>
            <a:ext cx="3246120" cy="1005840"/>
          </a:xfrm>
          <a:prstGeom prst="roundRect">
            <a:avLst>
              <a:gd name="adj" fmla="val 3636"/>
            </a:avLst>
          </a:prstGeom>
          <a:solidFill>
            <a:srgbClr val="FBF5D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23760" y="413308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Honest positioning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223760" y="449884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UniPortal is ready to demonstrate the registration lifecycle while future SIS modules remain pilot or roadmap items.</a:t>
            </a:r>
            <a:endParaRPr lang="en-US" sz="10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pic>
        <p:nvPicPr>
          <p:cNvPr id="3" name="Image 0" descr="/Users/peterjur/Desktop/uniportal/client/public/branding/uniporta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20040"/>
            <a:ext cx="429768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04120" y="4389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presentation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612648" y="6364224"/>
            <a:ext cx="10287000" cy="0"/>
          </a:xfrm>
          <a:prstGeom prst="line">
            <a:avLst/>
          </a:prstGeom>
          <a:noFill/>
          <a:ln w="7620">
            <a:solidFill>
              <a:srgbClr val="D6E0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647395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5D6978"/>
                </a:solidFill>
              </a:rPr>
              <a:t>UniPortal / 18</a:t>
            </a:r>
            <a:endParaRPr lang="en-US" sz="660" dirty="0"/>
          </a:p>
        </p:txBody>
      </p:sp>
      <p:sp>
        <p:nvSpPr>
          <p:cNvPr id="7" name="Text 4"/>
          <p:cNvSpPr/>
          <p:nvPr/>
        </p:nvSpPr>
        <p:spPr>
          <a:xfrm>
            <a:off x="612648" y="960120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54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AND NEXT STEP</a:t>
            </a:r>
            <a:endParaRPr lang="en-US" sz="820" dirty="0"/>
          </a:p>
        </p:txBody>
      </p:sp>
      <p:sp>
        <p:nvSpPr>
          <p:cNvPr id="8" name="Text 5"/>
          <p:cNvSpPr/>
          <p:nvPr/>
        </p:nvSpPr>
        <p:spPr>
          <a:xfrm>
            <a:off x="612648" y="1261872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Move from successful demo to guided institutional pilot discovery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777240" y="2578608"/>
            <a:ext cx="438912" cy="438912"/>
          </a:xfrm>
          <a:prstGeom prst="ellipse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69748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48640" y="3246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033"/>
                </a:solidFill>
              </a:rPr>
              <a:t>Institutional feedback session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828800" y="2670048"/>
            <a:ext cx="347472" cy="256032"/>
          </a:xfrm>
          <a:prstGeom prst="chevron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52344" y="2578608"/>
            <a:ext cx="438912" cy="438912"/>
          </a:xfrm>
          <a:prstGeom prst="ellipse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52344" y="269748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523744" y="3246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033"/>
                </a:solidFill>
              </a:rPr>
              <a:t>Priority module identification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803904" y="2670048"/>
            <a:ext cx="347472" cy="256032"/>
          </a:xfrm>
          <a:prstGeom prst="chevron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27448" y="2578608"/>
            <a:ext cx="438912" cy="438912"/>
          </a:xfrm>
          <a:prstGeom prst="ellipse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27448" y="269748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498848" y="3246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033"/>
                </a:solidFill>
              </a:rPr>
              <a:t>Guided pilot discovery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779008" y="2670048"/>
            <a:ext cx="347472" cy="256032"/>
          </a:xfrm>
          <a:prstGeom prst="chevron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02552" y="2578608"/>
            <a:ext cx="438912" cy="438912"/>
          </a:xfrm>
          <a:prstGeom prst="ellipse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02552" y="269748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473952" y="3246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033"/>
                </a:solidFill>
              </a:rPr>
              <a:t>Technical and governance discussion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754112" y="2670048"/>
            <a:ext cx="347472" cy="256032"/>
          </a:xfrm>
          <a:prstGeom prst="chevron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677656" y="2578608"/>
            <a:ext cx="438912" cy="438912"/>
          </a:xfrm>
          <a:prstGeom prst="ellipse">
            <a:avLst/>
          </a:prstGeom>
          <a:solidFill>
            <a:srgbClr val="0F548C"/>
          </a:solidFill>
          <a:ln w="12700">
            <a:solidFill>
              <a:srgbClr val="0F548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77656" y="269748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449056" y="3246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033"/>
                </a:solidFill>
              </a:rPr>
              <a:t>Pilot recommendation note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68680" y="4343400"/>
            <a:ext cx="9509760" cy="868680"/>
          </a:xfrm>
          <a:prstGeom prst="roundRect">
            <a:avLst>
              <a:gd name="adj" fmla="val 4211"/>
            </a:avLst>
          </a:prstGeom>
          <a:solidFill>
            <a:srgbClr val="FBF5D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97280" y="4544568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8C"/>
                </a:solidFill>
              </a:rPr>
              <a:t>Closing line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97280" y="4910328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22033"/>
                </a:solidFill>
              </a:rPr>
              <a:t>A practical pathway to university digital transformation - beginning with registration and expanding through partnership.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Sky High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UniPortal Executive Presentation Final</dc:title>
  <dc:subject>UniPortal Executive Presentation</dc:subject>
  <dc:creator>Sky High Tech</dc:creator>
  <cp:lastModifiedBy>Sky High Tech</cp:lastModifiedBy>
  <cp:revision>1</cp:revision>
  <dcterms:created xsi:type="dcterms:W3CDTF">2026-06-01T09:29:06Z</dcterms:created>
  <dcterms:modified xsi:type="dcterms:W3CDTF">2026-06-01T09:29:06Z</dcterms:modified>
</cp:coreProperties>
</file>