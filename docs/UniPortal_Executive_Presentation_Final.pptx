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cd5099faca14bcf" /><Relationship Type="http://schemas.openxmlformats.org/officeDocument/2006/relationships/extended-properties" Target="/docProps/app.xml" Id="R6068034a88734bd7" /><Relationship Type="http://schemas.openxmlformats.org/officeDocument/2006/relationships/officeDocument" Target="/ppt/presentation.xml" Id="Reff0d9c9e84f452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f42b37102cf4f05"/>
  </p:sldMasterIdLst>
  <p:notesMasterIdLst>
    <p:notesMasterId xmlns:r="http://schemas.openxmlformats.org/officeDocument/2006/relationships" r:id="R69e02a1800f448ad"/>
  </p:notesMasterIdLst>
  <p:sldIdLst>
    <p:sldId xmlns:r="http://schemas.openxmlformats.org/officeDocument/2006/relationships" id="256" r:id="Ra05bf463380f4260"/>
    <p:sldId xmlns:r="http://schemas.openxmlformats.org/officeDocument/2006/relationships" id="257" r:id="R96d695ddebc84a71"/>
    <p:sldId xmlns:r="http://schemas.openxmlformats.org/officeDocument/2006/relationships" id="258" r:id="R5dcb1687dcfc42a3"/>
    <p:sldId xmlns:r="http://schemas.openxmlformats.org/officeDocument/2006/relationships" id="259" r:id="R006c33788ab348fd"/>
    <p:sldId xmlns:r="http://schemas.openxmlformats.org/officeDocument/2006/relationships" id="260" r:id="R4c0cd82f7c0b4aa5"/>
    <p:sldId xmlns:r="http://schemas.openxmlformats.org/officeDocument/2006/relationships" id="261" r:id="Rf2aec57f547d49bc"/>
    <p:sldId xmlns:r="http://schemas.openxmlformats.org/officeDocument/2006/relationships" id="262" r:id="R27ff0abb4cfe4703"/>
    <p:sldId xmlns:r="http://schemas.openxmlformats.org/officeDocument/2006/relationships" id="263" r:id="R64b602a83f794466"/>
    <p:sldId xmlns:r="http://schemas.openxmlformats.org/officeDocument/2006/relationships" id="264" r:id="Ra387a14cd5a04a4e"/>
    <p:sldId xmlns:r="http://schemas.openxmlformats.org/officeDocument/2006/relationships" id="265" r:id="R18fe62b16c5d4e1e"/>
    <p:sldId xmlns:r="http://schemas.openxmlformats.org/officeDocument/2006/relationships" id="266" r:id="R4aeeef692a6f4ebd"/>
    <p:sldId xmlns:r="http://schemas.openxmlformats.org/officeDocument/2006/relationships" id="267" r:id="Rc471d8e94ffb4c27"/>
    <p:sldId xmlns:r="http://schemas.openxmlformats.org/officeDocument/2006/relationships" id="268" r:id="R756d98195fa44f66"/>
    <p:sldId xmlns:r="http://schemas.openxmlformats.org/officeDocument/2006/relationships" id="269" r:id="R6cd0f59254eb4d62"/>
    <p:sldId xmlns:r="http://schemas.openxmlformats.org/officeDocument/2006/relationships" id="270" r:id="Rde6afba8a48243e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42b37102cf4f05" /><Relationship Type="http://schemas.openxmlformats.org/officeDocument/2006/relationships/theme" Target="/ppt/theme/theme1.xml" Id="Rde60522259a443fa" /><Relationship Type="http://schemas.openxmlformats.org/officeDocument/2006/relationships/notesMaster" Target="/ppt/notesMasters/notesMaster1.xml" Id="R69e02a1800f448ad" /><Relationship Type="http://schemas.openxmlformats.org/officeDocument/2006/relationships/presProps" Target="/ppt/presProps.xml" Id="Rf2ca2a8b157b424e" /><Relationship Type="http://schemas.openxmlformats.org/officeDocument/2006/relationships/viewProps" Target="/ppt/viewProps.xml" Id="R4bbc78844e3d4fd8" /><Relationship Type="http://schemas.openxmlformats.org/officeDocument/2006/relationships/tableStyles" Target="/ppt/tableStyles.xml" Id="R517c6e04b8aa47ba" /><Relationship Type="http://schemas.openxmlformats.org/officeDocument/2006/relationships/slide" Target="/ppt/slides/slide1.xml" Id="Ra05bf463380f4260" /><Relationship Type="http://schemas.openxmlformats.org/officeDocument/2006/relationships/slide" Target="/ppt/slides/slide2.xml" Id="R96d695ddebc84a71" /><Relationship Type="http://schemas.openxmlformats.org/officeDocument/2006/relationships/slide" Target="/ppt/slides/slide3.xml" Id="R5dcb1687dcfc42a3" /><Relationship Type="http://schemas.openxmlformats.org/officeDocument/2006/relationships/slide" Target="/ppt/slides/slide4.xml" Id="R006c33788ab348fd" /><Relationship Type="http://schemas.openxmlformats.org/officeDocument/2006/relationships/slide" Target="/ppt/slides/slide5.xml" Id="R4c0cd82f7c0b4aa5" /><Relationship Type="http://schemas.openxmlformats.org/officeDocument/2006/relationships/slide" Target="/ppt/slides/slide6.xml" Id="Rf2aec57f547d49bc" /><Relationship Type="http://schemas.openxmlformats.org/officeDocument/2006/relationships/slide" Target="/ppt/slides/slide7.xml" Id="R27ff0abb4cfe4703" /><Relationship Type="http://schemas.openxmlformats.org/officeDocument/2006/relationships/slide" Target="/ppt/slides/slide8.xml" Id="R64b602a83f794466" /><Relationship Type="http://schemas.openxmlformats.org/officeDocument/2006/relationships/slide" Target="/ppt/slides/slide9.xml" Id="Ra387a14cd5a04a4e" /><Relationship Type="http://schemas.openxmlformats.org/officeDocument/2006/relationships/slide" Target="/ppt/slides/slide10.xml" Id="R18fe62b16c5d4e1e" /><Relationship Type="http://schemas.openxmlformats.org/officeDocument/2006/relationships/slide" Target="/ppt/slides/slide11.xml" Id="R4aeeef692a6f4ebd" /><Relationship Type="http://schemas.openxmlformats.org/officeDocument/2006/relationships/slide" Target="/ppt/slides/slide12.xml" Id="Rc471d8e94ffb4c27" /><Relationship Type="http://schemas.openxmlformats.org/officeDocument/2006/relationships/slide" Target="/ppt/slides/slide13.xml" Id="R756d98195fa44f66" /><Relationship Type="http://schemas.openxmlformats.org/officeDocument/2006/relationships/slide" Target="/ppt/slides/slide14.xml" Id="R6cd0f59254eb4d62" /><Relationship Type="http://schemas.openxmlformats.org/officeDocument/2006/relationships/slide" Target="/ppt/slides/slide15.xml" Id="Rde6afba8a48243e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2ed5414df5b429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4a903849a0e4ae0" /><Relationship Type="http://schemas.openxmlformats.org/officeDocument/2006/relationships/notesMaster" Target="/ppt/notesMasters/notesMaster1.xml" Id="R0d4d4086541140f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729490b70a4440d" /><Relationship Type="http://schemas.openxmlformats.org/officeDocument/2006/relationships/notesMaster" Target="/ppt/notesMasters/notesMaster1.xml" Id="Rbe60e33b5bd44cc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56e7637870146bb" /><Relationship Type="http://schemas.openxmlformats.org/officeDocument/2006/relationships/notesMaster" Target="/ppt/notesMasters/notesMaster1.xml" Id="R76df666a89dc4b5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c752929e7e94d2b" /><Relationship Type="http://schemas.openxmlformats.org/officeDocument/2006/relationships/notesMaster" Target="/ppt/notesMasters/notesMaster1.xml" Id="Ra4795432227940b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32c4dd38e134c50" /><Relationship Type="http://schemas.openxmlformats.org/officeDocument/2006/relationships/notesMaster" Target="/ppt/notesMasters/notesMaster1.xml" Id="R522720331ad4405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c8844f6613f4f67" /><Relationship Type="http://schemas.openxmlformats.org/officeDocument/2006/relationships/notesMaster" Target="/ppt/notesMasters/notesMaster1.xml" Id="R2817866b7c304bd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9b1a85422e74eb2" /><Relationship Type="http://schemas.openxmlformats.org/officeDocument/2006/relationships/notesMaster" Target="/ppt/notesMasters/notesMaster1.xml" Id="R460764b21877464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0c526d7d5da4a72" /><Relationship Type="http://schemas.openxmlformats.org/officeDocument/2006/relationships/notesMaster" Target="/ppt/notesMasters/notesMaster1.xml" Id="R6fab71b10d484df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a0d54efcb9943f4" /><Relationship Type="http://schemas.openxmlformats.org/officeDocument/2006/relationships/notesMaster" Target="/ppt/notesMasters/notesMaster1.xml" Id="R75805654f84042e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8e40efcff194b11" /><Relationship Type="http://schemas.openxmlformats.org/officeDocument/2006/relationships/notesMaster" Target="/ppt/notesMasters/notesMaster1.xml" Id="R569a7686d6154f0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f400b0f29814540" /><Relationship Type="http://schemas.openxmlformats.org/officeDocument/2006/relationships/notesMaster" Target="/ppt/notesMasters/notesMaster1.xml" Id="Rcf3ee6bbbacb4b9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5f7ba6124d044c1" /><Relationship Type="http://schemas.openxmlformats.org/officeDocument/2006/relationships/notesMaster" Target="/ppt/notesMasters/notesMaster1.xml" Id="R8b1f5c96163343a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89a35c90dc14bef" /><Relationship Type="http://schemas.openxmlformats.org/officeDocument/2006/relationships/notesMaster" Target="/ppt/notesMasters/notesMaster1.xml" Id="R6f499a8c88da4a4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3a0dd79f90e4822" /><Relationship Type="http://schemas.openxmlformats.org/officeDocument/2006/relationships/notesMaster" Target="/ppt/notesMasters/notesMaster1.xml" Id="Rac54f60f7ea84ba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820eacb9ba64f63" /><Relationship Type="http://schemas.openxmlformats.org/officeDocument/2006/relationships/notesMaster" Target="/ppt/notesMasters/notesMaster1.xml" Id="Rcb82995c068b43a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3a4220a5d54e16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4737a0e6f6604a5c" /><Relationship Type="http://schemas.openxmlformats.org/officeDocument/2006/relationships/slideLayout" Target="/ppt/slideLayouts/slideLayout2.xml" Id="R3e168289a9854cc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e168289a9854cc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af8ccb019684920" /><Relationship Type="http://schemas.openxmlformats.org/officeDocument/2006/relationships/image" Target="/ppt/media/image.png" Id="R9577762f54bb49c2" /><Relationship Type="http://schemas.openxmlformats.org/officeDocument/2006/relationships/notesSlide" Target="/ppt/notesSlides/notesSlide1.xml" Id="Rbebcde83b4f547b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8726376b6d84853" /><Relationship Type="http://schemas.openxmlformats.org/officeDocument/2006/relationships/image" Target="/ppt/media/image2.png" Id="R2eb626d815d942df" /><Relationship Type="http://schemas.openxmlformats.org/officeDocument/2006/relationships/notesSlide" Target="/ppt/notesSlides/notesSlide2.xml" Id="R9ce8fa8d9a75499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e61f9e7e0724e42" /><Relationship Type="http://schemas.openxmlformats.org/officeDocument/2006/relationships/image" Target="/ppt/media/image3.png" Id="R4f430180f02b4df4" /><Relationship Type="http://schemas.openxmlformats.org/officeDocument/2006/relationships/notesSlide" Target="/ppt/notesSlides/notesSlide3.xml" Id="R27c490b6bb45493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ef5a451708f41d8" /><Relationship Type="http://schemas.openxmlformats.org/officeDocument/2006/relationships/image" Target="/ppt/media/image4.png" Id="R5d6aa1bac0b440f5" /><Relationship Type="http://schemas.openxmlformats.org/officeDocument/2006/relationships/notesSlide" Target="/ppt/notesSlides/notesSlide4.xml" Id="R4c174d760867482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3d91def3cc14aa5" /><Relationship Type="http://schemas.openxmlformats.org/officeDocument/2006/relationships/image" Target="/ppt/media/image5.png" Id="R065a6d97e10b4ce2" /><Relationship Type="http://schemas.openxmlformats.org/officeDocument/2006/relationships/notesSlide" Target="/ppt/notesSlides/notesSlide5.xml" Id="R5836433f0cbd41c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3628e1b70354377" /><Relationship Type="http://schemas.openxmlformats.org/officeDocument/2006/relationships/image" Target="/ppt/media/image6.png" Id="R3e75114bdb37421b" /><Relationship Type="http://schemas.openxmlformats.org/officeDocument/2006/relationships/notesSlide" Target="/ppt/notesSlides/notesSlide6.xml" Id="R0b149b33c26b485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0cfc31070a340a0" /><Relationship Type="http://schemas.openxmlformats.org/officeDocument/2006/relationships/image" Target="/ppt/media/image7.png" Id="R1f42fa5f7899443c" /><Relationship Type="http://schemas.openxmlformats.org/officeDocument/2006/relationships/notesSlide" Target="/ppt/notesSlides/notesSlide7.xml" Id="R3cdd50f1d68c4ae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8d2990ac476478e" /><Relationship Type="http://schemas.openxmlformats.org/officeDocument/2006/relationships/image" Target="/ppt/media/image8.png" Id="R345f1288086f4538" /><Relationship Type="http://schemas.openxmlformats.org/officeDocument/2006/relationships/notesSlide" Target="/ppt/notesSlides/notesSlide8.xml" Id="R93ab8c42cc4e4b6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d48af6e1f0740d2" /><Relationship Type="http://schemas.openxmlformats.org/officeDocument/2006/relationships/image" Target="/ppt/media/image9.png" Id="R7eee7fcf49804a9e" /><Relationship Type="http://schemas.openxmlformats.org/officeDocument/2006/relationships/notesSlide" Target="/ppt/notesSlides/notesSlide9.xml" Id="Rc46fd5f1a745482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60a53c30c5740c0" /><Relationship Type="http://schemas.openxmlformats.org/officeDocument/2006/relationships/image" Target="/ppt/media/image10.png" Id="R10b47ffcdbb04695" /><Relationship Type="http://schemas.openxmlformats.org/officeDocument/2006/relationships/notesSlide" Target="/ppt/notesSlides/notesSlide10.xml" Id="Raa68a7495a214cd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e562207d08b417c" /><Relationship Type="http://schemas.openxmlformats.org/officeDocument/2006/relationships/image" Target="/ppt/media/image11.png" Id="Re6f44b460a0940f3" /><Relationship Type="http://schemas.openxmlformats.org/officeDocument/2006/relationships/notesSlide" Target="/ppt/notesSlides/notesSlide11.xml" Id="R844678c16cb1467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3f85355ca104216" /><Relationship Type="http://schemas.openxmlformats.org/officeDocument/2006/relationships/image" Target="/ppt/media/image12.png" Id="Rd572d6d6b8764b5e" /><Relationship Type="http://schemas.openxmlformats.org/officeDocument/2006/relationships/notesSlide" Target="/ppt/notesSlides/notesSlide12.xml" Id="R628613b596094f3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d4b5217fed54704" /><Relationship Type="http://schemas.openxmlformats.org/officeDocument/2006/relationships/image" Target="/ppt/media/image13.png" Id="R26e59bbc96134ab2" /><Relationship Type="http://schemas.openxmlformats.org/officeDocument/2006/relationships/notesSlide" Target="/ppt/notesSlides/notesSlide13.xml" Id="R57dd7ac978254ee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f0ef62d27e341fa" /><Relationship Type="http://schemas.openxmlformats.org/officeDocument/2006/relationships/image" Target="/ppt/media/image14.png" Id="R78be76f26c644a45" /><Relationship Type="http://schemas.openxmlformats.org/officeDocument/2006/relationships/notesSlide" Target="/ppt/notesSlides/notesSlide14.xml" Id="Rc0cd21bd5dfc40c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f8be8e375df46dd" /><Relationship Type="http://schemas.openxmlformats.org/officeDocument/2006/relationships/image" Target="/ppt/media/image15.png" Id="Radb768cadb664b03" /><Relationship Type="http://schemas.openxmlformats.org/officeDocument/2006/relationships/notesSlide" Target="/ppt/notesSlides/notesSlide15.xml" Id="R3a968ca0114246e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49AA3A-0110-4DA1-B915-21A2506F8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201007-30E5-42BF-8EC5-BC1F3D833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51B24D-382E-4571-B254-2596F26E4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12020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77762f54bb49c2"/>
          <a:stretch xmlns:a="http://schemas.openxmlformats.org/drawingml/2006/main"/>
        </p:blipFill>
        <p:spPr>
          <a:xfrm xmlns:a="http://schemas.openxmlformats.org/drawingml/2006/main">
            <a:off x="1428750" y="552450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8C6B73-2A7E-4303-8649-6FBE4FD60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8286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Institutional Student Information and Enrollment Management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532755-365B-42C9-A19B-395F03FF2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24200"/>
            <a:ext cx="666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CEAF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CEAF8"/>
                </a:solidFill>
                <a:latin typeface="Aptos"/>
                <a:ea typeface="Aptos"/>
                <a:cs typeface="Aptos"/>
              </a:rPr>
              <a:t>Prepared for university and college decision-makers.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F3EADC-6E6F-4216-9FFF-EE4467419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0"/>
            <a:ext cx="590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F01D95-28A4-4D5F-AD82-5C1F4235E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43400"/>
            <a:ext cx="7620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FF6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FF6FF"/>
                </a:solidFill>
                <a:latin typeface="Aptos"/>
                <a:ea typeface="Aptos"/>
                <a:cs typeface="Aptos"/>
              </a:rPr>
              <a:t>Focused institutional MVP for academic setup, student management, course registration, registrar approval, enrollment slips, and academic record foundations.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67443C-81D0-4A9B-96EE-3D6F65285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9626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D7A23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7A23A"/>
                </a:solidFill>
                <a:latin typeface="Aptos"/>
                <a:ea typeface="Aptos"/>
                <a:cs typeface="Aptos"/>
              </a:rPr>
              <a:t>Executive demo narrative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8F027A-1B40-4236-AFB1-FDE2BA05A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64ED58-4602-4A3B-B6EA-22D31245C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UniPortal / 01</a:t>
            </a:r>
          </a:p>
        </p:txBody>
      </p:sp>
    </p:spTree>
    <p:extLst>
      <p:ext uri="{BB962C8B-B14F-4D97-AF65-F5344CB8AC3E}">
        <p14:creationId xmlns:p14="http://schemas.microsoft.com/office/powerpoint/2010/main" val="30165379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970138-F240-42AF-8CAE-2A38DE34F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6D41CC-BBFE-4777-BA4A-03CA94295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b626d815d942df"/>
          <a:stretch xmlns:a="http://schemas.openxmlformats.org/drawingml/2006/main"/>
        </p:blipFill>
        <p:spPr>
          <a:xfrm xmlns:a="http://schemas.openxmlformats.org/drawingml/2006/main">
            <a:off x="1100138" y="323850"/>
            <a:ext cx="428625" cy="4286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E8E61B-02A6-4184-A5BD-D2C87CD61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0050"/>
            <a:ext cx="1666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Executive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CC636C-7145-4D26-A13F-21C6BDDFA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4F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4F8A"/>
                </a:solidFill>
                <a:latin typeface="Aptos"/>
                <a:ea typeface="Aptos"/>
                <a:cs typeface="Aptos"/>
              </a:rPr>
              <a:t>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08B24B-E167-4864-8853-B5E7AE7DD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8001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Registration still runs through fragmented tools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164233-D409-4B7C-BD66-DAD462287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7239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Paper forms, spreadsheets, manual approvals, and unclear student communication create avoidable friction.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08C12D-91FF-4EC0-BCC0-99A4DE140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52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C03E9B-D4E0-4C43-B091-F572092E0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76550"/>
            <a:ext cx="6858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Student records are fragmented across offices.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88E626-9A8B-46E9-9F5B-EFEB1D165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004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3FB602-4155-4656-9511-15E88E9ED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24225"/>
            <a:ext cx="6858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Course registration lacks clear approval tracking.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D9AF60-5D30-4E7E-9CE3-5087E2959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48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4A934D-983A-48A0-90FE-3C080D256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6858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Registrars resolve duplicate or incomplete requests manually.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D07600-8D3F-44C7-BD49-340AB5379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957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E07045-5411-4131-B5DE-358C84265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19575"/>
            <a:ext cx="6858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Students do not always know their registration status.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09A092-DD2D-4BD4-9C40-E09A6E760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43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B76A6E-460F-4D43-9306-8DDFBA5B5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67250"/>
            <a:ext cx="6858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Leadership has limited real-time visibility.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C7C0A9-E2AE-4914-A81D-2CCBD7800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911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E9ACB7-69B5-4FAF-85B5-416E342CF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14925"/>
            <a:ext cx="6858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Audit trails are weak or missing.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308E93-29E2-4F6B-9DDD-5A54B626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476500"/>
            <a:ext cx="2381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2FB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C3D488-B64C-4859-AC40-D1E1EE3A0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857500"/>
            <a:ext cx="17716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365F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08365F"/>
                </a:solidFill>
                <a:latin typeface="Aptos Display"/>
                <a:ea typeface="Aptos Display"/>
                <a:cs typeface="Aptos Display"/>
              </a:rPr>
              <a:t>Manual registration creates hidden queues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A803E8-2BF5-4207-90D8-950A1C2D3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57650"/>
            <a:ext cx="1771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The cost is not only time; it is confidence in the institution's data.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D54AE6-A84F-48F6-BBD1-D2634AFAD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F9A687-FEAA-44F5-8157-18C911633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UniPortal / 02</a:t>
            </a:r>
          </a:p>
        </p:txBody>
      </p:sp>
    </p:spTree>
    <p:extLst>
      <p:ext uri="{BB962C8B-B14F-4D97-AF65-F5344CB8AC3E}">
        <p14:creationId xmlns:p14="http://schemas.microsoft.com/office/powerpoint/2010/main" val="58296645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F39EA2-168E-4278-B5FD-6F2D5070A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26DB5A-CC73-4455-8B44-501907584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430180f02b4df4"/>
          <a:stretch xmlns:a="http://schemas.openxmlformats.org/drawingml/2006/main"/>
        </p:blipFill>
        <p:spPr>
          <a:xfrm xmlns:a="http://schemas.openxmlformats.org/drawingml/2006/main">
            <a:off x="1100138" y="323850"/>
            <a:ext cx="428625" cy="4286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96F6AD-3154-40C5-A2C2-8D4E54F42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0050"/>
            <a:ext cx="1666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Executive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D11656-318C-4942-A2F7-C5F25E1C4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4F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4F8A"/>
                </a:solidFill>
                <a:latin typeface="Aptos"/>
                <a:ea typeface="Aptos"/>
                <a:cs typeface="Aptos"/>
              </a:rPr>
              <a:t>THE SOLUTION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AB74DD-F9A2-441E-BBAB-51C7177FD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8001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One web-based system for the core academic registration workflow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97861A-9B61-4E12-9E5F-149A994A6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45910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76DA1F-CFD6-4515-BCBE-5D678D551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00350"/>
            <a:ext cx="4171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Academic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A0D225-2F8A-40C7-B385-3B21573D8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81350"/>
            <a:ext cx="417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Faculties, departments, programs, courses, and active academic sessions.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958074-1D1D-4BE2-A142-3887A2D50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571750"/>
            <a:ext cx="45910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CE7148-8DCB-4D26-A3EE-D03C2C4CF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800350"/>
            <a:ext cx="4171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Student management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C32A1A-9DDD-41C5-80BE-9B3EE13B3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3181350"/>
            <a:ext cx="417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Account creation, profiles, academic identity, and verification status.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9D702A-D716-4D5C-8F06-27FFF8DCF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45910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0F3FD9-7381-4CDE-992C-94399DC9A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86250"/>
            <a:ext cx="4171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Enrollment workflow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4C402F-9FAF-443B-B496-8DEA5A261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67250"/>
            <a:ext cx="417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Student requests, registrar review, structured decisions, and audit logs.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B5E382-D5D9-4C53-B6C0-C63E90982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4057650"/>
            <a:ext cx="45910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5666EB-7AB7-49DA-A05B-ACE781809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4286250"/>
            <a:ext cx="4171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Official outputs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328C0E-3FCC-4BF2-9B88-CF06F4CCF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4667250"/>
            <a:ext cx="417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Printable enrollment slips and academic record foundations from approved enrollments.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E23B3C-001F-4FD4-80B3-7B5F58CFA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8DA3DA-C887-46F7-B475-4F19235BD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UniPortal / 03</a:t>
            </a:r>
          </a:p>
        </p:txBody>
      </p:sp>
    </p:spTree>
    <p:extLst>
      <p:ext uri="{BB962C8B-B14F-4D97-AF65-F5344CB8AC3E}">
        <p14:creationId xmlns:p14="http://schemas.microsoft.com/office/powerpoint/2010/main" val="4625648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FAB27E-24BA-4E94-A310-7D6670332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C02087-7A21-42DA-AFC1-534A1CC8D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6aa1bac0b440f5"/>
          <a:stretch xmlns:a="http://schemas.openxmlformats.org/drawingml/2006/main"/>
        </p:blipFill>
        <p:spPr>
          <a:xfrm xmlns:a="http://schemas.openxmlformats.org/drawingml/2006/main">
            <a:off x="1100138" y="323850"/>
            <a:ext cx="428625" cy="4286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AAEF0F-F953-41B2-9DE2-8BBD85FD8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0050"/>
            <a:ext cx="1666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Executive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372A2A-AD85-4ABC-9F3F-10B520C8D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4F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4F8A"/>
                </a:solidFill>
                <a:latin typeface="Aptos"/>
                <a:ea typeface="Aptos"/>
                <a:cs typeface="Aptos"/>
              </a:rPr>
              <a:t>CURRENT MVP SCOPE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C29860-ECA7-4C21-A4B7-091BD0ECD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8001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The complete registration lifecycle is demonstrable today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FDE9F0-2BC6-4E87-A573-474262DEF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5401D4-FD47-4A07-A1D8-5A0D90596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62250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A57BB1-A7B0-4336-90C7-297BD7DD6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67000"/>
            <a:ext cx="400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Admin sets up faculties, departments, programs, and courses.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2EF5EA-2A8B-46B0-8618-162ACCB18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76575"/>
            <a:ext cx="19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981F0F-C877-40C4-8372-E8AB01E78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62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884C97-40D2-4BE2-86A6-834FA7665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8550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CE2EF7-FC85-45F5-A614-0B69584B9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43300"/>
            <a:ext cx="400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Admin creates or manages student profiles.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2C8F55-B6F0-4B78-B12D-93052F8ED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52875"/>
            <a:ext cx="19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77EBD5-E9C0-454B-ABDB-4981E38F8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386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310C92-B80A-490B-A737-7290F5038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14850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0531EF-E03A-4E11-AA6F-4746C9656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19600"/>
            <a:ext cx="400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Admin opens an academic session for registration.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AB2045-E1C2-45AD-A31C-14D73FD7D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86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14C47A-8F68-4676-B4DB-C9AA907C4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62250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34AD8E-8F74-4C29-B0B5-11B1928A7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667000"/>
            <a:ext cx="400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Student browses courses and submits enrollment requests.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FF09F7-BA00-4AEC-AF2C-EE3D037C4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76575"/>
            <a:ext cx="19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61252E-4A7D-4476-8FCF-0DEFCE31E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562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C6A382-7EB5-47F3-A600-40F9A7D09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38550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B85E57-EF3F-451F-A444-35C4E36E4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543300"/>
            <a:ext cx="400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Registrar approves, rejects, or returns requests.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904125-78FC-4823-918A-4D162BBCD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952875"/>
            <a:ext cx="19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97943A-0513-4B1A-A61B-7279641CD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4386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253DD5-6080-495A-AE8E-63824AD17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514850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8C75D6-5340-4165-84D6-1925B7488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419600"/>
            <a:ext cx="400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Student prints approved enrollment slip; records can begin.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6E97DD-3C4E-497E-981E-EE02F12E3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8A67A79-38F8-4F28-8EE4-0B0580689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UniPortal / 04</a:t>
            </a:r>
          </a:p>
        </p:txBody>
      </p:sp>
    </p:spTree>
    <p:extLst>
      <p:ext uri="{BB962C8B-B14F-4D97-AF65-F5344CB8AC3E}">
        <p14:creationId xmlns:p14="http://schemas.microsoft.com/office/powerpoint/2010/main" val="160689766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784F623-C152-448E-87DB-8A83B72CA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BFBD96-EF77-4B6E-8C23-0FDFDA8C7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5a6d97e10b4ce2"/>
          <a:stretch xmlns:a="http://schemas.openxmlformats.org/drawingml/2006/main"/>
        </p:blipFill>
        <p:spPr>
          <a:xfrm xmlns:a="http://schemas.openxmlformats.org/drawingml/2006/main">
            <a:off x="1100138" y="323850"/>
            <a:ext cx="428625" cy="4286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EBA041-6BEC-4BAD-9360-3658DD6B7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0050"/>
            <a:ext cx="1666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Executive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14E683-6A3B-4114-BFFD-3802CBF09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4F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4F8A"/>
                </a:solidFill>
                <a:latin typeface="Aptos"/>
                <a:ea typeface="Aptos"/>
                <a:cs typeface="Aptos"/>
              </a:rPr>
              <a:t>ROLE-BASED EXPERIENCE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9459E1-44D5-47BB-9940-027D8B366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8001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Access is separated by institutional responsibility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F4B880-1E52-4F62-AFCA-CA16A1568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308610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2FB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F7CB70-2F40-4FD8-A30B-BF5F75CEF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6225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4F8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B4F8A"/>
                </a:solidFill>
                <a:latin typeface="Aptos"/>
                <a:ea typeface="Aptos"/>
                <a:cs typeface="Aptos"/>
              </a:rPr>
              <a:t>INSTITUTIONAL ROLE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240184-EFEB-4889-A210-482B2FCFE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09900"/>
            <a:ext cx="266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Admin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12E8AB-0266-453B-8A67-CD6611DEC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71850"/>
            <a:ext cx="26670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993BC7-7A21-4BF6-8F2D-E3B9B62DA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38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120186-D816-4F4B-8FC5-A90331520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62350"/>
            <a:ext cx="2333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Academic setup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1C91D3-8BDC-4981-9E2F-3240A46E9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62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75246A-739C-4E5B-A3FC-FFAE9B3C7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86200"/>
            <a:ext cx="2333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Student management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BC958E-55EE-415B-A231-D1524648D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86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BED2E4-97D7-4A3E-A9F4-60003273B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10050"/>
            <a:ext cx="2333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Course management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B4C9AA-E085-4828-9695-52CE84568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10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9D5B14-7ED0-4073-945D-F9932139F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33900"/>
            <a:ext cx="2333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Sessions and dashboards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7F32E5-63B7-44DE-99CB-2E8704FD0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90800"/>
            <a:ext cx="308610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BCB81F-3990-4089-AE1B-AE61A6F31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6225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4F8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B4F8A"/>
                </a:solidFill>
                <a:latin typeface="Aptos"/>
                <a:ea typeface="Aptos"/>
                <a:cs typeface="Aptos"/>
              </a:rPr>
              <a:t>INSTITUTIONAL ROLE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DE8137-DB22-49B7-8B4C-C332001E2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009900"/>
            <a:ext cx="266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Registrar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94B17D-9155-418A-98FD-341499CDB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371850"/>
            <a:ext cx="26670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A928A4-39C6-4E25-9877-1CFCA0DD5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638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228663-2CCB-4350-A97F-E8CF0EA42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62350"/>
            <a:ext cx="2333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Enrollment review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78D576-7BD2-482A-BE45-B4CC0E21C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962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85F9A5-4060-46FB-ADA9-8813B911E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86200"/>
            <a:ext cx="2333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Approval decisions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F3ABF6-1CD4-4AF1-8F2A-D6B6E3759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286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1ED3AF-31CE-47B6-BE0C-6D948C744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10050"/>
            <a:ext cx="2333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Audit log review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44B19C-A57E-4500-A735-392A2D104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610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ADC045-7EB4-480B-A5C2-53239AD10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533900"/>
            <a:ext cx="2333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Academic records operations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F809C10-2006-45DB-B598-AF6322DAB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590800"/>
            <a:ext cx="308610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D0E32BE-A681-4F35-B3E3-27B9EB091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76225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4F8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B4F8A"/>
                </a:solidFill>
                <a:latin typeface="Aptos"/>
                <a:ea typeface="Aptos"/>
                <a:cs typeface="Aptos"/>
              </a:rPr>
              <a:t>INSTITUTIONAL ROLE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63DFFDD-2A9F-4639-BACC-DBBE1B806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09900"/>
            <a:ext cx="266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Student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C994EFC-388B-44EC-9FE8-544AB6477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371850"/>
            <a:ext cx="26670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3AD445C-6C8E-432A-8503-C4E303A21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38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071A807-E8BC-469B-9190-5D4017213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562350"/>
            <a:ext cx="2333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Profile update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072154C-4771-44B0-B946-1C0D1C26C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962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4A92678-03FB-4C95-B627-87ADA3C6E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886200"/>
            <a:ext cx="2333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Course browsing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F1A11B0-8AA0-449E-93A8-1ED16BB60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286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4C00E5C-79FF-4085-9A14-E164F82D2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210050"/>
            <a:ext cx="2333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Enrollment request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EA8D9DD-3F8F-417A-8B36-97F744369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610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2915E7A-917C-4150-AD73-38D1F419B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533900"/>
            <a:ext cx="2333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Slips and records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58800D6-0AC7-450D-B430-8D4F9C50B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6D0BAFB-820C-4F75-9917-E1F167306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UniPortal / 05</a:t>
            </a:r>
          </a:p>
        </p:txBody>
      </p:sp>
    </p:spTree>
    <p:extLst>
      <p:ext uri="{BB962C8B-B14F-4D97-AF65-F5344CB8AC3E}">
        <p14:creationId xmlns:p14="http://schemas.microsoft.com/office/powerpoint/2010/main" val="40442330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67D23F-19F3-4D21-8310-911AFBDA7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CFF5D2-EFE3-4E91-8529-90A2559C2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75114bdb37421b"/>
          <a:stretch xmlns:a="http://schemas.openxmlformats.org/drawingml/2006/main"/>
        </p:blipFill>
        <p:spPr>
          <a:xfrm xmlns:a="http://schemas.openxmlformats.org/drawingml/2006/main">
            <a:off x="1100138" y="323850"/>
            <a:ext cx="428625" cy="4286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59B17A-37C6-4ACB-AF19-75E4F5F1B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0050"/>
            <a:ext cx="1666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Executive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264020-5285-48BB-B42B-4B3DC98D8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4F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4F8A"/>
                </a:solidFill>
                <a:latin typeface="Aptos"/>
                <a:ea typeface="Aptos"/>
                <a:cs typeface="Aptos"/>
              </a:rPr>
              <a:t>ADMIN DASHBOARD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017B7C-3E8B-4E9E-92CB-BA5F1FD67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8001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Leadership gets a quick institutional snapshot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54BD01-5CDA-42A4-B5B6-77A36F30C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7239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Administrators can understand registration activity without waiting for manual reports.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58C035-1DBC-40FE-BBA4-825A685CF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19400"/>
            <a:ext cx="2857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108E0B-B40B-4613-976F-5D1CBCA65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2895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4F8A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0B4F8A"/>
                </a:solidFill>
                <a:latin typeface="Aptos Display"/>
                <a:ea typeface="Aptos Display"/>
                <a:cs typeface="Aptos Display"/>
              </a:rPr>
              <a:t>Total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EBB612-DCC3-4B57-AF80-900104283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2900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Students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866CD7-228F-45CE-B83A-89238C897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819400"/>
            <a:ext cx="2857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626C79-6E6F-4A98-938F-1B5FE4C04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02895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4F8A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0B4F8A"/>
                </a:solidFill>
                <a:latin typeface="Aptos Display"/>
                <a:ea typeface="Aptos Display"/>
                <a:cs typeface="Aptos Display"/>
              </a:rPr>
              <a:t>Total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CC8DAD-730E-41C3-97B3-E4F41D060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42900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Courses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03D0B0-C2D7-4587-A957-5AC9184E0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819400"/>
            <a:ext cx="2857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4D4BEA-4DF7-4717-8581-F37FE06A0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02895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4F8A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0B4F8A"/>
                </a:solidFill>
                <a:latin typeface="Aptos Display"/>
                <a:ea typeface="Aptos Display"/>
                <a:cs typeface="Aptos Display"/>
              </a:rPr>
              <a:t>Active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8137B6-9A3D-4E44-8783-DDEBF7ADE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42900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Faculties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A895D8-1399-4C62-A478-D18CB3BF1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52900"/>
            <a:ext cx="2857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E17B68-AC99-4378-B30C-8EC2F0952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6245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4F8A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0B4F8A"/>
                </a:solidFill>
                <a:latin typeface="Aptos Display"/>
                <a:ea typeface="Aptos Display"/>
                <a:cs typeface="Aptos Display"/>
              </a:rPr>
              <a:t>Active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BE312D-FEF2-4CA9-8DB9-CABEB3886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Departments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C26257-27B8-4CBA-B493-096D389E1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152900"/>
            <a:ext cx="2857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B019FB-6F69-4E62-8608-C02F08775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36245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67A5A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67A5A"/>
                </a:solidFill>
                <a:latin typeface="Aptos Display"/>
                <a:ea typeface="Aptos Display"/>
                <a:cs typeface="Aptos Display"/>
              </a:rPr>
              <a:t>By status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1ABBC6-A077-4E9D-9FA5-BB0BEE9ED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76250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Enrollments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22B0BC-3DB1-4565-87B1-28CDBA18E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152900"/>
            <a:ext cx="2857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229286-42C8-4536-99C6-C6211F3BB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36245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4F8A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0B4F8A"/>
                </a:solidFill>
                <a:latin typeface="Aptos Display"/>
                <a:ea typeface="Aptos Display"/>
                <a:cs typeface="Aptos Display"/>
              </a:rPr>
              <a:t>Open / closed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853C1B-8D8B-44B2-A4FE-4D4914EFF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76250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Academic session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B1168A-D382-4440-948F-E552D770F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190D83-9D6A-4E83-A987-C3513F46C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UniPortal / 06</a:t>
            </a:r>
          </a:p>
        </p:txBody>
      </p:sp>
    </p:spTree>
    <p:extLst>
      <p:ext uri="{BB962C8B-B14F-4D97-AF65-F5344CB8AC3E}">
        <p14:creationId xmlns:p14="http://schemas.microsoft.com/office/powerpoint/2010/main" val="111219738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B6B989C-68F5-4938-9779-763DFFC53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E48BE7-B9A3-44F8-AABC-EE1BB22E9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42fa5f7899443c"/>
          <a:stretch xmlns:a="http://schemas.openxmlformats.org/drawingml/2006/main"/>
        </p:blipFill>
        <p:spPr>
          <a:xfrm xmlns:a="http://schemas.openxmlformats.org/drawingml/2006/main">
            <a:off x="1100138" y="323850"/>
            <a:ext cx="428625" cy="4286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A85B6B-DF1F-4A0D-ADB5-FAE1CBD8F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0050"/>
            <a:ext cx="1666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Executive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3FF8BB-FEA8-4AE1-8BDF-D9F447F82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4F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4F8A"/>
                </a:solidFill>
                <a:latin typeface="Aptos"/>
                <a:ea typeface="Aptos"/>
                <a:cs typeface="Aptos"/>
              </a:rPr>
              <a:t>ACADEMIC SETUP AND COURSE MANAGEMENT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6D1E07-FB57-4401-96DB-C41EFF1A2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8001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The academic structure universities expect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D14AC8-39F8-4B51-BDA7-38AB3F107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7239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Faculty -&gt; Department -&gt; Program -&gt; Course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D02E9D-774C-4AA7-87D9-0BD085057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8575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1E3D51-F869-4C80-802B-48EC4E2F6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33700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42B678-21B0-4B5E-8EA1-2C5938633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283845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Faculty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FF704E-DCE8-47F2-B02C-719BA9D29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3000375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1B569E-C4D8-4F41-860F-CF42A25BE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8575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FDA356-3FBF-4F00-9DD2-85DE621F2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933700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DC4C3E-65ED-40B0-BC65-F0FC248B5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283845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Department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0AFD74-98BB-4517-BA7A-DBE8313D9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000375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D758A5-7711-4A6B-AC30-7A696855A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8575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0D8560-8DCA-4513-A5E0-1AB6C24A6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933700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B2849C-6F3C-4330-A537-5C6129D9A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83845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Program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923232-161B-40FB-931F-AFBE8242D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3000375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95B385-2761-4B81-ACB6-76D2026C6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8575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14088F-5318-486B-8658-2B2F52B3F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933700"/>
            <a:ext cx="323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AA4C42-1490-4E48-9BB1-06F301C57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83845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Course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EE869D-E03B-48A9-B98C-9756B588A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62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E44543-7DAF-4E14-AE9A-E6CA02995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86250"/>
            <a:ext cx="895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Create faculties, departments, and programs.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890C81-22F9-4A46-974D-C874AEF07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67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2DFFF4-1065-4FA6-BDBD-F0C97589B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91050"/>
            <a:ext cx="895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Create and edit courses by level and semester.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07FC05-984A-445B-9C66-27F6E2951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72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B82206-B2D7-414C-B4F1-F1FF9EB65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95850"/>
            <a:ext cx="895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Filter courses by academic structure.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115DDE-4C30-40D5-91D9-3083ED760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76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926F6A-C8E2-44EF-89EA-30AFB0122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200650"/>
            <a:ext cx="895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Activate or deactivate courses.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8650044-AA03-4A56-AACC-D3D38C4D2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81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29BA01D-651F-45AF-8F73-3F2C572AE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505450"/>
            <a:ext cx="895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View course detail and enrollment counts.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6664456-C7A2-4FB7-8C30-5C6384369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233870C-F2FF-4AB2-BF08-8DB201FBE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UniPortal / 07</a:t>
            </a:r>
          </a:p>
        </p:txBody>
      </p:sp>
    </p:spTree>
    <p:extLst>
      <p:ext uri="{BB962C8B-B14F-4D97-AF65-F5344CB8AC3E}">
        <p14:creationId xmlns:p14="http://schemas.microsoft.com/office/powerpoint/2010/main" val="85554094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D49D0F-1BC7-450D-AB16-EFFA45C2A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D98F83-6BE8-455F-8382-92F224B62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5f1288086f4538"/>
          <a:stretch xmlns:a="http://schemas.openxmlformats.org/drawingml/2006/main"/>
        </p:blipFill>
        <p:spPr>
          <a:xfrm xmlns:a="http://schemas.openxmlformats.org/drawingml/2006/main">
            <a:off x="1100138" y="323850"/>
            <a:ext cx="428625" cy="4286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A88297-7324-4B02-AE1B-CE49A3987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0050"/>
            <a:ext cx="1666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Executive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37788B-7B15-432F-AF0C-195BC9337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4F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4F8A"/>
                </a:solidFill>
                <a:latin typeface="Aptos"/>
                <a:ea typeface="Aptos"/>
                <a:cs typeface="Aptos"/>
              </a:rPr>
              <a:t>STUDENT MANAGEMENT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176C72-FE15-42F8-B1E3-5947145CD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8001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The institution controls official academic identity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681845-6152-4086-97EB-BAA5B1D19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90800"/>
            <a:ext cx="40005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2FB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362971-A54F-4F5E-B3E5-68EB7D9E7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19400"/>
            <a:ext cx="3581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Student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315DF8-C359-40D0-9A57-3C93BFEEA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00400"/>
            <a:ext cx="35814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Name, email, student ID or registration number, faculty, department, program, level, intake year, guardian/contact information, account status, and verification status.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E35576-6471-4503-A6A4-1097EB8AD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048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5EF35D-8A88-4E94-88B6-AF680FF9C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971800"/>
            <a:ext cx="4762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Admins manage student identity and academic placement.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0CB3D6-F979-42D4-8DFB-C1C11F0B3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543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2B5CF3-6BC2-452A-BD4C-1EF58F31B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467100"/>
            <a:ext cx="4762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Academic verification protects official fields.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8F3A67-8544-4B0B-B79D-8D97AE066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038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192A52-9C9A-4B74-BCD7-54C32469C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962400"/>
            <a:ext cx="4762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Students retain self-service for allowed profile details.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088F43-6341-451A-B461-62A0FBD9D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EB32AA-DD3D-4EF3-A43B-374B220D7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UniPortal / 08</a:t>
            </a:r>
          </a:p>
        </p:txBody>
      </p:sp>
    </p:spTree>
    <p:extLst>
      <p:ext uri="{BB962C8B-B14F-4D97-AF65-F5344CB8AC3E}">
        <p14:creationId xmlns:p14="http://schemas.microsoft.com/office/powerpoint/2010/main" val="44000149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759315-9C81-4E6A-93F7-21F45EC69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369EE3-8B26-48F2-91B0-CB499D2E5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ee7fcf49804a9e"/>
          <a:stretch xmlns:a="http://schemas.openxmlformats.org/drawingml/2006/main"/>
        </p:blipFill>
        <p:spPr>
          <a:xfrm xmlns:a="http://schemas.openxmlformats.org/drawingml/2006/main">
            <a:off x="1100138" y="323850"/>
            <a:ext cx="428625" cy="4286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E947F1-B538-4446-BF2B-A301D317A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0050"/>
            <a:ext cx="1666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Executive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F7034E-BAC5-4DA6-A9BD-EEE537E53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4F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4F8A"/>
                </a:solidFill>
                <a:latin typeface="Aptos"/>
                <a:ea typeface="Aptos"/>
                <a:cs typeface="Aptos"/>
              </a:rPr>
              <a:t>REGISTRAR ENROLLMENT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878699-CE85-4EBE-A69C-9F6DB897A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8001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Enrollment becomes an official approval process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2EB08E-5FF8-4E10-AADD-7EE54941C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F5FEFB-5715-45FA-A099-4D90B5C7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58102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View pending enrollment requests.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D7D31C-3146-4E33-ADF2-AF47F508F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861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7C68E7-89E8-4DEB-A743-A114C2294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09925"/>
            <a:ext cx="58102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Review student profile and academic identity.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920084-1D03-48B4-922F-671162120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7A2FFB-FA53-4F9F-A4B9-4724A2261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38550"/>
            <a:ext cx="58102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Review selected courses and credit total.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06642D-15AE-4C35-9840-8AFCCDF4F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75F72A-A0B7-4FFD-9175-126E55A7B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67175"/>
            <a:ext cx="58102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Approve, reject, or return enrollment for correction.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1D357C-3D37-4BD8-B1AC-18136FAE1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3CCA6D-FA2A-4281-ACA6-B4D13A156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95800"/>
            <a:ext cx="58102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Add structured reasons and decision notes.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132079-ADAD-42F1-BD06-5697B045A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724150"/>
            <a:ext cx="24003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FFA605-3067-4B64-9D09-6A50AC806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86100"/>
            <a:ext cx="1638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791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4A90CA-A506-44A7-9CB9-D58C82E12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152775"/>
            <a:ext cx="12954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7791F"/>
                </a:solidFill>
                <a:latin typeface="Aptos"/>
                <a:ea typeface="Aptos"/>
                <a:cs typeface="Aptos"/>
              </a:rPr>
              <a:t>Pending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7592E5-0387-4057-93D0-74852C03C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505200"/>
            <a:ext cx="1638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7A5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531406-6A21-450E-AF94-40EFE033D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571875"/>
            <a:ext cx="12954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7A5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7A5A"/>
                </a:solidFill>
                <a:latin typeface="Aptos"/>
                <a:ea typeface="Aptos"/>
                <a:cs typeface="Aptos"/>
              </a:rPr>
              <a:t>Approved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76EBDD-98A8-4A0D-94C3-F31C6C2D4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24300"/>
            <a:ext cx="1638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4231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16BCE7-A1B1-48CC-B4DC-BD6E1A892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990975"/>
            <a:ext cx="12954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Rejected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43B5C2-DDF7-449A-9346-C4A263427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343400"/>
            <a:ext cx="1638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4F8A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E2984B-8FC5-4888-BE48-FA22A541A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410075"/>
            <a:ext cx="12954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4F8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4F8A"/>
                </a:solidFill>
                <a:latin typeface="Aptos"/>
                <a:ea typeface="Aptos"/>
                <a:cs typeface="Aptos"/>
              </a:rPr>
              <a:t>Returned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04D5B5-FF93-45CE-BAA3-385CA0518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36FCD1-45A7-4A19-A46F-6DEA1B472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UniPortal / 09</a:t>
            </a:r>
          </a:p>
        </p:txBody>
      </p:sp>
    </p:spTree>
    <p:extLst>
      <p:ext uri="{BB962C8B-B14F-4D97-AF65-F5344CB8AC3E}">
        <p14:creationId xmlns:p14="http://schemas.microsoft.com/office/powerpoint/2010/main" val="32778738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8F49E1-1FA5-48F3-9C3B-C0635CFDD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72D4DC-AB8D-4EFE-AF70-008E13B1C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b47ffcdbb04695"/>
          <a:stretch xmlns:a="http://schemas.openxmlformats.org/drawingml/2006/main"/>
        </p:blipFill>
        <p:spPr>
          <a:xfrm xmlns:a="http://schemas.openxmlformats.org/drawingml/2006/main">
            <a:off x="1100138" y="323850"/>
            <a:ext cx="428625" cy="4286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64918F-2383-4CCC-A64F-9CDC40638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0050"/>
            <a:ext cx="1666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Executive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F7DA49-E4FE-40C7-9C25-EF4132E78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4F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4F8A"/>
                </a:solidFill>
                <a:latin typeface="Aptos"/>
                <a:ea typeface="Aptos"/>
                <a:cs typeface="Aptos"/>
              </a:rPr>
              <a:t>DECISION AUDIT LOG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50FA08-3A12-40B0-87AE-7A37AF671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8001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Every enrollment decision is recorded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96EF7C-34FD-41D5-92F8-656CF069A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47625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11C1B5-CD2D-448E-8468-169AC26A9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4343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Audit log captures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9B993B-FDA7-4F53-9DEC-0E12DD92A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81350"/>
            <a:ext cx="434340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Decision maker, decision time, previous status, new status, reason type, and decision note.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B5E7D7-4400-45FF-838A-3FAF436E3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67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605992-BD09-460F-9341-B7E1D0AC1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90850"/>
            <a:ext cx="400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Supports accountability.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07EC47-7E15-420F-94E3-C2EF4ABFE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543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4F02F4-304C-497D-B71C-E1C5FED23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67100"/>
            <a:ext cx="400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Improves transparency.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C46E86-5910-4A32-81BC-114573CD2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19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4224F8-7F5D-4275-964A-F886DAC37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43350"/>
            <a:ext cx="400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Helps resolve disputes with evidence.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542DD6-380B-4DE5-98DE-06CF7440F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0A0FF9-0FE1-479D-8583-43800C36E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UniPortal / 10</a:t>
            </a:r>
          </a:p>
        </p:txBody>
      </p:sp>
    </p:spTree>
    <p:extLst>
      <p:ext uri="{BB962C8B-B14F-4D97-AF65-F5344CB8AC3E}">
        <p14:creationId xmlns:p14="http://schemas.microsoft.com/office/powerpoint/2010/main" val="131915201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6B8F02-9E23-4B0C-BE4D-B1E707A57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80698C-8BD8-4429-8E6D-80377FB34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f44b460a0940f3"/>
          <a:stretch xmlns:a="http://schemas.openxmlformats.org/drawingml/2006/main"/>
        </p:blipFill>
        <p:spPr>
          <a:xfrm xmlns:a="http://schemas.openxmlformats.org/drawingml/2006/main">
            <a:off x="1100138" y="323850"/>
            <a:ext cx="428625" cy="4286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F52568-88F7-4035-A6B3-CABA20BDF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0050"/>
            <a:ext cx="1666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Executive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E938A8-9348-4897-B598-0303BCD49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4F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4F8A"/>
                </a:solidFill>
                <a:latin typeface="Aptos"/>
                <a:ea typeface="Aptos"/>
                <a:cs typeface="Aptos"/>
              </a:rPr>
              <a:t>STUDENT SELF-SERVICE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171EDD-587C-45C0-ADD8-0C7BDF00D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8001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Students get clarity while offices receive fewer status-check visits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661CCF-EE55-4BF7-AD01-B3A994EF2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19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06136F-CC92-470F-9E16-767D85C25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43200"/>
            <a:ext cx="838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Login securely.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F6E450-4EA6-45D2-89A7-A8AFBC9B7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289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DE67CC-6E2E-4AC0-918F-0CDA1FB8B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52775"/>
            <a:ext cx="838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Update allowed profile fields.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982D07-5AB6-4F98-82E4-2B9B05E76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BCBB85-C341-4D8B-A57B-99342A316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62350"/>
            <a:ext cx="838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Browse available courses.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4F32EA-A7B4-4604-85F5-122B405F1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481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A7DF66-FC04-46FD-A9BA-3B0BDE147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71925"/>
            <a:ext cx="838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Submit enrollment requests.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3DAB15-A066-4E68-AE40-2E578F718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F997FC-9AFD-4C9C-8559-AF4D092D0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81500"/>
            <a:ext cx="838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Track pending, approved, rejected, or correction-required status.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41A780-1B78-49F5-A238-D559B4A83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672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19B6CE-EF3E-4005-A77F-2BE24ACE9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791075"/>
            <a:ext cx="838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Print approved enrollment slips and view academic records.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3E8798-AF97-498E-A44D-5B0A328C5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9733CF-E299-49D6-AC04-7E0D4C197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UniPortal / 11</a:t>
            </a:r>
          </a:p>
        </p:txBody>
      </p:sp>
    </p:spTree>
    <p:extLst>
      <p:ext uri="{BB962C8B-B14F-4D97-AF65-F5344CB8AC3E}">
        <p14:creationId xmlns:p14="http://schemas.microsoft.com/office/powerpoint/2010/main" val="203853498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12B3E2-4226-49DB-AA75-3E4FC8DF8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29651D-FB7D-4786-9D7B-92A5E0739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72d6d6b8764b5e"/>
          <a:stretch xmlns:a="http://schemas.openxmlformats.org/drawingml/2006/main"/>
        </p:blipFill>
        <p:spPr>
          <a:xfrm xmlns:a="http://schemas.openxmlformats.org/drawingml/2006/main">
            <a:off x="1100138" y="323850"/>
            <a:ext cx="428625" cy="4286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52B5CB-D1AE-400C-8E88-B9CCC8D99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0050"/>
            <a:ext cx="1666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Executive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6FBAD8-6F3C-4AB6-BE7F-07C8476D5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4F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4F8A"/>
                </a:solidFill>
                <a:latin typeface="Aptos"/>
                <a:ea typeface="Aptos"/>
                <a:cs typeface="Aptos"/>
              </a:rPr>
              <a:t>PRINTABLE ENROLLMENT SLIP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21EB36-F2CB-44EF-9A65-61B732BE9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8001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Approved enrollments produce branded proof of registration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950655-64F1-4AF1-B586-67B87A301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4143375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2FB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D6ED2B-6328-4486-8B8B-DCEC30EF0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57500"/>
            <a:ext cx="37242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Slip contents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97BAF5-66BA-480E-9CBA-E3D8C12ED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38500"/>
            <a:ext cx="372427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Student identity, academic year and semester, faculty, department, program, level, approved courses, credit hours, total credits, approval status, decision date, and reviewer.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B2F538-4CDF-4212-96B9-43DE015CA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181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BDB6C4-DB46-4A39-BB43-0B59E5F5E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105150"/>
            <a:ext cx="44767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Provides official proof for students.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9AFC12-82CD-4177-B005-6370221FB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657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1762D8-BEB4-4CC8-87B8-0C9E7D037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581400"/>
            <a:ext cx="44767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Supports departments and administrative offices.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926C22-303F-43CC-9100-7EFA598B1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133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1CD83F-365D-4744-B00B-90983DD57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057650"/>
            <a:ext cx="44767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Turns approval into a usable institutional document.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FC76AC-8B63-4FF6-9C54-713B8FE2D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21CEB4-BDD0-4C6B-8DAC-1DBE3F5E1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UniPortal / 12</a:t>
            </a:r>
          </a:p>
        </p:txBody>
      </p:sp>
    </p:spTree>
    <p:extLst>
      <p:ext uri="{BB962C8B-B14F-4D97-AF65-F5344CB8AC3E}">
        <p14:creationId xmlns:p14="http://schemas.microsoft.com/office/powerpoint/2010/main" val="1956821894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7E51E99-5346-43A4-B305-73E13A0B6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36BA62-AB53-4F7D-8E79-6917686B7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e59bbc96134ab2"/>
          <a:stretch xmlns:a="http://schemas.openxmlformats.org/drawingml/2006/main"/>
        </p:blipFill>
        <p:spPr>
          <a:xfrm xmlns:a="http://schemas.openxmlformats.org/drawingml/2006/main">
            <a:off x="1100138" y="323850"/>
            <a:ext cx="428625" cy="4286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F55449-8106-4D52-8022-DFAF87F22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0050"/>
            <a:ext cx="1666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Executive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9AA7F3-DDED-4B1B-BACF-E9C6B0F41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4F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4F8A"/>
                </a:solidFill>
                <a:latin typeface="Aptos"/>
                <a:ea typeface="Aptos"/>
                <a:cs typeface="Aptos"/>
              </a:rPr>
              <a:t>SECURITY AND DEPLOYMENT READINESS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3D1F2C-A051-4AC2-AC4E-9D26E7D82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8001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Built as a deployed web application, not only a local prototype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01B2D9-348C-408E-8A5D-1C4E89136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7B60DA-3500-4C68-81FB-967B78B19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90850"/>
            <a:ext cx="171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67A5A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67A5A"/>
                </a:solidFill>
                <a:latin typeface="Aptos Display"/>
                <a:ea typeface="Aptos Display"/>
                <a:cs typeface="Aptos Display"/>
              </a:rPr>
              <a:t>JWT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B2D299-C35D-46E2-A179-1CAD8353B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909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Authentication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F7ECF4-CDFC-451A-A9F1-CF8FE2BE8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781300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4A7C55-D325-4AA5-97B1-15547E518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990850"/>
            <a:ext cx="171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67A5A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67A5A"/>
                </a:solidFill>
                <a:latin typeface="Aptos Display"/>
                <a:ea typeface="Aptos Display"/>
                <a:cs typeface="Aptos Display"/>
              </a:rPr>
              <a:t>RBAC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E5A844-5071-4C67-A0F1-5EB9DBE46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3909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Role protection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31C19D-34E6-4296-AA08-9E52D2737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781300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831818-53B4-450F-92AB-967AC49AC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990850"/>
            <a:ext cx="171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4F8A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0B4F8A"/>
                </a:solidFill>
                <a:latin typeface="Aptos Display"/>
                <a:ea typeface="Aptos Display"/>
                <a:cs typeface="Aptos Display"/>
              </a:rPr>
              <a:t>Helmet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7CE6E5-5E22-4B20-92F0-CAB0B18E2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3909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Security headers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002578-363D-4ABB-A1A8-609940D9A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81300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C72983-DC5D-4100-BECF-85409D332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990850"/>
            <a:ext cx="171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4F8A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0B4F8A"/>
                </a:solidFill>
                <a:latin typeface="Aptos Display"/>
                <a:ea typeface="Aptos Display"/>
                <a:cs typeface="Aptos Display"/>
              </a:rPr>
              <a:t>CORS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C753C9-AC04-4ADB-94F6-3698DFD7C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3909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Origin control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7506A1-404D-4459-8A10-3711A7B4F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19550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EF5D12-8546-4734-8902-4E5D8F186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29100"/>
            <a:ext cx="171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4F8A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0B4F8A"/>
                </a:solidFill>
                <a:latin typeface="Aptos Display"/>
                <a:ea typeface="Aptos Display"/>
                <a:cs typeface="Aptos Display"/>
              </a:rPr>
              <a:t>Rate limit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3C352E-E8E3-4A85-84C4-A28B4557A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2915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Auth protection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26DC8D-5D09-4EA0-969B-36B88F44C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019550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2EBA90-EBEC-49B9-B0A1-8ECFFF20D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229100"/>
            <a:ext cx="171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4F8A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0B4F8A"/>
                </a:solidFill>
                <a:latin typeface="Aptos Display"/>
                <a:ea typeface="Aptos Display"/>
                <a:cs typeface="Aptos Display"/>
              </a:rPr>
              <a:t>Health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EF3E67-0379-4783-9944-E6A35D828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62915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Endpoint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EE4DD9-E950-48F3-AAAE-1BF3C23E8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019550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07F6DB-7EE0-4BAA-94E0-47CF064D2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229100"/>
            <a:ext cx="171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4F8A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0B4F8A"/>
                </a:solidFill>
                <a:latin typeface="Aptos Display"/>
                <a:ea typeface="Aptos Display"/>
                <a:cs typeface="Aptos Display"/>
              </a:rPr>
              <a:t>Render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4C2822-0681-45F7-B67D-1306BCD93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62915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917215-31B1-41F5-9A41-B4D444678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019550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E3DB3E-D86A-4AC7-B6D3-AB307710B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229100"/>
            <a:ext cx="171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4F8A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0B4F8A"/>
                </a:solidFill>
                <a:latin typeface="Aptos Display"/>
                <a:ea typeface="Aptos Display"/>
                <a:cs typeface="Aptos Display"/>
              </a:rPr>
              <a:t>Vercel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41051E-7246-4392-8568-F6A0A6C82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62915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C50B223-FBAF-4DBF-91C2-B2B7024DF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8E4F631-4E5C-44F8-84DD-1208B9FDB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UniPortal / 13</a:t>
            </a:r>
          </a:p>
        </p:txBody>
      </p:sp>
    </p:spTree>
    <p:extLst>
      <p:ext uri="{BB962C8B-B14F-4D97-AF65-F5344CB8AC3E}">
        <p14:creationId xmlns:p14="http://schemas.microsoft.com/office/powerpoint/2010/main" val="892666991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4B1F15-DA6C-4AB6-805C-6995D1EAC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C47AB5-32FE-4C9A-A34A-03CDDBE37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be76f26c644a45"/>
          <a:stretch xmlns:a="http://schemas.openxmlformats.org/drawingml/2006/main"/>
        </p:blipFill>
        <p:spPr>
          <a:xfrm xmlns:a="http://schemas.openxmlformats.org/drawingml/2006/main">
            <a:off x="1100138" y="323850"/>
            <a:ext cx="428625" cy="4286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74E77E-F019-4045-ADE9-162304123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0050"/>
            <a:ext cx="1666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Executive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FAF6F6-B506-4B5E-89F2-7540F837A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4F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4F8A"/>
                </a:solidFill>
                <a:latin typeface="Aptos"/>
                <a:ea typeface="Aptos"/>
                <a:cs typeface="Aptos"/>
              </a:rPr>
              <a:t>WHAT THIS MVP PROVES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FE382C-0314-4469-872C-BF6EF1FD0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8001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A serious institutional registration MVP, not yet a complete production SIS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1F7046-E033-4D26-9951-E06CC3E67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76A00B-1282-4760-A177-7DB3C752E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05100"/>
            <a:ext cx="67151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The institution can model its academic structure.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31B673-D0CE-4810-B0F2-A394C54D7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24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6039AE-B243-436E-A7BF-EA43B2380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48000"/>
            <a:ext cx="67151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Students can be managed with academic identity.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AF87A8-AEAB-4C47-A1A3-77ADBDD03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67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24A3CE-561F-467F-BF0D-08C90808D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90900"/>
            <a:ext cx="67151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Registration can be controlled by academic session.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E3AA1D-B074-4E73-98BB-ACB4F413D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0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A9A7C3-21B1-4DB6-9A95-D71C0F62B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33800"/>
            <a:ext cx="67151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Registrars can review and approve requests.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52FD4C-48B8-4C1D-B1EC-18F49A4B8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52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2BDC3A-FC7F-4EF8-ACFF-2B6D17DBC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76700"/>
            <a:ext cx="67151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Decisions can be audited.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3CC68E-F92E-48C0-907E-C261514B2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95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8BF531-616A-416C-9EDD-98ECE4A44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19600"/>
            <a:ext cx="67151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Approved students can print enrollment slips.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EAA837-3369-47D6-808E-41BF1FB98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38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B3D446-5F84-46E2-83B1-9A8BFA8F3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62500"/>
            <a:ext cx="67151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33"/>
                </a:solidFill>
                <a:latin typeface="Aptos"/>
                <a:ea typeface="Aptos"/>
                <a:cs typeface="Aptos"/>
              </a:rPr>
              <a:t>Academic records can begin from approved enrollments.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D0660E-A1B5-4443-9EF6-4C24D1E3C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57500"/>
            <a:ext cx="252412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2FB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742AA3-C641-4FE4-8052-C9AA790D2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86100"/>
            <a:ext cx="21050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Honest positioning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971674-DF32-4E08-ABCD-F4A35C13B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467100"/>
            <a:ext cx="21050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UniPortal is ready to demonstrate the registration lifecycle while future SIS modules remain pilot or roadmap items.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CB8C4E-3C67-4C23-B10C-DAD0910FD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C9DDEF-1518-40CA-A493-2136A9403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UniPortal / 14</a:t>
            </a:r>
          </a:p>
        </p:txBody>
      </p:sp>
    </p:spTree>
    <p:extLst>
      <p:ext uri="{BB962C8B-B14F-4D97-AF65-F5344CB8AC3E}">
        <p14:creationId xmlns:p14="http://schemas.microsoft.com/office/powerpoint/2010/main" val="1431823144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AB1E27-75D1-4DEF-A3FA-E1AD85FD3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4D503C-31DA-473E-B7C5-2684A2511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F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b768cadb664b03"/>
          <a:stretch xmlns:a="http://schemas.openxmlformats.org/drawingml/2006/main"/>
        </p:blipFill>
        <p:spPr>
          <a:xfrm xmlns:a="http://schemas.openxmlformats.org/drawingml/2006/main">
            <a:off x="1100138" y="323850"/>
            <a:ext cx="428625" cy="4286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739E5D-4D82-49D6-83A9-84B9BA937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0050"/>
            <a:ext cx="1666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Executive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4720DE-3599-4E69-82C3-EA06A3B1D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4F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4F8A"/>
                </a:solidFill>
                <a:latin typeface="Aptos"/>
                <a:ea typeface="Aptos"/>
                <a:cs typeface="Aptos"/>
              </a:rPr>
              <a:t>ROADMAP AND NEXT STEP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911EBD-85C3-4490-AF76-42B7A5633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8001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2033"/>
                </a:solidFill>
                <a:latin typeface="Aptos Display"/>
                <a:ea typeface="Aptos Display"/>
                <a:cs typeface="Aptos Display"/>
              </a:rPr>
              <a:t>Move from successful demo to guided institutional pilot discovery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935DA1-77FC-4E64-ABDE-01D05B1E4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19350"/>
            <a:ext cx="31432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C39EB1-5BA4-4034-8CCA-409067270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90800"/>
            <a:ext cx="2724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4F8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B4F8A"/>
                </a:solidFill>
                <a:latin typeface="Aptos"/>
                <a:ea typeface="Aptos"/>
                <a:cs typeface="Aptos"/>
              </a:rPr>
              <a:t>NEXT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3C95B8-5449-42E9-8674-154D49EDC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38450"/>
            <a:ext cx="2724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Immediate pilot priorities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0B7450-5324-43D1-B563-DCA17514C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00400"/>
            <a:ext cx="27241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Reports and exports, course rosters, admissions/intake management, password reset, broader audit logging, and CSV import.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145B34-EBEC-4DCB-AE9C-7B5AAD45F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419350"/>
            <a:ext cx="31432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93693B-AFA1-4DCD-B9D3-5BDC936F5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90800"/>
            <a:ext cx="2724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4F8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B4F8A"/>
                </a:solidFill>
                <a:latin typeface="Aptos"/>
                <a:ea typeface="Aptos"/>
                <a:cs typeface="Aptos"/>
              </a:rPr>
              <a:t>ROADMAP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DBBB26-CD69-461D-B70A-B3CC0D81F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838450"/>
            <a:ext cx="2724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Pilot expansion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747060-D582-47CC-946F-005AB63A9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200400"/>
            <a:ext cx="27241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Lecturer portal, grade submission workflow, transcript generation, timetable and scheduling, notifications, and document uploads.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737390-17DD-4B67-9D0D-898E88CB8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419350"/>
            <a:ext cx="31432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2FB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92EABD-1518-4A65-95D0-8A1A99B58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590800"/>
            <a:ext cx="2724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4F8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B4F8A"/>
                </a:solidFill>
                <a:latin typeface="Aptos"/>
                <a:ea typeface="Aptos"/>
                <a:cs typeface="Aptos"/>
              </a:rPr>
              <a:t>PILOT PHASE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189032-0CBE-484C-B80C-D25894082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838450"/>
            <a:ext cx="2724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033"/>
                </a:solidFill>
                <a:latin typeface="Aptos"/>
                <a:ea typeface="Aptos"/>
                <a:cs typeface="Aptos"/>
              </a:rPr>
              <a:t>Institutional modules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02B0D3-474E-47A7-9F3B-EFEB17F29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200400"/>
            <a:ext cx="27241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Finance: payment tracking, financial clearance, fee foundation. Lecturer: assigned courses, rosters, grade submission. Dean/HOD: oversight, analytics, academic approval visibility.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55331A-A40E-449D-9265-53C585AFC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53050"/>
            <a:ext cx="971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365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8365F"/>
                </a:solidFill>
                <a:latin typeface="Aptos"/>
                <a:ea typeface="Aptos"/>
                <a:cs typeface="Aptos"/>
              </a:rPr>
              <a:t>Recommended next step: run a guided pilot discovery to map real registration policies, reporting needs, roles, and required data imports.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456001-DE5A-4733-92EB-71609B00E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61A2F9-D7AA-4C32-8026-562FF6023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B7A"/>
                </a:solidFill>
                <a:latin typeface="Aptos"/>
                <a:ea typeface="Aptos"/>
                <a:cs typeface="Aptos"/>
              </a:rPr>
              <a:t>UniPortal / 15</a:t>
            </a:r>
          </a:p>
        </p:txBody>
      </p:sp>
    </p:spTree>
    <p:extLst>
      <p:ext uri="{BB962C8B-B14F-4D97-AF65-F5344CB8AC3E}">
        <p14:creationId xmlns:p14="http://schemas.microsoft.com/office/powerpoint/2010/main" val="12598974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2026-05-25T19:19:55.3420000Z</dcterms:created>
  <dcterms:modified xsi:type="dcterms:W3CDTF">2026-05-25T19:19:55.3420000Z</dcterms:modified>
</coreProperties>
</file>