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e8935ca02f484f" /><Relationship Type="http://schemas.openxmlformats.org/officeDocument/2006/relationships/extended-properties" Target="/docProps/app.xml" Id="Ra3c32b1427974694" /><Relationship Type="http://schemas.openxmlformats.org/officeDocument/2006/relationships/officeDocument" Target="/ppt/presentation.xml" Id="Rcd51ca0d8eae45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a7d159b5af44bd"/>
  </p:sldMasterIdLst>
  <p:notesMasterIdLst>
    <p:notesMasterId xmlns:r="http://schemas.openxmlformats.org/officeDocument/2006/relationships" r:id="R7822f0bcdf004b64"/>
  </p:notesMasterIdLst>
  <p:sldIdLst>
    <p:sldId xmlns:r="http://schemas.openxmlformats.org/officeDocument/2006/relationships" id="256" r:id="R9a5aae46892b4a41"/>
    <p:sldId xmlns:r="http://schemas.openxmlformats.org/officeDocument/2006/relationships" id="257" r:id="R119873bde4394f1a"/>
    <p:sldId xmlns:r="http://schemas.openxmlformats.org/officeDocument/2006/relationships" id="258" r:id="R305b82dd6bce4b7b"/>
    <p:sldId xmlns:r="http://schemas.openxmlformats.org/officeDocument/2006/relationships" id="259" r:id="R56cc0439d864488b"/>
    <p:sldId xmlns:r="http://schemas.openxmlformats.org/officeDocument/2006/relationships" id="260" r:id="Rec014bc0db7242db"/>
    <p:sldId xmlns:r="http://schemas.openxmlformats.org/officeDocument/2006/relationships" id="261" r:id="R2e6b87b6b74b4f2e"/>
    <p:sldId xmlns:r="http://schemas.openxmlformats.org/officeDocument/2006/relationships" id="262" r:id="Rd7cb406a62444fc3"/>
    <p:sldId xmlns:r="http://schemas.openxmlformats.org/officeDocument/2006/relationships" id="263" r:id="R28f3376125ca4ed8"/>
    <p:sldId xmlns:r="http://schemas.openxmlformats.org/officeDocument/2006/relationships" id="264" r:id="R87f7f1ca2f544c7e"/>
    <p:sldId xmlns:r="http://schemas.openxmlformats.org/officeDocument/2006/relationships" id="265" r:id="R1d6f57adeac84c43"/>
    <p:sldId xmlns:r="http://schemas.openxmlformats.org/officeDocument/2006/relationships" id="266" r:id="R2cca749ec81f4096"/>
    <p:sldId xmlns:r="http://schemas.openxmlformats.org/officeDocument/2006/relationships" id="267" r:id="Rd910c48ea4d14382"/>
    <p:sldId xmlns:r="http://schemas.openxmlformats.org/officeDocument/2006/relationships" id="268" r:id="R0f838372fd5746d2"/>
    <p:sldId xmlns:r="http://schemas.openxmlformats.org/officeDocument/2006/relationships" id="269" r:id="R00f1c14e626a40cd"/>
    <p:sldId xmlns:r="http://schemas.openxmlformats.org/officeDocument/2006/relationships" id="270" r:id="R8cc99787ed854f9d"/>
    <p:sldId xmlns:r="http://schemas.openxmlformats.org/officeDocument/2006/relationships" id="271" r:id="Rb402bef411a24226"/>
    <p:sldId xmlns:r="http://schemas.openxmlformats.org/officeDocument/2006/relationships" id="272" r:id="R530d1d68e8744834"/>
    <p:sldId xmlns:r="http://schemas.openxmlformats.org/officeDocument/2006/relationships" id="273" r:id="R03c87044d99141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7d159b5af44bd" /><Relationship Type="http://schemas.openxmlformats.org/officeDocument/2006/relationships/theme" Target="/ppt/theme/theme1.xml" Id="Rbdc831a8247b4d13" /><Relationship Type="http://schemas.openxmlformats.org/officeDocument/2006/relationships/notesMaster" Target="/ppt/notesMasters/notesMaster1.xml" Id="R7822f0bcdf004b64" /><Relationship Type="http://schemas.openxmlformats.org/officeDocument/2006/relationships/presProps" Target="/ppt/presProps.xml" Id="R00dc7bcc9a534b73" /><Relationship Type="http://schemas.openxmlformats.org/officeDocument/2006/relationships/viewProps" Target="/ppt/viewProps.xml" Id="Rd08d5311b0d24492" /><Relationship Type="http://schemas.openxmlformats.org/officeDocument/2006/relationships/tableStyles" Target="/ppt/tableStyles.xml" Id="Re6105caec6204a30" /><Relationship Type="http://schemas.openxmlformats.org/officeDocument/2006/relationships/slide" Target="/ppt/slides/slide1.xml" Id="R9a5aae46892b4a41" /><Relationship Type="http://schemas.openxmlformats.org/officeDocument/2006/relationships/slide" Target="/ppt/slides/slide2.xml" Id="R119873bde4394f1a" /><Relationship Type="http://schemas.openxmlformats.org/officeDocument/2006/relationships/slide" Target="/ppt/slides/slide3.xml" Id="R305b82dd6bce4b7b" /><Relationship Type="http://schemas.openxmlformats.org/officeDocument/2006/relationships/slide" Target="/ppt/slides/slide4.xml" Id="R56cc0439d864488b" /><Relationship Type="http://schemas.openxmlformats.org/officeDocument/2006/relationships/slide" Target="/ppt/slides/slide5.xml" Id="Rec014bc0db7242db" /><Relationship Type="http://schemas.openxmlformats.org/officeDocument/2006/relationships/slide" Target="/ppt/slides/slide6.xml" Id="R2e6b87b6b74b4f2e" /><Relationship Type="http://schemas.openxmlformats.org/officeDocument/2006/relationships/slide" Target="/ppt/slides/slide7.xml" Id="Rd7cb406a62444fc3" /><Relationship Type="http://schemas.openxmlformats.org/officeDocument/2006/relationships/slide" Target="/ppt/slides/slide8.xml" Id="R28f3376125ca4ed8" /><Relationship Type="http://schemas.openxmlformats.org/officeDocument/2006/relationships/slide" Target="/ppt/slides/slide9.xml" Id="R87f7f1ca2f544c7e" /><Relationship Type="http://schemas.openxmlformats.org/officeDocument/2006/relationships/slide" Target="/ppt/slides/slide10.xml" Id="R1d6f57adeac84c43" /><Relationship Type="http://schemas.openxmlformats.org/officeDocument/2006/relationships/slide" Target="/ppt/slides/slide11.xml" Id="R2cca749ec81f4096" /><Relationship Type="http://schemas.openxmlformats.org/officeDocument/2006/relationships/slide" Target="/ppt/slides/slide12.xml" Id="Rd910c48ea4d14382" /><Relationship Type="http://schemas.openxmlformats.org/officeDocument/2006/relationships/slide" Target="/ppt/slides/slide13.xml" Id="R0f838372fd5746d2" /><Relationship Type="http://schemas.openxmlformats.org/officeDocument/2006/relationships/slide" Target="/ppt/slides/slide14.xml" Id="R00f1c14e626a40cd" /><Relationship Type="http://schemas.openxmlformats.org/officeDocument/2006/relationships/slide" Target="/ppt/slides/slide15.xml" Id="R8cc99787ed854f9d" /><Relationship Type="http://schemas.openxmlformats.org/officeDocument/2006/relationships/slide" Target="/ppt/slides/slide16.xml" Id="Rb402bef411a24226" /><Relationship Type="http://schemas.openxmlformats.org/officeDocument/2006/relationships/slide" Target="/ppt/slides/slide17.xml" Id="R530d1d68e8744834" /><Relationship Type="http://schemas.openxmlformats.org/officeDocument/2006/relationships/slide" Target="/ppt/slides/slide18.xml" Id="R03c87044d99141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64ed4a58edd4e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84f0e840f34545" /><Relationship Type="http://schemas.openxmlformats.org/officeDocument/2006/relationships/notesMaster" Target="/ppt/notesMasters/notesMaster1.xml" Id="R90d2ddb1bc5249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5579b23af54de9" /><Relationship Type="http://schemas.openxmlformats.org/officeDocument/2006/relationships/notesMaster" Target="/ppt/notesMasters/notesMaster1.xml" Id="R6f0be70d27044d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dddd22d39e4ed2" /><Relationship Type="http://schemas.openxmlformats.org/officeDocument/2006/relationships/notesMaster" Target="/ppt/notesMasters/notesMaster1.xml" Id="R9b224af1959d42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06dc03dbe84551" /><Relationship Type="http://schemas.openxmlformats.org/officeDocument/2006/relationships/notesMaster" Target="/ppt/notesMasters/notesMaster1.xml" Id="R8644da40cd2346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a1d670ad33419a" /><Relationship Type="http://schemas.openxmlformats.org/officeDocument/2006/relationships/notesMaster" Target="/ppt/notesMasters/notesMaster1.xml" Id="Rbb1fb77331f64c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2efdc38bc14ce2" /><Relationship Type="http://schemas.openxmlformats.org/officeDocument/2006/relationships/notesMaster" Target="/ppt/notesMasters/notesMaster1.xml" Id="Raf6b538db12d4e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3c04b19e1a48bd" /><Relationship Type="http://schemas.openxmlformats.org/officeDocument/2006/relationships/notesMaster" Target="/ppt/notesMasters/notesMaster1.xml" Id="Re46febf6f3a043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17931d37e94c49" /><Relationship Type="http://schemas.openxmlformats.org/officeDocument/2006/relationships/notesMaster" Target="/ppt/notesMasters/notesMaster1.xml" Id="R01215d8622384f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cdc8ca916c4cef" /><Relationship Type="http://schemas.openxmlformats.org/officeDocument/2006/relationships/notesMaster" Target="/ppt/notesMasters/notesMaster1.xml" Id="R647957eb922548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183ee68f4942f9" /><Relationship Type="http://schemas.openxmlformats.org/officeDocument/2006/relationships/notesMaster" Target="/ppt/notesMasters/notesMaster1.xml" Id="R35fc8e6f049549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a3bd5a9dbd47b6" /><Relationship Type="http://schemas.openxmlformats.org/officeDocument/2006/relationships/notesMaster" Target="/ppt/notesMasters/notesMaster1.xml" Id="R2306de4956e948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edff251d734ff8" /><Relationship Type="http://schemas.openxmlformats.org/officeDocument/2006/relationships/notesMaster" Target="/ppt/notesMasters/notesMaster1.xml" Id="Ref32591ec50747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dbb82746fb4165" /><Relationship Type="http://schemas.openxmlformats.org/officeDocument/2006/relationships/notesMaster" Target="/ppt/notesMasters/notesMaster1.xml" Id="Rf6fb1b5c2d6140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3349968df8459c" /><Relationship Type="http://schemas.openxmlformats.org/officeDocument/2006/relationships/notesMaster" Target="/ppt/notesMasters/notesMaster1.xml" Id="Rc3ed5ba972d442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5cbdda10924898" /><Relationship Type="http://schemas.openxmlformats.org/officeDocument/2006/relationships/notesMaster" Target="/ppt/notesMasters/notesMaster1.xml" Id="R7513f314dd174d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8ba25e06544d02" /><Relationship Type="http://schemas.openxmlformats.org/officeDocument/2006/relationships/notesMaster" Target="/ppt/notesMasters/notesMaster1.xml" Id="Rb8fd732778684c1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b57bc4ffb24cb3" /><Relationship Type="http://schemas.openxmlformats.org/officeDocument/2006/relationships/notesMaster" Target="/ppt/notesMasters/notesMaster1.xml" Id="R7fee42be9c374f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2f413ba21c64bdd" /><Relationship Type="http://schemas.openxmlformats.org/officeDocument/2006/relationships/notesMaster" Target="/ppt/notesMasters/notesMaster1.xml" Id="Ra798fc668d2c43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e269028214ad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8095d52066f4238" /><Relationship Type="http://schemas.openxmlformats.org/officeDocument/2006/relationships/slideLayout" Target="/ppt/slideLayouts/slideLayout2.xml" Id="R24df5fdf87ba4a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df5fdf87ba4a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a801e049e6418a" /><Relationship Type="http://schemas.openxmlformats.org/officeDocument/2006/relationships/image" Target="/ppt/media/image.png" Id="Re8dd0b9d29ff4f32" /><Relationship Type="http://schemas.openxmlformats.org/officeDocument/2006/relationships/notesSlide" Target="/ppt/notesSlides/notesSlide1.xml" Id="R5bc6a18cf3014d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52cbf4cf3146c0" /><Relationship Type="http://schemas.openxmlformats.org/officeDocument/2006/relationships/image" Target="/ppt/media/image2.png" Id="R2456d0dd850d44fd" /><Relationship Type="http://schemas.openxmlformats.org/officeDocument/2006/relationships/notesSlide" Target="/ppt/notesSlides/notesSlide2.xml" Id="R12658f9903b244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0eb2f51c234b0e" /><Relationship Type="http://schemas.openxmlformats.org/officeDocument/2006/relationships/image" Target="/ppt/media/image3.png" Id="R4fd356c925b94789" /><Relationship Type="http://schemas.openxmlformats.org/officeDocument/2006/relationships/notesSlide" Target="/ppt/notesSlides/notesSlide3.xml" Id="Rd4454b19c5c34c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79959946ba4919" /><Relationship Type="http://schemas.openxmlformats.org/officeDocument/2006/relationships/image" Target="/ppt/media/image4.png" Id="R6f4a84a9023b4e5b" /><Relationship Type="http://schemas.openxmlformats.org/officeDocument/2006/relationships/notesSlide" Target="/ppt/notesSlides/notesSlide4.xml" Id="Ra843094409a148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96c014f0af40aa" /><Relationship Type="http://schemas.openxmlformats.org/officeDocument/2006/relationships/image" Target="/ppt/media/image5.png" Id="R5cb6b88732df47b0" /><Relationship Type="http://schemas.openxmlformats.org/officeDocument/2006/relationships/notesSlide" Target="/ppt/notesSlides/notesSlide5.xml" Id="Re4d999d417674d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239ec9390c4ec9" /><Relationship Type="http://schemas.openxmlformats.org/officeDocument/2006/relationships/image" Target="/ppt/media/image6.png" Id="Rf290c85a831c48f9" /><Relationship Type="http://schemas.openxmlformats.org/officeDocument/2006/relationships/notesSlide" Target="/ppt/notesSlides/notesSlide6.xml" Id="R145275f526a240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bd3e1c00004407" /><Relationship Type="http://schemas.openxmlformats.org/officeDocument/2006/relationships/image" Target="/ppt/media/image7.png" Id="R249815cd0f9443eb" /><Relationship Type="http://schemas.openxmlformats.org/officeDocument/2006/relationships/notesSlide" Target="/ppt/notesSlides/notesSlide7.xml" Id="Rf3f7e6306d5e4f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2ce23205e94069" /><Relationship Type="http://schemas.openxmlformats.org/officeDocument/2006/relationships/image" Target="/ppt/media/image8.png" Id="R8548a52b3c044017" /><Relationship Type="http://schemas.openxmlformats.org/officeDocument/2006/relationships/notesSlide" Target="/ppt/notesSlides/notesSlide8.xml" Id="R11e1ea31bcae4f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f0a74612ed445a" /><Relationship Type="http://schemas.openxmlformats.org/officeDocument/2006/relationships/image" Target="/ppt/media/image9.png" Id="Rb26b95e3b7d246cb" /><Relationship Type="http://schemas.openxmlformats.org/officeDocument/2006/relationships/notesSlide" Target="/ppt/notesSlides/notesSlide9.xml" Id="Raa30975dada141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8b4644571b4911" /><Relationship Type="http://schemas.openxmlformats.org/officeDocument/2006/relationships/image" Target="/ppt/media/image10.png" Id="R7e964057e3db4baa" /><Relationship Type="http://schemas.openxmlformats.org/officeDocument/2006/relationships/notesSlide" Target="/ppt/notesSlides/notesSlide10.xml" Id="R440be0cc2f4340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fd4e00e73545b7" /><Relationship Type="http://schemas.openxmlformats.org/officeDocument/2006/relationships/image" Target="/ppt/media/image11.png" Id="R96e6c4926c544efd" /><Relationship Type="http://schemas.openxmlformats.org/officeDocument/2006/relationships/notesSlide" Target="/ppt/notesSlides/notesSlide11.xml" Id="R012fde131c4a41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191d51d7eb4b73" /><Relationship Type="http://schemas.openxmlformats.org/officeDocument/2006/relationships/image" Target="/ppt/media/image12.png" Id="Rb4d64b966ca84861" /><Relationship Type="http://schemas.openxmlformats.org/officeDocument/2006/relationships/notesSlide" Target="/ppt/notesSlides/notesSlide12.xml" Id="Rf2121b67577146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9df528c6214f29" /><Relationship Type="http://schemas.openxmlformats.org/officeDocument/2006/relationships/image" Target="/ppt/media/image7.png" Id="R74c063f16a0d4470" /><Relationship Type="http://schemas.openxmlformats.org/officeDocument/2006/relationships/notesSlide" Target="/ppt/notesSlides/notesSlide13.xml" Id="Rb9dcc585413d4e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d38915793b44ba" /><Relationship Type="http://schemas.openxmlformats.org/officeDocument/2006/relationships/image" Target="/ppt/media/image13.png" Id="R0411e0c73764401f" /><Relationship Type="http://schemas.openxmlformats.org/officeDocument/2006/relationships/notesSlide" Target="/ppt/notesSlides/notesSlide14.xml" Id="R7fd3ba44583c4c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9144c595e84297" /><Relationship Type="http://schemas.openxmlformats.org/officeDocument/2006/relationships/image" Target="/ppt/media/image14.png" Id="R399805c5b7ad4347" /><Relationship Type="http://schemas.openxmlformats.org/officeDocument/2006/relationships/notesSlide" Target="/ppt/notesSlides/notesSlide15.xml" Id="R15ec1e03434144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c1202f7c4d4487" /><Relationship Type="http://schemas.openxmlformats.org/officeDocument/2006/relationships/image" Target="/ppt/media/image15.png" Id="R2321587d3ecb4011" /><Relationship Type="http://schemas.openxmlformats.org/officeDocument/2006/relationships/notesSlide" Target="/ppt/notesSlides/notesSlide16.xml" Id="Ra8643feed74b43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b98690cfb04c24" /><Relationship Type="http://schemas.openxmlformats.org/officeDocument/2006/relationships/image" Target="/ppt/media/image16.png" Id="R427c7ff2648c4a76" /><Relationship Type="http://schemas.openxmlformats.org/officeDocument/2006/relationships/notesSlide" Target="/ppt/notesSlides/notesSlide17.xml" Id="R0c457a2758d949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8de31c8f5f42d1" /><Relationship Type="http://schemas.openxmlformats.org/officeDocument/2006/relationships/image" Target="/ppt/media/image17.png" Id="Rf8a501171ca6484b" /><Relationship Type="http://schemas.openxmlformats.org/officeDocument/2006/relationships/notesSlide" Target="/ppt/notesSlides/notesSlide18.xml" Id="R0665c0846aed4a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95C95B-7CDF-4BEC-A2E0-B5D32CB5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5A9FD-3374-4EC0-AEE8-4E75E72E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C83E6-A7E2-4635-B58E-B114BEAE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d0b9d29ff4f32"/>
          <a:stretch xmlns:a="http://schemas.openxmlformats.org/drawingml/2006/main"/>
        </p:blipFill>
        <p:spPr>
          <a:xfrm xmlns:a="http://schemas.openxmlformats.org/drawingml/2006/main">
            <a:off x="1428750" y="5524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66E92-329A-463E-B366-C06C7763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Institutional Student Information and Enrollment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AE71B-F5F7-4BCB-9FE6-AB4966FC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CEAF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AF8"/>
                </a:solidFill>
                <a:latin typeface="Aptos"/>
                <a:ea typeface="Aptos"/>
                <a:cs typeface="Aptos"/>
              </a:rPr>
              <a:t>Prepared for university and college decision-makers.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03083-7380-4502-9BB6-DA02436B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7ED9D-31B7-487D-A553-AF67FDF4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FF6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FF6FF"/>
                </a:solidFill>
                <a:latin typeface="Aptos"/>
                <a:ea typeface="Aptos"/>
                <a:cs typeface="Aptos"/>
              </a:rPr>
              <a:t>Focused institutional MVP for academic setup, student management, course registration, registrar approval, enrollment slips, and academic record foundations.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682B5-9631-44E8-8485-57560301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62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Executive demo narrative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EE6FE-39E2-4B70-A633-ACF0C3A0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50540-5DB6-4613-8375-EF133F4E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01</a:t>
            </a:r>
          </a:p>
        </p:txBody>
      </p:sp>
    </p:spTree>
    <p:extLst>
      <p:ext uri="{BB962C8B-B14F-4D97-AF65-F5344CB8AC3E}">
        <p14:creationId xmlns:p14="http://schemas.microsoft.com/office/powerpoint/2010/main" val="1733077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4A595-4714-42CF-BF58-A187EA15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5A28F-CAC9-4AC3-A492-D1EA4CB0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6d0dd850d44fd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C5530-3BFB-46CE-9799-90A9FA78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59434-0F0C-4AFF-B34E-89938500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ACF24-A435-44C0-B135-0D759F51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Registration remains too dependent on fragmented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54B45-F466-4230-B3C0-B6148239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Paper forms, spreadsheets, manual approvals, and unclear student communication create avoidable friction.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C5014-0539-47F5-8A13-C5902690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226E0-52F8-4526-A4CD-057FC72C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records are fragmented across offices.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2675C-D0CA-497C-B29E-A734E95E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95A54-A08B-411F-BC96-3EBBC2B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Course registration lacks clear approval tracking.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B778B-723C-43F0-95E9-E7B81D45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1D0D4-79CC-4996-862F-28200C4B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Registrars resolve duplicate or incomplete requests manually.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545D3-3D6D-4760-A9CC-C2A2C4B3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87017-3882-4974-809F-30BC894A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Students do not always know their registration status.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55E08-22AC-4C90-B4BF-F340E6AF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3057B-50F5-4117-AEA6-BAE8CC1D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Leadership has limited real-time visibility.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FCE6C-8BC6-4245-ACE3-21EB80D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421AB-80B6-4F4A-A602-7DF60583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14925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Audit trails are weak or missing.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CE753-E2EC-427E-8B60-381C645A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F609DE-6D67-4D01-9794-0E2D7289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1771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8365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8365F"/>
                </a:solidFill>
                <a:latin typeface="Aptos Display"/>
                <a:ea typeface="Aptos Display"/>
                <a:cs typeface="Aptos Display"/>
              </a:rPr>
              <a:t>Manual registration creates hidden queues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E5C6B-BE61-4F0A-8C32-DE215886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57650"/>
            <a:ext cx="1771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The cost is not only time; it is confidence in the institution's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E1191-D049-459C-BE4D-34EE0488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A9359-01E0-40E6-AD2F-52B99ABE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02</a:t>
            </a:r>
          </a:p>
        </p:txBody>
      </p:sp>
    </p:spTree>
    <p:extLst>
      <p:ext uri="{BB962C8B-B14F-4D97-AF65-F5344CB8AC3E}">
        <p14:creationId xmlns:p14="http://schemas.microsoft.com/office/powerpoint/2010/main" val="16202883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7EDEA0-4C3A-4204-9B46-4ED1F95E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4D4AB-73FF-4366-87BA-B1BCCBDD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356c925b94789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F7DC6-C121-4B1F-877E-8237B8B6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5C2A5-3E24-4E11-8FB1-B696CB7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THE 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D6226-766A-4F01-B5B6-F7ADE65C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 single institutional system for academic registration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FE32C-953B-4CB0-9C7D-E09F1AF7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591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89218-B5C9-4253-8655-0327D219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57242-4842-4EB5-A48E-7CB3A2BE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Faculties, departments, programs, courses, and active academic sessions.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4D4DB-3592-4A8C-BD7B-C1EA4BCD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71750"/>
            <a:ext cx="4591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0C6CF-10D9-4AB0-A9CF-9452E820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8003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4481F-4DC4-45DD-B7C6-064EB000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8135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Account creation, profiles, academic identity, and verification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1EB96-3C39-4318-8BD1-23192796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591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D74F7-545C-4D09-AFCF-39C6AF4A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Enrollment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58E47-B8BF-45CF-8DB1-8AE24FEC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Student requests, registrar review, structured decisions, and audit logs.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F7706-4E43-44EF-8388-7B40ED88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057650"/>
            <a:ext cx="4591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1DE3D-5106-472F-B425-A68D5542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2862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Official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64C56-BDA6-4447-8EBE-D9471700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66725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Printable enrollment slips and academic record foundations from approved enrollments.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8E0F7-3101-4D4F-9CF8-99746AE6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02D92-925D-4D4F-B13B-E725D3DC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03</a:t>
            </a:r>
          </a:p>
        </p:txBody>
      </p:sp>
    </p:spTree>
    <p:extLst>
      <p:ext uri="{BB962C8B-B14F-4D97-AF65-F5344CB8AC3E}">
        <p14:creationId xmlns:p14="http://schemas.microsoft.com/office/powerpoint/2010/main" val="19929170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377EE-370D-4E09-BD28-E0F59988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F8FED-B721-4D73-AD5F-BD587007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a84a9023b4e5b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779BB-DF42-45CA-8273-79C4184D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F3D7B-6CFD-4013-A8C9-0F7ED860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CURRENT MVP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691E7-6009-4F6C-A31A-880783A9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MVP now demonstrates registration plus student service touchpoints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BD19B-B05B-41BB-A0B8-10382D20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F257A-175F-4A40-BC03-ED457C04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83AA1-4E09-4894-8C97-F545F8B3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 sets up faculties, departments, programs, and courses.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D007D-0B6E-4BE9-9281-7A6A7143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27BC2-5257-473D-BA89-4C9FBAFE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F8BFE-73DB-4C8C-A6FE-B32FC097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E1663-7B8A-4072-8657-A18FF0FC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 creates or manages student profiles.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5FD3E-1A4E-463F-9F8C-758AB7F7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9242D-0DA2-4840-ADD9-B48B1CE7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FB224-BEB6-4EDF-9652-D624B4E9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B2411-6B0B-431D-9E9B-C5F80372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96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 opens an academic session for registration.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EAF28-3B17-429A-9EDE-C4B88F8A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27353-B9CF-4838-A2B9-A699F48F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93753-2976-49F7-8F8E-ED948C67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browses courses, submits enrollment, and uses support services.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C074D-BDC0-42B8-AAC2-B10FC435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7657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4B018-94C7-4653-8B02-078FC467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CDFA2-1C87-4E9F-9AA5-0D9783B4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06DED-5ABD-4D99-93F8-4C5A555E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 approves enrollment and responds to student-facing issues.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D37A1-DF27-4E98-82DA-B72CC9CC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5287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FA643-ED6D-407C-ACEC-DA82F701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847091-22F9-4628-BF43-FE18BA0A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1FAE4E-EB99-4D97-855B-FE80AEEB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views slips, records, timetable, and exam clearance status.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EAAAB2-09C2-40AC-832A-A8F1877C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8F1C3E-2F7F-4F3D-9B92-747BFCFA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04</a:t>
            </a:r>
          </a:p>
        </p:txBody>
      </p:sp>
    </p:spTree>
    <p:extLst>
      <p:ext uri="{BB962C8B-B14F-4D97-AF65-F5344CB8AC3E}">
        <p14:creationId xmlns:p14="http://schemas.microsoft.com/office/powerpoint/2010/main" val="3992148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7B9C16-BE17-4B14-BFAC-32B2E91E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D9AD4-C95A-4F9C-9ACF-77DF5D16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6b88732df47b0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1169E-1995-4E8A-A8BC-2AB574CC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DAABC-F0DF-47F6-922D-62FC9D7E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ROLE-BASED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59B9B-8895-4413-9AAF-F8155A73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Access is separated by institutional responsibility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C12CC-8FDB-4C41-86D4-849377CF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3086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6B852-29C2-4195-9677-8A5CA30B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INSTITUTIONAL ROLE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5DF02-FBA8-4BEE-9355-19F3F827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6E2D9-E725-4E16-8FF7-A96F9221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266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9BE31-F43A-4EB0-AFF0-DAF43DCA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46033-903A-4954-B472-592BA315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11D0D-B127-4372-946D-139D5D5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5CB03-1DC8-4666-B1EA-BA15635B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862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management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342CF-0F57-4154-B616-CF9D50B2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CA9E4-B46F-4F37-AD03-37C439EC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Course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001A1-0066-4D43-B903-21B52649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B0703-F00E-456D-BC1A-48A3BB46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Sessions and dashboards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4E735-0198-427D-AFAD-0B6AC86B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800"/>
            <a:ext cx="3086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746ED-19E4-45CB-8866-F3B8AF0D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INSTITUTIONAL ROLE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33E69-FF4B-43B4-8085-C764D075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99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C2660-699A-44A9-865F-77E21CA9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266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1CC6F-943C-4071-9333-90ABCC7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4CE76-499D-4880-B2C0-C0D4351B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Enrollment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91B092-1C41-478B-B217-F6F02CC7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B58316-343D-45D6-8535-D2C5993C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62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Approval decisions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DA0989-DA5A-4CC3-8240-6F9AD687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293C3E-1C97-4C76-890B-A653DE72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Audit log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BF54B2-8DF3-4590-B710-7CD964CC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2074B-B78F-4ED0-ABD3-B333515B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339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records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879359-4ECF-4527-8834-459DE12B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90800"/>
            <a:ext cx="3086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625927-474A-45EC-B02A-E22D986E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622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INSTITUTIONAL ROLE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5B8017-D801-429D-8BA3-EF409DAE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E4BCAF-78FF-43C4-BCD3-1E1862F5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266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4BDA6-BA63-4406-9516-0ED316A4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3CED95-7270-457A-860F-73075B15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623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Profile update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FC4384-7CB7-45EB-A347-AECB4A0C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C90739-3114-4B8B-B6D4-927F75AB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862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Course browsing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285729-46B6-4706-BD10-68546D65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D9C0A1-0290-4F0E-8731-5746491C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00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Enrollment request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7C7C2A-FC22-4255-AB69-66F46D74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EDD655-F33A-4F38-A0E7-7818B8C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Slips and records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D31855-DFEE-4211-B743-5687C103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A24BBD-14B7-4B42-9439-F295AFCF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05</a:t>
            </a:r>
          </a:p>
        </p:txBody>
      </p:sp>
    </p:spTree>
    <p:extLst>
      <p:ext uri="{BB962C8B-B14F-4D97-AF65-F5344CB8AC3E}">
        <p14:creationId xmlns:p14="http://schemas.microsoft.com/office/powerpoint/2010/main" val="17999398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3A1AF9-A40F-43CA-A9AF-1418C6BE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A4ACF-A3BC-47EF-8FF2-CCB290FB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0c85a831c48f9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40A2F-3E08-4801-924D-91543F8C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D8BF6-46D2-44FB-90D2-EF17633E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B300B-9FE2-4801-BA65-6E1F341C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Leadership gets immediate visibility into registration activity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1C88D-DBEA-499E-8C71-C97CCE7E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Administrators can understand registration movement without waiting for manual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5B315-50C6-4F24-AF5E-114D5953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14EDC-B387-4581-A489-FB2A4E59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0DAB5-5071-4F65-AFEF-F198F626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BAA1F-2100-48D2-8FB9-F5863515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B3CBD-7542-44FD-8EA7-3D188334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Total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B1509-4C95-42EF-9DCF-DA0B9178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Courses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853FD-11CE-4459-BDD6-83CEC659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194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1875C-7F57-4F0C-98EF-3CB599CD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05D7C-3B57-4986-B76C-F7B8BA12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Faculties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527B1-2CFF-4DB1-BA5D-61826E1C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865A9-6581-4EBD-92EA-7D19245C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Active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41AA8-D226-40CC-9F00-F6922CA9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Departments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2070A-19A5-4EBE-A959-D5414000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529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C8736-A21B-4D77-94B9-0125612D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rPr>
              <a:t>By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E807E-8C7F-40F2-92E6-FF352FF2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Enrollments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490961-E616-4066-9560-48205C21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529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94B29-EC7D-426D-A0FE-AF557446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624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Open / closed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D145D-51A7-4F77-B7ED-137F9F1B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62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Academic session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0880D-EC1B-40DA-8FD8-F0FBABF6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959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0B4F8A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68C7D0-9890-4D34-BF9F-D16A6DC2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4830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594355-F85C-49F6-8244-1555CD51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3405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78D8B5-8B48-4EDB-9E94-93763243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8B39F7-C5B5-40EE-93FA-F87B448B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06</a:t>
            </a:r>
          </a:p>
        </p:txBody>
      </p:sp>
    </p:spTree>
    <p:extLst>
      <p:ext uri="{BB962C8B-B14F-4D97-AF65-F5344CB8AC3E}">
        <p14:creationId xmlns:p14="http://schemas.microsoft.com/office/powerpoint/2010/main" val="11376395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BEC9D1-8C5C-48FE-AA4F-FA868A57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B96E2-DDBC-4A0A-B49C-F50060AF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815cd0f9443eb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22232-83E4-4109-AF67-D7142639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FC206-B4E3-4392-92D7-9499EFC8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INSTITUTIONAL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5D88E-846C-45B3-9DA4-A4D2D90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Why UniPortal matters to your institution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029E6-1057-4A4F-A0FD-B3BF53FF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translates registration pain into accountable, visible academic 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34257-64D8-49EB-8E75-F797D9CB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381E8-8FCC-41D4-91D5-39712893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Faster registration 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1F15B-B91F-4982-B816-A6ACCC94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A8E4B-EAC4-4627-944B-711BB7D5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48025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Reduced manual errors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689A7-13C5-4663-969F-CA0B6F70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1D487-09D8-4839-B089-632F2874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Better student communication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C7D2C-76DC-4DE4-B24A-04BCFD38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14572-1C52-46F6-9EE8-ED478253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67175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 accountability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CE521-D5CE-436A-ACFB-11FB3B97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781E0-3BC0-4AB2-8B3B-599FF3FD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visibility and reporting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6FBC4-A8D0-4B9B-AC66-0D9B924D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30309-2625-4194-9318-7258C0DC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86325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Foundation for digital transformation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BB6AF-CC55-4EED-9661-D6EFC970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276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7E687-E9D7-4C09-B2F9-AB2E700C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Decision-maker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E84C3-5C3F-4A50-BCE2-0A28CD7B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24250"/>
            <a:ext cx="2343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 practical first platform layer for institutions that need operational control before broader SIS transformation.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13397-4562-4371-88E5-BA419834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2F80A-8E21-4938-9CBD-24E61BB8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07</a:t>
            </a:r>
          </a:p>
        </p:txBody>
      </p:sp>
    </p:spTree>
    <p:extLst>
      <p:ext uri="{BB962C8B-B14F-4D97-AF65-F5344CB8AC3E}">
        <p14:creationId xmlns:p14="http://schemas.microsoft.com/office/powerpoint/2010/main" val="16031303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602BE4-D01B-4C98-91B7-F362B795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0A9C6-A136-4D5C-983F-FD7845F3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8a52b3c044017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E34F1-89C6-4DAA-B4F4-350F09B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7FB2B-E98C-4DFF-B8BD-F63F0BCA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ACADEMIC SETUP AND COURSE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5BF64-EEA0-426C-874B-8A2E7F4F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academic structure universities expect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1C0F3-18CF-4D38-AB71-A81EF2D6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Faculty -&gt; Department -&gt; Program -&gt; Course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68B5D-86A3-45DD-8CBC-D69062D2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8C9B6-0B13-49AE-B802-6E7D30E7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337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2C8C3-58BD-4EF8-8BF2-C5D2D8E1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838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Faculty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4547F-CE4E-44E8-B65A-4EFFC1B9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003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D7369-5005-443E-A23A-DB3AD0ED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97458-8589-44FC-B967-AD6793FE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337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C98B5-011D-481B-920A-F8B3F079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38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Department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BC7F5-89BB-4E81-9EBF-A0AF6E2B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003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6D7DB-4A4D-414B-B115-B93BBD84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39811-F609-497D-AACC-E153B3F5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337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E5651-8DA0-45C7-AF6B-77CBE4DF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38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Program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31DC4-0D59-4FEA-BF31-FF13B9E4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003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92C0FD-6921-45E3-94F7-7858BB32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1F737-8A2B-4CC1-9EC9-3CF273D1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337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29753-7A96-4DF4-918C-A0AB12EE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38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Course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6E576-4BCD-4915-907F-9D11BDB6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D0CFD-338A-4418-BE29-5452DAC9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Create faculties, departments, and programs.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3C327-342E-446A-AB12-23C659BD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0ED30-7242-4890-B873-CF2EAFA6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Create and edit courses by level and semester.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B32A52-8F6B-4289-9709-F09E760D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4A2A9A-8A3F-410A-86D4-3CD12B0E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Filter courses by academic structure.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AC9A0D-CABD-4AED-8656-A6AAB7BD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76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CBB1C8-FF6B-4004-A552-0D20778E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Activate or deactivate courses.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93F99-CB30-4B53-A74E-36E9533A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8059F-E588-4EB3-A64F-75173B3B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054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View course detail and enrollment counts.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34141E-CCA4-43EB-9AA4-914E50AA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71E4B5-2401-4705-963F-7A7D8938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08</a:t>
            </a:r>
          </a:p>
        </p:txBody>
      </p:sp>
    </p:spTree>
    <p:extLst>
      <p:ext uri="{BB962C8B-B14F-4D97-AF65-F5344CB8AC3E}">
        <p14:creationId xmlns:p14="http://schemas.microsoft.com/office/powerpoint/2010/main" val="11267191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8733F8-0CDD-44BF-993D-C00ABADF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E67F5-EC3D-4B58-A24C-BB15990B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b95e3b7d246cb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7B9E2-14AF-4743-BA4C-94F77C04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51908-F844-415C-B68F-3C418C71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STUDENT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4E0E7-2F06-40C4-B0BD-6F02EAF4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Official academic identity stays under institutional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E8931-0475-42D5-9E6B-A1AF06E9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4000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7D9E1-A664-45BB-929E-DF56A1A0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166E3-3E99-415A-ABE5-703E9025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35814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Name, email, student ID or registration number, faculty, department, program, level, intake year, guardian/contact information, account status, and verification status.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64570-9615-4EFF-8ECA-2B21563F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51FF2-203D-4DBE-A2B6-D37AEE91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718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Admins manage student identity and academic placement.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3DEE9-6244-426F-B5A8-D8478EA7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6F6FB-D9D9-4140-8AA3-84640F27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671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verification protects official fields.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2238F-6DD4-4C58-BEDE-AC016418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38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10278-974D-4689-BE77-464669AE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624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Students retain self-service for allowed profile details.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CF85A-E997-4C6A-9186-513AF591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27288-9609-4A2D-9F56-7EFBECD2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09</a:t>
            </a:r>
          </a:p>
        </p:txBody>
      </p:sp>
    </p:spTree>
    <p:extLst>
      <p:ext uri="{BB962C8B-B14F-4D97-AF65-F5344CB8AC3E}">
        <p14:creationId xmlns:p14="http://schemas.microsoft.com/office/powerpoint/2010/main" val="10835189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B5D26-9E79-4C0A-89D6-81880773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1729B-4A4D-4311-BC00-9FCC0220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64057e3db4baa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D2BF2-9715-4191-973A-D2300880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87D2F-0D11-45B4-887C-8E144758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REGISTRAR AND ADMIN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88102-E2F4-470F-A30B-0987251F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Registration, support cases, schedules, and clearance become visible workflows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5390C-1779-489B-899A-F56B764F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C55E3-0EB5-4A4A-A13D-E5B2DA54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View pending enrollment requests.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E886E-0BE7-4B73-AA78-9BE9F8EA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90F4D-BADF-43F6-B301-4DE0223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Review student profile and academic identity.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6DDBA-0B7D-40B6-9FF2-F8341803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281D8-AFC2-4122-9BB5-C1E5613C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Review selected courses, credit totals, and student service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F89C7-06A8-4084-8755-B68E0920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1B6BE-90EB-4403-94BF-75AA0D2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Approve, reject, or return enrollment for correction.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32147-DFB6-4DFA-A42D-DDF1BBCA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D483D-650B-42C0-9964-4FC0F2CA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Manage helpdesk responses, timetable entries, and exam clearance updates.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F7E2B-54D2-4936-B76F-2BD3290A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8605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BF836-38F7-4A17-B21E-1315BBA8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146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A10DD-E278-48E3-9EAE-A5069513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71800"/>
            <a:ext cx="1295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D8CCC7-3184-4028-BC32-4F4A23C9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766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A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AFC2B-8F1C-4020-95ED-B26C2CFC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33750"/>
            <a:ext cx="1295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7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7A5A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A74D5-81AE-4082-A722-3F65AD93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385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33266-8B6A-4C28-AA9E-EB12D1D9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95700"/>
            <a:ext cx="1295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3FE08-4043-4D63-8E46-7AD0319E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4F8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B82E97-4FCD-4D98-BAE0-837E8BA3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57650"/>
            <a:ext cx="1295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Returned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F8876-E7BF-4C02-AC36-7D474155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0B4F8A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70B122-825E-4E28-8D41-E9038184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C3731E-ABD3-479F-A05B-4048BF9D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 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B2D37-9FEC-4275-807D-EEB554C6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0B4F8A"/>
            </a:solidFill>
            <a:prstDash val="dash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B0B6E3-AD47-4557-B810-D90BD5A4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197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E007F9-C87C-4CB4-ABD7-C6B3D0FE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9055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Enrollment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0449A2-4594-4ED8-8478-B1969A5C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BC0CE2-8B68-4AAD-AA01-79BED92B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10</a:t>
            </a:r>
          </a:p>
        </p:txBody>
      </p:sp>
    </p:spTree>
    <p:extLst>
      <p:ext uri="{BB962C8B-B14F-4D97-AF65-F5344CB8AC3E}">
        <p14:creationId xmlns:p14="http://schemas.microsoft.com/office/powerpoint/2010/main" val="10778154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B14EA-E28C-47DF-9A6E-3FDEF10D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75F03-BD35-40EC-B27B-4907BDBB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6c4926c544efd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CC900-7962-4870-A8CA-C5A1C5C8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04EFE-8C35-49D3-9FBB-E5214D44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DECISION AUDIT 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1C116-7683-442E-8640-49D88DEB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Every enrollment decision is recorded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27FC6-E759-4999-ACD3-4FC42B7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FF3DF-DE73-441A-9E60-021CABBE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34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Audit log captures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C295E-DD01-4B17-AD7D-7BAD857F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3434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Decision maker, decision time, previous status, new status, reason type, and decision note.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7E5FC-D93C-4E58-A0B8-A33C1F9A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31F6C-057A-4D02-B469-359FD6B9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400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Supports accountability.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7F8D6-504E-407B-81D9-89762120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9D607-7CC2-4E00-BD33-374B92ED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7100"/>
            <a:ext cx="400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Improves transparency.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D66A9-8770-4A3F-8739-77C67122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4D22E-DA72-45B0-8122-97BCC54D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400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Helps resolve disputes with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00BC8-2956-4467-A945-543E0A39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11D58-526F-43D6-9837-E8EA5B82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11</a:t>
            </a:r>
          </a:p>
        </p:txBody>
      </p:sp>
    </p:spTree>
    <p:extLst>
      <p:ext uri="{BB962C8B-B14F-4D97-AF65-F5344CB8AC3E}">
        <p14:creationId xmlns:p14="http://schemas.microsoft.com/office/powerpoint/2010/main" val="4377416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BCF4C-D21E-4A9C-AE53-E6C3DDCA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470E5-B7B6-458F-9417-1954F2BF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64b966ca84861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013AD-0F7A-4400-9C10-667BA5B9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69536-81E7-420F-94E5-039CBE8F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STUDENT SELF-SERVICE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E6501-145C-4523-AB66-E05FF0DE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Students can track registration, support, schedules, and exam readiness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5F942-ABC8-49AE-974C-EF3E05E5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88609-C496-4F9B-BCEE-3E8BD79D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Login securely and update allowed profile fields.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AA276-FF62-4A8C-9F69-12325B2F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FBEC7-1C75-4AD8-9083-72D44C4B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52775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Browse courses and submit enrollment requests.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DE99F-C5D9-4602-9D10-6860705F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2A156-0E7D-4C05-8BC0-93EBCF65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Track enrollment and complaint/helpdesk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FF8BB-F1A3-46D0-A8B3-8D1C2AB6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71D5D-BB97-4D58-BC43-6CB0897F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71925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View relevant timetable by day, time, venue, and lecturer.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26B6B-6867-48AF-80B3-016AF9C6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68070-1EAB-4167-905D-40A9E5DC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View exam clearance, attendance, and financial clearance status.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C1C95-24BF-43C8-8B33-48F359A8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45993-2C09-4362-97EC-9BBC05D2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91075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Print approved enrollment slips and view academic records.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CFAC9-5726-4EE6-B489-566F8A4E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B1839-825B-409C-8DC5-6F62A021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12</a:t>
            </a:r>
          </a:p>
        </p:txBody>
      </p:sp>
    </p:spTree>
    <p:extLst>
      <p:ext uri="{BB962C8B-B14F-4D97-AF65-F5344CB8AC3E}">
        <p14:creationId xmlns:p14="http://schemas.microsoft.com/office/powerpoint/2010/main" val="111901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BEC9D1-8C5C-48FE-AA4F-FA868A57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B96E2-DDBC-4A0A-B49C-F50060AF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063f16a0d4470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22232-83E4-4109-AF67-D7142639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FC206-B4E3-4392-92D7-9499EFC8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STUDENT SERVICES ADDED FROM PILOT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5D88E-846C-45B3-9DA4-A4D2D90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Pilot feedback now expands daily-use institutional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029E6-1057-4A4F-A0FD-B3BF53FF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Real student feedback highlighted practical services that improve daily campus interaction.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34257-64D8-49EB-8E75-F797D9CB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381E8-8FCC-41D4-91D5-39712893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Complaints/helpdesk submission with status tracking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1F15B-B91F-4982-B816-A6ACCC94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A8E4B-EAC4-4627-944B-711BB7D5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48025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Admin/registrar response workflow for student issues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689A7-13C5-4663-969F-CA0B6F70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1D487-09D8-4839-B089-632F2874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Relevant timetable by day, time, venue, course, and lecturer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C7D2C-76DC-4DE4-B24A-04BCFD38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14572-1C52-46F6-9EE8-ED478253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67175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Exam clearance with attendance and finance status visibility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CE521-D5CE-436A-ACFB-11FB3B97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781E0-3BC0-4AB2-8B3B-599FF3FD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Students know what is pending, in review, resolved, or cleared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6FBC4-A8D0-4B9B-AC66-0D9B924D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30309-2625-4194-9318-7258C0DC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86325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Daily-use value beyond the registration window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BB6AF-CC55-4EED-9661-D6EFC970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276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7E687-E9D7-4C09-B2F9-AB2E700C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Pilot feedback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E84C3-5C3F-4A50-BCE2-0A28CD7B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24250"/>
            <a:ext cx="2343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These additions show UniPortal can absorb institutional feedback quickly without weakening the core registration MVP.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13397-4562-4371-88E5-BA419834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2F80A-8E21-4938-9CBD-24E61BB8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13</a:t>
            </a:r>
          </a:p>
        </p:txBody>
      </p:sp>
    </p:spTree>
    <p:extLst>
      <p:ext uri="{BB962C8B-B14F-4D97-AF65-F5344CB8AC3E}">
        <p14:creationId xmlns:p14="http://schemas.microsoft.com/office/powerpoint/2010/main" val="160313034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AA26F3-1EE6-4D80-9325-7856E8B6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557AF-AF63-49CF-B0E5-0F604A54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1e0c73764401f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E4F4C-D572-41E2-A185-B246BA18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15D78-3C70-4D59-82C9-0DAA932C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PRINTABLE ENROLLMENT SLIP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1FC8D-97A4-4AE7-A193-B18192EA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Approved enrollments produce branded proof of registration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ADFF3-1E3E-47CA-BAA0-078DE432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14337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86D11-C383-4BB6-9441-3FF48C4D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3724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Slip contents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A5DE0-03CA-4069-B70D-3E32EE61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37242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Student identity, academic year and semester, faculty, department, program, level, approved courses, credit hours, total credits, approval status, decision date, and reviewer.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53517-10EC-4959-9530-EA2D9C67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81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83F6F-BA78-45B5-944F-DC324B0E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447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Provides official proof for students.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90295-997E-47AA-90FF-1262FA23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B6958-8861-4A66-8DE5-F18CE2A4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81400"/>
            <a:ext cx="447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Supports departments and administrative offices.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8F041-4D90-4C31-92AA-B9630A32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DF875-FE31-4135-A2D2-5F349F23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57650"/>
            <a:ext cx="447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Turns approval into a usable institutional document.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AE05B-D499-488C-9F18-6EBE2CDC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339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0B4F8A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51AC3-72E0-4FFA-B97D-E6932D7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8635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B2951-B95D-4B44-853D-4F0220FA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721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Printable Enrollment Slip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79F98-2DE6-42EC-B303-09D39C31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CC0F54-EE78-460F-B873-37F29512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14</a:t>
            </a:r>
          </a:p>
        </p:txBody>
      </p:sp>
    </p:spTree>
    <p:extLst>
      <p:ext uri="{BB962C8B-B14F-4D97-AF65-F5344CB8AC3E}">
        <p14:creationId xmlns:p14="http://schemas.microsoft.com/office/powerpoint/2010/main" val="195941372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FE4AE3-6D22-463C-A8C7-3BA6DBE1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E3717-0DD0-4CE6-985B-FE820782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805c5b7ad4347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315B2-1E64-4097-9D10-6B92F86C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639E2-39AC-45AB-898D-4111166E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SECURITY AND DEPLOYMENT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D7B87-1AB6-43A8-8731-AB7F0334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Built as a deployed web application, not only a local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CAC63-F298-4250-A7AC-208AAED8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DA6D0-D4AD-4F73-83E4-3BEDE5DE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rPr>
              <a:t>JWT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169FD-C683-4FAD-938C-383C66EE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FC076-8F8F-467C-80D5-4E7CF9AB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22D75-B933-4A6B-A5EB-A7BA3FE9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rPr>
              <a:t>RBAC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DC9A6-A8C2-4A18-B15A-1E16B7D8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90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Role protection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B9F81-9CF4-4D1E-879E-6FF7522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25EDB-CDBF-4933-924C-2FA3DDB8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Helmet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F0075-2B22-44AC-B693-2F7808DC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90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Security headers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ACCDA-3B4A-4559-9E14-FD4DF7E6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D0A4C-372E-46C0-8586-DB4BEA66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CORS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EDFBE-3996-49E4-87FF-0896FA0C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Origin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EDB79-A251-4293-AFCF-3F62D267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D807B-7F1F-4CF7-8037-365B2C32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Rate limit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6DB01-7A5D-4361-BC0A-9AB7E157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Auth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7F673-568B-4471-93A3-88C964FC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19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1C0C1D-01FF-463F-9CE3-1539B34A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291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Health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F5044-47C2-428E-9482-52B3CF1F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29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4D991-2E04-444E-A122-2CA4522B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19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0559A-8FF2-4CDD-8D7E-9268592C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Render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6F1BBA-FD96-4160-B38E-CC83CA32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DEBADA-184A-4E9A-87CF-A588BFF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D85A1D-11E3-43CF-985C-17D99B8C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291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Vercel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EBDD71-A16F-4CC6-A0A8-A3F19C3B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29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D37816-EC6B-448D-82E8-B4D798AA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0DBCCC-5A4B-408B-A34A-42CFE586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15</a:t>
            </a:r>
          </a:p>
        </p:txBody>
      </p:sp>
    </p:spTree>
    <p:extLst>
      <p:ext uri="{BB962C8B-B14F-4D97-AF65-F5344CB8AC3E}">
        <p14:creationId xmlns:p14="http://schemas.microsoft.com/office/powerpoint/2010/main" val="92436595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966AB8-600E-4EFF-97A7-9D23BAB0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705F4-F834-4B73-8177-5208420F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1587d3ecb4011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FB732-11CF-4A50-93E2-FBF5C5CE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765E4-069E-4EC2-8CE8-E0947DFC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WHAT THIS MVP PROVES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15D14-DE65-4471-AA63-B8B3FBAD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Foundational institutional MVP ready for guided pilot deployment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279B8-6C90-45CE-ADDF-D38F78E4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5A0BB-1B97-45ED-9A02-A334C9C2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The institution can model its academic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AD47F-A04C-4F3E-8F80-A0CAB6A2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6A2B0-B638-4123-80DC-41109AF4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Students can be managed with academic identity.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D69E8-BC01-4225-B4CB-556414E8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65C07-F1D3-4A2B-A6A9-2425423C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Registration can be controlled by academic session.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AF01B-88F5-4CF0-9122-9A67877F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A8A63-8713-43B1-88CD-ADB3CF2C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Registrars can review and approve requests.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00E7B-4D11-49BB-B293-35AD9614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A89D1-663F-4F44-8037-9E1EB0A4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Decisions can be audited.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C70D9-64A9-40D9-9424-B97972BB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66662-DA48-44A8-9FEE-132AF909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Approved students can print enrollment slips.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2F54A-CA3F-4F2A-A47F-DC93BB0F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9253A-165A-454B-B178-97CE0B5D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records can begin from approved enrollments.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2C6ED-D03A-4824-86ED-2ECCF1A1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2524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415BA-1D4E-4FC9-BFC7-3D511AE9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105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Honest positioning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8E0F9-CA23-42EC-95B6-CE30B3FF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1050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is a focused registration and academic-record foundation. Broader SIS capabilities should be shaped through a guided institutional pilot.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D60628-EDFF-4556-B705-F874079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B0AF4-2185-47A5-A847-2799466B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16</a:t>
            </a:r>
          </a:p>
        </p:txBody>
      </p:sp>
    </p:spTree>
    <p:extLst>
      <p:ext uri="{BB962C8B-B14F-4D97-AF65-F5344CB8AC3E}">
        <p14:creationId xmlns:p14="http://schemas.microsoft.com/office/powerpoint/2010/main" val="166087891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B03F31-477E-4CAA-A811-8EA9E187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A1810-9242-4CBF-BDF4-09A13D3F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c7ff2648c4a76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FA65D-8379-426D-A46E-9F0A931D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F5D5E-1718-4F13-8774-900E0E47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41987-20C2-4A41-8CB7-4881BE7C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 practical expansion path after pilot feedback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68FF0-6B77-480D-8166-6305624B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41A64-BC7D-47D4-AEB8-2B66AE7D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DBDDA-A4C2-4783-AA83-71892E27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Immediate pilot priorities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251FB-A5A8-4F2E-8417-117EBAEE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2724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Reports and exports, course rosters, admissions/intake management, password reset, broader audit logging, and CSV import.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19BD7-7E00-42AB-A7BC-087AF92A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193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E8433-A0AE-4514-B692-2BCAFAA5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02A44-B304-4BFC-90B7-CED788FB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Pilot expansion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14F45-6FDA-45E4-9114-30085144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724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Lecturer portal, grade submission workflow, transcript generation, notifications, document uploads, and deeper attendance workflows.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84085-C0E6-4BCD-B1AA-AF754EC0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E357A-8C5D-4444-B4E5-13181728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908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PILOT PHASE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30715-C444-480C-955E-5434A7A3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384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Institutional modules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A8C7A-CD18-4C6D-8DFC-03ED4CD2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00400"/>
            <a:ext cx="2724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Finance: payment tracking, clearance, fee foundation. Lecturer: assigned courses, rosters, grade submission. Dean/HOD: oversight, analytics, academic approval visibility.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ABA2B-80B0-4E21-AD3A-DB71D9DE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365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65F"/>
                </a:solidFill>
                <a:latin typeface="Aptos"/>
                <a:ea typeface="Aptos"/>
                <a:cs typeface="Aptos"/>
              </a:rPr>
              <a:t>Pilot feedback modules now demonstrate UniPortal's ability to expand around real student service needs.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254FA-9039-4943-A0B6-C418B5CB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1576E-3328-4D36-9615-0893C74C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17</a:t>
            </a:r>
          </a:p>
        </p:txBody>
      </p:sp>
    </p:spTree>
    <p:extLst>
      <p:ext uri="{BB962C8B-B14F-4D97-AF65-F5344CB8AC3E}">
        <p14:creationId xmlns:p14="http://schemas.microsoft.com/office/powerpoint/2010/main" val="152189682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5B4590-529C-4A5C-81E6-59D7831B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B6E9B-FB39-4481-9B78-78B4A6DD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989E1-387F-45F2-B2F7-94452747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501171ca6484b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32F7B-2C24-46BD-A007-600993BA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CFE1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E1F4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81D19-5B5C-4228-882A-83F2E392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Recommended Institutional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CC959-7C34-41E5-8606-9422BBB5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Phase 1 (30-60 Days)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59328-77A9-4C3C-999C-269C52B8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FDFD3-5110-472E-81B2-EE9AF28F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Registration workflow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63C0F-DCFE-411A-9A68-7EDA9A20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5F29D-15E1-44A5-9450-B52B09B3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Academic setup configuration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8176F-5E59-49A1-8EF5-752219BA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DCC94-D332-4566-8317-9AAE7B23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Sample data migration/import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67CD7-D4B3-4DFB-9656-DFABF07B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D8597-6A8B-4DC9-9548-9EE71F3A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Guided pilot registration 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9612A-EBED-46EA-9B4F-9065B9D2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47900"/>
            <a:ext cx="3333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2C2A3-DF6D-458A-8F6A-64FC1CE6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1935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7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5A"/>
                </a:solidFill>
                <a:latin typeface="Aptos"/>
                <a:ea typeface="Aptos"/>
                <a:cs typeface="Aptos"/>
              </a:rPr>
              <a:t>PILOT OUTCOMES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067DB-0437-463E-8940-675F6D6A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6670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Success indicators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83CFC-733E-49A7-992A-3A42839E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28950"/>
            <a:ext cx="29146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Faster registration, reduced approval bottlenecks, better student visibility, and registrar accountability.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179B5-1EDC-4DF6-8553-EB063067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8A9EA-9F0E-4177-844F-DB73C292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Prepared for Institutional Pilot Discussion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96203-F545-4037-BE55-52F915B8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E123F-C1EE-417F-A03C-7B3F5D4E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18</a:t>
            </a:r>
          </a:p>
        </p:txBody>
      </p:sp>
    </p:spTree>
    <p:extLst>
      <p:ext uri="{BB962C8B-B14F-4D97-AF65-F5344CB8AC3E}">
        <p14:creationId xmlns:p14="http://schemas.microsoft.com/office/powerpoint/2010/main" val="1071016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2026-05-25T20:34:51.4190000Z</dcterms:created>
  <dcterms:modified xsi:type="dcterms:W3CDTF">2026-05-25T20:34:51.4190000Z</dcterms:modified>
</coreProperties>
</file>